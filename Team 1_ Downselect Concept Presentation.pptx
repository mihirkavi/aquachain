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ulish"/>
      <p:regular r:id="rId25"/>
      <p:bold r:id="rId26"/>
      <p:italic r:id="rId27"/>
      <p:boldItalic r:id="rId28"/>
    </p:embeddedFont>
    <p:embeddedFont>
      <p:font typeface="Fira Sans Extra Condensed Medium"/>
      <p:regular r:id="rId29"/>
      <p:bold r:id="rId30"/>
      <p:italic r:id="rId31"/>
      <p:boldItalic r:id="rId32"/>
    </p:embeddedFont>
    <p:embeddedFont>
      <p:font typeface="Oswald"/>
      <p:regular r:id="rId33"/>
      <p:bold r:id="rId34"/>
    </p:embeddedFont>
    <p:embeddedFont>
      <p:font typeface="Fira Sans Extra Condensed"/>
      <p:regular r:id="rId35"/>
      <p:bold r:id="rId36"/>
      <p:italic r:id="rId37"/>
      <p:boldItalic r:id="rId38"/>
    </p:embeddedFont>
    <p:embeddedFont>
      <p:font typeface="Fira Sans Extra Condensed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SemiBold-bold.fntdata"/><Relationship Id="rId20" Type="http://schemas.openxmlformats.org/officeDocument/2006/relationships/slide" Target="slides/slide16.xml"/><Relationship Id="rId42" Type="http://schemas.openxmlformats.org/officeDocument/2006/relationships/font" Target="fonts/FiraSansExtraCondensedSemiBold-boldItalic.fntdata"/><Relationship Id="rId41" Type="http://schemas.openxmlformats.org/officeDocument/2006/relationships/font" Target="fonts/FiraSansExtraCondensedSemiBold-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ulish-bold.fntdata"/><Relationship Id="rId25" Type="http://schemas.openxmlformats.org/officeDocument/2006/relationships/font" Target="fonts/Mulish-regular.fntdata"/><Relationship Id="rId28" Type="http://schemas.openxmlformats.org/officeDocument/2006/relationships/font" Target="fonts/Mulish-boldItalic.fntdata"/><Relationship Id="rId27" Type="http://schemas.openxmlformats.org/officeDocument/2006/relationships/font" Target="fonts/Mulish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Medium-italic.fntdata"/><Relationship Id="rId30" Type="http://schemas.openxmlformats.org/officeDocument/2006/relationships/font" Target="fonts/FiraSansExtraCondensedMedium-bold.fntdata"/><Relationship Id="rId11" Type="http://schemas.openxmlformats.org/officeDocument/2006/relationships/slide" Target="slides/slide7.xml"/><Relationship Id="rId33" Type="http://schemas.openxmlformats.org/officeDocument/2006/relationships/font" Target="fonts/Oswald-regular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FiraSansExtraCondensed-regular.fntdata"/><Relationship Id="rId12" Type="http://schemas.openxmlformats.org/officeDocument/2006/relationships/slide" Target="slides/slide8.xml"/><Relationship Id="rId34" Type="http://schemas.openxmlformats.org/officeDocument/2006/relationships/font" Target="fonts/Oswald-bold.fntdata"/><Relationship Id="rId15" Type="http://schemas.openxmlformats.org/officeDocument/2006/relationships/slide" Target="slides/slide11.xml"/><Relationship Id="rId37" Type="http://schemas.openxmlformats.org/officeDocument/2006/relationships/font" Target="fonts/FiraSansExtraCondensed-italic.fntdata"/><Relationship Id="rId14" Type="http://schemas.openxmlformats.org/officeDocument/2006/relationships/slide" Target="slides/slide10.xml"/><Relationship Id="rId36" Type="http://schemas.openxmlformats.org/officeDocument/2006/relationships/font" Target="fonts/FiraSansExtraCondensed-bold.fntdata"/><Relationship Id="rId17" Type="http://schemas.openxmlformats.org/officeDocument/2006/relationships/slide" Target="slides/slide13.xml"/><Relationship Id="rId39" Type="http://schemas.openxmlformats.org/officeDocument/2006/relationships/font" Target="fonts/FiraSansExtraCondensedSemiBold-regular.fntdata"/><Relationship Id="rId16" Type="http://schemas.openxmlformats.org/officeDocument/2006/relationships/slide" Target="slides/slide12.xml"/><Relationship Id="rId38" Type="http://schemas.openxmlformats.org/officeDocument/2006/relationships/font" Target="fonts/FiraSansExtraCondensed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15254ac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15254ac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f2e2f39690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f2e2f39690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dd3f81b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dd3f81b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a3d1dee4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a3d1dee4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a3d1dee4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a3d1dee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a447c27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a447c27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a447c275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a447c275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a47db13b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6a47db13b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2e2f39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f2e2f39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f2e2f396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f2e2f396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Patrick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f2e2f39690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f2e2f39690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bdd3fe96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bdd3fe96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bdd3f81b3e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bdd3f81b3e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bdd3f81b3e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bdd3f81b3e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6a3d1dee4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6a3d1dee4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of categories, summarize (Rachana, William, Shruti)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be5d9d3b19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be5d9d3b19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enario Planning Infographics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93150" y="1176307"/>
            <a:ext cx="41577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800950" y="3649493"/>
            <a:ext cx="35421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512358" y="47036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04825" y="457200"/>
            <a:ext cx="8134500" cy="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18">
          <p15:clr>
            <a:srgbClr val="EA4335"/>
          </p15:clr>
        </p15:guide>
        <p15:guide id="2" orient="horz" pos="288">
          <p15:clr>
            <a:srgbClr val="EA4335"/>
          </p15:clr>
        </p15:guide>
        <p15:guide id="3" pos="5442">
          <p15:clr>
            <a:srgbClr val="EA4335"/>
          </p15:clr>
        </p15:guide>
        <p15:guide id="4" orient="horz" pos="2928">
          <p15:clr>
            <a:srgbClr val="EA4335"/>
          </p15:clr>
        </p15:guide>
        <p15:guide id="5" pos="2880">
          <p15:clr>
            <a:srgbClr val="EA4335"/>
          </p15:clr>
        </p15:guide>
        <p15:guide id="6" pos="4161">
          <p15:clr>
            <a:srgbClr val="EA4335"/>
          </p15:clr>
        </p15:guide>
        <p15:guide id="7" pos="1599">
          <p15:clr>
            <a:srgbClr val="EA4335"/>
          </p15:clr>
        </p15:guide>
        <p15:guide id="8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N3mXltaSTCVANBw3IDx_yhrO3d7BEQzo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BTygVCqwPgE0NI5lS8sPrJeFHd0xpLOi/edit?usp=drive_link&amp;ouid=101215113855612087209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hyperlink" Target="http://drive.google.com/file/d/1lNYIUDNDP4PUYRiiCW20Aw2q3OokGhG0/vie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hyperlink" Target="http://drive.google.com/file/d/19TtLCuuO2kRdK1FpvAXnRZbMFle486Cd/view" TargetMode="External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hyperlink" Target="https://docs.google.com/document/d/1x4WkI62-Upi8l5L4eyae02U6TicpLgmT/edit?usp=drive_link&amp;ouid=101215113855612087209&amp;rtpof=true&amp;sd=true" TargetMode="External"/><Relationship Id="rId7" Type="http://schemas.openxmlformats.org/officeDocument/2006/relationships/hyperlink" Target="http://drive.google.com/file/d/1y-zaHxyxiXgvw7LF0iETiEyvqmz7A8J3/view" TargetMode="External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y-zaHxyxiXgvw7LF0iETiEyvqmz7A8J3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docs.google.com/document/d/1x4WkI62-Upi8l5L4eyae02U6TicpLgmT/edit?usp=drive_link&amp;ouid=101215113855612087209&amp;rtpof=true&amp;sd=true" TargetMode="External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arewater.solutions/en/waterborne-diseases/" TargetMode="External"/><Relationship Id="rId4" Type="http://schemas.openxmlformats.org/officeDocument/2006/relationships/hyperlink" Target="https://www.bv.com/perspectives/aging-infrastructure-and-workforce-vexing-challenges-remain/" TargetMode="External"/><Relationship Id="rId5" Type="http://schemas.openxmlformats.org/officeDocument/2006/relationships/hyperlink" Target="https://docs.google.com/spreadsheets/d/1gQRXX5AbjdF8T2v8fkKlXB52i9hbKpvM/edit?usp=drive_link&amp;ouid=101281950215166262772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87925" y="1176307"/>
            <a:ext cx="41577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 selecting Potential Concept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03525" y="3649493"/>
            <a:ext cx="3542100" cy="3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1: Shruti, Mihir, Rachana, Patrick, William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5210200"/>
            <a:ext cx="232200" cy="23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32159" y="5210200"/>
            <a:ext cx="232200" cy="23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64317" y="5210200"/>
            <a:ext cx="232200" cy="23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96476" y="5210200"/>
            <a:ext cx="232200" cy="23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928635" y="5210200"/>
            <a:ext cx="232200" cy="23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1160794" y="5210200"/>
            <a:ext cx="232200" cy="23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1392952" y="5210200"/>
            <a:ext cx="232200" cy="23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1625111" y="5210200"/>
            <a:ext cx="232200" cy="23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8163477" y="1116115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8144348" y="1733777"/>
            <a:ext cx="1277" cy="128"/>
          </a:xfrm>
          <a:custGeom>
            <a:rect b="b" l="l" r="r" t="t"/>
            <a:pathLst>
              <a:path extrusionOk="0" h="1" w="10">
                <a:moveTo>
                  <a:pt x="9" y="1"/>
                </a:moveTo>
                <a:cubicBezTo>
                  <a:pt x="9" y="1"/>
                  <a:pt x="9" y="1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rgbClr val="A9584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" name="Google Shape;66;p13"/>
          <p:cNvGrpSpPr/>
          <p:nvPr/>
        </p:nvGrpSpPr>
        <p:grpSpPr>
          <a:xfrm>
            <a:off x="12664928" y="1553063"/>
            <a:ext cx="1387824" cy="521998"/>
            <a:chOff x="6461826" y="2459496"/>
            <a:chExt cx="1148005" cy="1148005"/>
          </a:xfrm>
        </p:grpSpPr>
        <p:sp>
          <p:nvSpPr>
            <p:cNvPr id="67" name="Google Shape;67;p13"/>
            <p:cNvSpPr/>
            <p:nvPr/>
          </p:nvSpPr>
          <p:spPr>
            <a:xfrm>
              <a:off x="6461826" y="2459496"/>
              <a:ext cx="1148005" cy="1148005"/>
            </a:xfrm>
            <a:custGeom>
              <a:rect b="b" l="l" r="r" t="t"/>
              <a:pathLst>
                <a:path extrusionOk="0" h="29933" w="29933">
                  <a:moveTo>
                    <a:pt x="14962" y="1"/>
                  </a:moveTo>
                  <a:cubicBezTo>
                    <a:pt x="6706" y="1"/>
                    <a:pt x="1" y="6705"/>
                    <a:pt x="1" y="14971"/>
                  </a:cubicBezTo>
                  <a:cubicBezTo>
                    <a:pt x="1" y="23228"/>
                    <a:pt x="6706" y="29932"/>
                    <a:pt x="14962" y="29932"/>
                  </a:cubicBezTo>
                  <a:cubicBezTo>
                    <a:pt x="23228" y="29932"/>
                    <a:pt x="29933" y="23228"/>
                    <a:pt x="29933" y="14971"/>
                  </a:cubicBezTo>
                  <a:cubicBezTo>
                    <a:pt x="29933" y="6705"/>
                    <a:pt x="23228" y="1"/>
                    <a:pt x="14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593115" y="2633539"/>
              <a:ext cx="885406" cy="798921"/>
            </a:xfrm>
            <a:custGeom>
              <a:rect b="b" l="l" r="r" t="t"/>
              <a:pathLst>
                <a:path extrusionOk="0" h="20831" w="23086">
                  <a:moveTo>
                    <a:pt x="11533" y="0"/>
                  </a:moveTo>
                  <a:cubicBezTo>
                    <a:pt x="6937" y="0"/>
                    <a:pt x="2729" y="3070"/>
                    <a:pt x="1481" y="7719"/>
                  </a:cubicBezTo>
                  <a:cubicBezTo>
                    <a:pt x="0" y="13271"/>
                    <a:pt x="3290" y="18982"/>
                    <a:pt x="8842" y="20472"/>
                  </a:cubicBezTo>
                  <a:cubicBezTo>
                    <a:pt x="9746" y="20714"/>
                    <a:pt x="10654" y="20830"/>
                    <a:pt x="11547" y="20830"/>
                  </a:cubicBezTo>
                  <a:cubicBezTo>
                    <a:pt x="16146" y="20830"/>
                    <a:pt x="20348" y="17761"/>
                    <a:pt x="21596" y="13111"/>
                  </a:cubicBezTo>
                  <a:cubicBezTo>
                    <a:pt x="23085" y="7559"/>
                    <a:pt x="19795" y="1848"/>
                    <a:pt x="14234" y="358"/>
                  </a:cubicBezTo>
                  <a:cubicBezTo>
                    <a:pt x="13332" y="116"/>
                    <a:pt x="12425" y="0"/>
                    <a:pt x="11533" y="0"/>
                  </a:cubicBezTo>
                  <a:close/>
                </a:path>
              </a:pathLst>
            </a:custGeom>
            <a:solidFill>
              <a:srgbClr val="132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3"/>
          <p:cNvSpPr/>
          <p:nvPr/>
        </p:nvSpPr>
        <p:spPr>
          <a:xfrm>
            <a:off x="13050926" y="1019675"/>
            <a:ext cx="615900" cy="861600"/>
          </a:xfrm>
          <a:prstGeom prst="can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-680023" y="534555"/>
            <a:ext cx="4074600" cy="4074600"/>
          </a:xfrm>
          <a:prstGeom prst="donut">
            <a:avLst>
              <a:gd fmla="val 13327" name="adj"/>
            </a:avLst>
          </a:prstGeom>
          <a:solidFill>
            <a:srgbClr val="EFEFE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-680023" y="534555"/>
            <a:ext cx="4074600" cy="4074600"/>
          </a:xfrm>
          <a:prstGeom prst="blockArc">
            <a:avLst>
              <a:gd fmla="val 520356" name="adj1"/>
              <a:gd fmla="val 12716113" name="adj2"/>
              <a:gd fmla="val 13503" name="adj3"/>
            </a:avLst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/>
          <p:nvPr/>
        </p:nvSpPr>
        <p:spPr>
          <a:xfrm rot="9900055">
            <a:off x="-679985" y="534585"/>
            <a:ext cx="4074519" cy="4074519"/>
          </a:xfrm>
          <a:prstGeom prst="blockArc">
            <a:avLst>
              <a:gd fmla="val 8183050" name="adj1"/>
              <a:gd fmla="val 12716113" name="adj2"/>
              <a:gd fmla="val 13503" name="adj3"/>
            </a:avLst>
          </a:prstGeom>
          <a:solidFill>
            <a:schemeClr val="accent3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/>
          <p:nvPr/>
        </p:nvSpPr>
        <p:spPr>
          <a:xfrm rot="3599955">
            <a:off x="-679885" y="534496"/>
            <a:ext cx="4074507" cy="4074507"/>
          </a:xfrm>
          <a:prstGeom prst="blockArc">
            <a:avLst>
              <a:gd fmla="val 8183050" name="adj1"/>
              <a:gd fmla="val 12716113" name="adj2"/>
              <a:gd fmla="val 13503" name="adj3"/>
            </a:avLst>
          </a:prstGeom>
          <a:solidFill>
            <a:schemeClr val="accent5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367650" y="2630744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type="title"/>
          </p:nvPr>
        </p:nvSpPr>
        <p:spPr>
          <a:xfrm>
            <a:off x="504825" y="457200"/>
            <a:ext cx="81345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533212" y="1146944"/>
            <a:ext cx="2408700" cy="1210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711237" y="1433294"/>
            <a:ext cx="2052600" cy="3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Recap</a:t>
            </a:r>
            <a:endParaRPr sz="3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609412" y="2630819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4441547" y="2851894"/>
            <a:ext cx="461639" cy="562676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107672" y="3586669"/>
            <a:ext cx="1412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Quick Recap on our concepts.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263676" y="1146950"/>
            <a:ext cx="2687700" cy="1210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3367775" y="1433300"/>
            <a:ext cx="2408700" cy="37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Downselecting</a:t>
            </a:r>
            <a:endParaRPr sz="3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1547982" y="2767444"/>
            <a:ext cx="531490" cy="529463"/>
          </a:xfrm>
          <a:custGeom>
            <a:rect b="b" l="l" r="r" t="t"/>
            <a:pathLst>
              <a:path extrusionOk="0" h="19327" w="19401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966322" y="3747644"/>
            <a:ext cx="1412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We down select the best concept by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measuring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different parameters.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125888" y="1146944"/>
            <a:ext cx="2408700" cy="12105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303938" y="1433294"/>
            <a:ext cx="2052600" cy="37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Conclusion</a:t>
            </a:r>
            <a:endParaRPr sz="3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6125887" y="2630744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7035357" y="2766364"/>
            <a:ext cx="543052" cy="515516"/>
            <a:chOff x="6222125" y="2025975"/>
            <a:chExt cx="499450" cy="474125"/>
          </a:xfrm>
        </p:grpSpPr>
        <p:sp>
          <p:nvSpPr>
            <p:cNvPr id="94" name="Google Shape;94;p14"/>
            <p:cNvSpPr/>
            <p:nvPr/>
          </p:nvSpPr>
          <p:spPr>
            <a:xfrm>
              <a:off x="6222125" y="2025975"/>
              <a:ext cx="499450" cy="474125"/>
            </a:xfrm>
            <a:custGeom>
              <a:rect b="b" l="l" r="r" t="t"/>
              <a:pathLst>
                <a:path extrusionOk="0" h="18965" w="19978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6309175" y="2087825"/>
              <a:ext cx="350425" cy="350425"/>
            </a:xfrm>
            <a:custGeom>
              <a:rect b="b" l="l" r="r" t="t"/>
              <a:pathLst>
                <a:path extrusionOk="0" h="14017" w="14017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6431600" y="2142250"/>
              <a:ext cx="105575" cy="241575"/>
            </a:xfrm>
            <a:custGeom>
              <a:rect b="b" l="l" r="r" t="t"/>
              <a:pathLst>
                <a:path extrusionOk="0" h="9663" w="4223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7" name="Google Shape;97;p14"/>
          <p:cNvSpPr txBox="1"/>
          <p:nvPr/>
        </p:nvSpPr>
        <p:spPr>
          <a:xfrm>
            <a:off x="6739722" y="3524369"/>
            <a:ext cx="1412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We elaborate more on the rationale behind downselecting.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Mihir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04825" y="457200"/>
            <a:ext cx="81345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Potential Concepts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609412" y="1146944"/>
            <a:ext cx="2408700" cy="1210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09412" y="2630819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882435" y="3776294"/>
            <a:ext cx="461639" cy="562676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08" name="Google Shape;108;p15"/>
          <p:cNvGrpSpPr/>
          <p:nvPr/>
        </p:nvGrpSpPr>
        <p:grpSpPr>
          <a:xfrm>
            <a:off x="787462" y="1308694"/>
            <a:ext cx="2052600" cy="762400"/>
            <a:chOff x="939825" y="1232494"/>
            <a:chExt cx="2052600" cy="762400"/>
          </a:xfrm>
        </p:grpSpPr>
        <p:sp>
          <p:nvSpPr>
            <p:cNvPr id="109" name="Google Shape;109;p15"/>
            <p:cNvSpPr txBox="1"/>
            <p:nvPr/>
          </p:nvSpPr>
          <p:spPr>
            <a:xfrm>
              <a:off x="939825" y="1232494"/>
              <a:ext cx="2052600" cy="371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A: Biobloom</a:t>
              </a:r>
              <a:endParaRPr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939825" y="1728194"/>
              <a:ext cx="20526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Improving healthcare through technology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1451972" y="2866186"/>
            <a:ext cx="1412100" cy="648282"/>
            <a:chOff x="1604335" y="2713786"/>
            <a:chExt cx="1412100" cy="648282"/>
          </a:xfrm>
        </p:grpSpPr>
        <p:sp>
          <p:nvSpPr>
            <p:cNvPr id="112" name="Google Shape;112;p15"/>
            <p:cNvSpPr txBox="1"/>
            <p:nvPr/>
          </p:nvSpPr>
          <p:spPr>
            <a:xfrm>
              <a:off x="1604335" y="2713786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Problem: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1604335" y="2990969"/>
              <a:ext cx="1412100" cy="3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Inconvenient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healthcare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1451972" y="3661644"/>
            <a:ext cx="1635603" cy="648281"/>
            <a:chOff x="1604335" y="3509244"/>
            <a:chExt cx="1635603" cy="648281"/>
          </a:xfrm>
        </p:grpSpPr>
        <p:sp>
          <p:nvSpPr>
            <p:cNvPr id="115" name="Google Shape;115;p15"/>
            <p:cNvSpPr txBox="1"/>
            <p:nvPr/>
          </p:nvSpPr>
          <p:spPr>
            <a:xfrm>
              <a:off x="1604335" y="3509244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Solution: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1604338" y="3786425"/>
              <a:ext cx="1635600" cy="3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Wireless healthcare monitoring systems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>
            <a:off x="3367650" y="1146944"/>
            <a:ext cx="2408700" cy="1210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5"/>
          <p:cNvGrpSpPr/>
          <p:nvPr/>
        </p:nvGrpSpPr>
        <p:grpSpPr>
          <a:xfrm>
            <a:off x="3367650" y="1308694"/>
            <a:ext cx="2408700" cy="845481"/>
            <a:chOff x="3367613" y="1232494"/>
            <a:chExt cx="2408700" cy="845481"/>
          </a:xfrm>
        </p:grpSpPr>
        <p:sp>
          <p:nvSpPr>
            <p:cNvPr id="119" name="Google Shape;119;p15"/>
            <p:cNvSpPr txBox="1"/>
            <p:nvPr/>
          </p:nvSpPr>
          <p:spPr>
            <a:xfrm>
              <a:off x="3545675" y="1232494"/>
              <a:ext cx="2052600" cy="37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B: InfiniShop</a:t>
              </a:r>
              <a:endParaRPr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3367613" y="1811275"/>
              <a:ext cx="2408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Virtual showroom experience with AR Shopping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1" name="Google Shape;121;p15"/>
          <p:cNvSpPr/>
          <p:nvPr/>
        </p:nvSpPr>
        <p:spPr>
          <a:xfrm>
            <a:off x="3367650" y="2630744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15"/>
          <p:cNvGrpSpPr/>
          <p:nvPr/>
        </p:nvGrpSpPr>
        <p:grpSpPr>
          <a:xfrm>
            <a:off x="4175413" y="3661644"/>
            <a:ext cx="1635600" cy="792006"/>
            <a:chOff x="4175375" y="3509244"/>
            <a:chExt cx="1635600" cy="792006"/>
          </a:xfrm>
        </p:grpSpPr>
        <p:sp>
          <p:nvSpPr>
            <p:cNvPr id="123" name="Google Shape;123;p15"/>
            <p:cNvSpPr txBox="1"/>
            <p:nvPr/>
          </p:nvSpPr>
          <p:spPr>
            <a:xfrm>
              <a:off x="4217348" y="3509244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Solution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4175375" y="3775950"/>
              <a:ext cx="1635600" cy="5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AR - Customers shop &amp; view online products in real time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4217385" y="2866186"/>
            <a:ext cx="1412100" cy="648282"/>
            <a:chOff x="4217348" y="2713786"/>
            <a:chExt cx="1412100" cy="648282"/>
          </a:xfrm>
        </p:grpSpPr>
        <p:sp>
          <p:nvSpPr>
            <p:cNvPr id="126" name="Google Shape;126;p15"/>
            <p:cNvSpPr txBox="1"/>
            <p:nvPr/>
          </p:nvSpPr>
          <p:spPr>
            <a:xfrm>
              <a:off x="4217348" y="2713786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Problem: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4217348" y="2990969"/>
              <a:ext cx="1412100" cy="3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Outdated online shopping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8" name="Google Shape;128;p15"/>
          <p:cNvSpPr/>
          <p:nvPr/>
        </p:nvSpPr>
        <p:spPr>
          <a:xfrm>
            <a:off x="3598351" y="2983741"/>
            <a:ext cx="531792" cy="452730"/>
          </a:xfrm>
          <a:custGeom>
            <a:rect b="b" l="l" r="r" t="t"/>
            <a:pathLst>
              <a:path extrusionOk="0" h="16526" w="19412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125888" y="1154081"/>
            <a:ext cx="2408700" cy="12105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168050" y="1308700"/>
            <a:ext cx="2319000" cy="948400"/>
            <a:chOff x="6015613" y="1232500"/>
            <a:chExt cx="2319000" cy="948400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6091763" y="1232500"/>
              <a:ext cx="2112300" cy="371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C: AquaChain</a:t>
              </a:r>
              <a:endParaRPr sz="3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6015613" y="1728200"/>
              <a:ext cx="2319000" cy="452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Blockchain water supply sanitation and </a:t>
              </a: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management</a:t>
              </a:r>
              <a:r>
                <a:rPr lang="en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3" name="Google Shape;133;p15"/>
          <p:cNvSpPr/>
          <p:nvPr/>
        </p:nvSpPr>
        <p:spPr>
          <a:xfrm>
            <a:off x="6125887" y="2630744"/>
            <a:ext cx="2408700" cy="1925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5"/>
          <p:cNvGrpSpPr/>
          <p:nvPr/>
        </p:nvGrpSpPr>
        <p:grpSpPr>
          <a:xfrm>
            <a:off x="6968322" y="3661644"/>
            <a:ext cx="1588503" cy="839981"/>
            <a:chOff x="6815885" y="3509244"/>
            <a:chExt cx="1588503" cy="839981"/>
          </a:xfrm>
        </p:grpSpPr>
        <p:sp>
          <p:nvSpPr>
            <p:cNvPr id="135" name="Google Shape;135;p15"/>
            <p:cNvSpPr txBox="1"/>
            <p:nvPr/>
          </p:nvSpPr>
          <p:spPr>
            <a:xfrm>
              <a:off x="6815885" y="3509244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Solution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6815888" y="3786425"/>
              <a:ext cx="1588500" cy="5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Blockchain water supply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monitoring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6968322" y="2866186"/>
            <a:ext cx="1705803" cy="648289"/>
            <a:chOff x="6815885" y="2713786"/>
            <a:chExt cx="1705803" cy="648289"/>
          </a:xfrm>
        </p:grpSpPr>
        <p:sp>
          <p:nvSpPr>
            <p:cNvPr id="138" name="Google Shape;138;p15"/>
            <p:cNvSpPr txBox="1"/>
            <p:nvPr/>
          </p:nvSpPr>
          <p:spPr>
            <a:xfrm>
              <a:off x="6815885" y="2713786"/>
              <a:ext cx="1286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Problem: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6815888" y="2990975"/>
              <a:ext cx="1705800" cy="3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Water sanitation and supply 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management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1" name="Google Shape;141;p15"/>
          <p:cNvGrpSpPr/>
          <p:nvPr/>
        </p:nvGrpSpPr>
        <p:grpSpPr>
          <a:xfrm>
            <a:off x="6339859" y="2927658"/>
            <a:ext cx="531497" cy="525320"/>
            <a:chOff x="-61784125" y="1931250"/>
            <a:chExt cx="316650" cy="317050"/>
          </a:xfrm>
        </p:grpSpPr>
        <p:sp>
          <p:nvSpPr>
            <p:cNvPr id="142" name="Google Shape;142;p15"/>
            <p:cNvSpPr/>
            <p:nvPr/>
          </p:nvSpPr>
          <p:spPr>
            <a:xfrm>
              <a:off x="-61688025" y="1931250"/>
              <a:ext cx="124450" cy="134300"/>
            </a:xfrm>
            <a:custGeom>
              <a:rect b="b" l="l" r="r" t="t"/>
              <a:pathLst>
                <a:path extrusionOk="0" h="5372" w="4978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-61784125" y="2113325"/>
              <a:ext cx="124450" cy="134975"/>
            </a:xfrm>
            <a:custGeom>
              <a:rect b="b" l="l" r="r" t="t"/>
              <a:pathLst>
                <a:path extrusionOk="0" h="5399" w="4978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-61591150" y="2113325"/>
              <a:ext cx="123675" cy="134175"/>
            </a:xfrm>
            <a:custGeom>
              <a:rect b="b" l="l" r="r" t="t"/>
              <a:pathLst>
                <a:path extrusionOk="0" h="5367" w="4947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-61677800" y="2072225"/>
              <a:ext cx="106350" cy="62450"/>
            </a:xfrm>
            <a:custGeom>
              <a:rect b="b" l="l" r="r" t="t"/>
              <a:pathLst>
                <a:path extrusionOk="0" h="2498" w="4254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882420" y="2968898"/>
            <a:ext cx="405561" cy="452733"/>
            <a:chOff x="5794025" y="2673575"/>
            <a:chExt cx="259925" cy="296175"/>
          </a:xfrm>
        </p:grpSpPr>
        <p:sp>
          <p:nvSpPr>
            <p:cNvPr id="147" name="Google Shape;147;p15"/>
            <p:cNvSpPr/>
            <p:nvPr/>
          </p:nvSpPr>
          <p:spPr>
            <a:xfrm>
              <a:off x="5794025" y="2673575"/>
              <a:ext cx="259925" cy="296175"/>
            </a:xfrm>
            <a:custGeom>
              <a:rect b="b" l="l" r="r" t="t"/>
              <a:pathLst>
                <a:path extrusionOk="0" h="11847" w="10397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5967300" y="29153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6339857" y="3794985"/>
            <a:ext cx="531488" cy="525333"/>
            <a:chOff x="-1333200" y="2770450"/>
            <a:chExt cx="291450" cy="292225"/>
          </a:xfrm>
        </p:grpSpPr>
        <p:sp>
          <p:nvSpPr>
            <p:cNvPr id="150" name="Google Shape;150;p15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15"/>
          <p:cNvSpPr/>
          <p:nvPr/>
        </p:nvSpPr>
        <p:spPr>
          <a:xfrm>
            <a:off x="3633413" y="3831287"/>
            <a:ext cx="461651" cy="452715"/>
          </a:xfrm>
          <a:custGeom>
            <a:rect b="b" l="l" r="r" t="t"/>
            <a:pathLst>
              <a:path extrusionOk="0" h="11689" w="11816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5" title="Original potential concepts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9850" y="326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Patrick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/>
          <p:nvPr/>
        </p:nvSpPr>
        <p:spPr>
          <a:xfrm>
            <a:off x="0" y="5210200"/>
            <a:ext cx="232200" cy="23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232159" y="5210200"/>
            <a:ext cx="232200" cy="23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464317" y="5210200"/>
            <a:ext cx="232200" cy="23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696476" y="5210200"/>
            <a:ext cx="232200" cy="23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928635" y="5210200"/>
            <a:ext cx="232200" cy="23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1160794" y="5210200"/>
            <a:ext cx="232200" cy="23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392952" y="5210200"/>
            <a:ext cx="232200" cy="23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1625111" y="5210200"/>
            <a:ext cx="232200" cy="23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8163477" y="1116115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8144348" y="1733777"/>
            <a:ext cx="1277" cy="128"/>
          </a:xfrm>
          <a:custGeom>
            <a:rect b="b" l="l" r="r" t="t"/>
            <a:pathLst>
              <a:path extrusionOk="0" h="1" w="10">
                <a:moveTo>
                  <a:pt x="9" y="1"/>
                </a:moveTo>
                <a:cubicBezTo>
                  <a:pt x="9" y="1"/>
                  <a:pt x="9" y="1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rgbClr val="A9584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16"/>
          <p:cNvGrpSpPr/>
          <p:nvPr/>
        </p:nvGrpSpPr>
        <p:grpSpPr>
          <a:xfrm>
            <a:off x="12664928" y="1553063"/>
            <a:ext cx="1387824" cy="521998"/>
            <a:chOff x="6461826" y="2459496"/>
            <a:chExt cx="1148005" cy="1148005"/>
          </a:xfrm>
        </p:grpSpPr>
        <p:sp>
          <p:nvSpPr>
            <p:cNvPr id="170" name="Google Shape;170;p16"/>
            <p:cNvSpPr/>
            <p:nvPr/>
          </p:nvSpPr>
          <p:spPr>
            <a:xfrm>
              <a:off x="6461826" y="2459496"/>
              <a:ext cx="1148005" cy="1148005"/>
            </a:xfrm>
            <a:custGeom>
              <a:rect b="b" l="l" r="r" t="t"/>
              <a:pathLst>
                <a:path extrusionOk="0" h="29933" w="29933">
                  <a:moveTo>
                    <a:pt x="14962" y="1"/>
                  </a:moveTo>
                  <a:cubicBezTo>
                    <a:pt x="6706" y="1"/>
                    <a:pt x="1" y="6705"/>
                    <a:pt x="1" y="14971"/>
                  </a:cubicBezTo>
                  <a:cubicBezTo>
                    <a:pt x="1" y="23228"/>
                    <a:pt x="6706" y="29932"/>
                    <a:pt x="14962" y="29932"/>
                  </a:cubicBezTo>
                  <a:cubicBezTo>
                    <a:pt x="23228" y="29932"/>
                    <a:pt x="29933" y="23228"/>
                    <a:pt x="29933" y="14971"/>
                  </a:cubicBezTo>
                  <a:cubicBezTo>
                    <a:pt x="29933" y="6705"/>
                    <a:pt x="23228" y="1"/>
                    <a:pt x="14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6593115" y="2633539"/>
              <a:ext cx="885406" cy="798921"/>
            </a:xfrm>
            <a:custGeom>
              <a:rect b="b" l="l" r="r" t="t"/>
              <a:pathLst>
                <a:path extrusionOk="0" h="20831" w="23086">
                  <a:moveTo>
                    <a:pt x="11533" y="0"/>
                  </a:moveTo>
                  <a:cubicBezTo>
                    <a:pt x="6937" y="0"/>
                    <a:pt x="2729" y="3070"/>
                    <a:pt x="1481" y="7719"/>
                  </a:cubicBezTo>
                  <a:cubicBezTo>
                    <a:pt x="0" y="13271"/>
                    <a:pt x="3290" y="18982"/>
                    <a:pt x="8842" y="20472"/>
                  </a:cubicBezTo>
                  <a:cubicBezTo>
                    <a:pt x="9746" y="20714"/>
                    <a:pt x="10654" y="20830"/>
                    <a:pt x="11547" y="20830"/>
                  </a:cubicBezTo>
                  <a:cubicBezTo>
                    <a:pt x="16146" y="20830"/>
                    <a:pt x="20348" y="17761"/>
                    <a:pt x="21596" y="13111"/>
                  </a:cubicBezTo>
                  <a:cubicBezTo>
                    <a:pt x="23085" y="7559"/>
                    <a:pt x="19795" y="1848"/>
                    <a:pt x="14234" y="358"/>
                  </a:cubicBezTo>
                  <a:cubicBezTo>
                    <a:pt x="13332" y="116"/>
                    <a:pt x="12425" y="0"/>
                    <a:pt x="11533" y="0"/>
                  </a:cubicBezTo>
                  <a:close/>
                </a:path>
              </a:pathLst>
            </a:custGeom>
            <a:solidFill>
              <a:srgbClr val="132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16"/>
          <p:cNvSpPr/>
          <p:nvPr/>
        </p:nvSpPr>
        <p:spPr>
          <a:xfrm>
            <a:off x="13050926" y="1019675"/>
            <a:ext cx="615900" cy="861600"/>
          </a:xfrm>
          <a:prstGeom prst="can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16"/>
          <p:cNvSpPr txBox="1"/>
          <p:nvPr>
            <p:ph idx="4294967295" type="title"/>
          </p:nvPr>
        </p:nvSpPr>
        <p:spPr>
          <a:xfrm>
            <a:off x="657150" y="152400"/>
            <a:ext cx="8134500" cy="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Parameters</a:t>
            </a:r>
            <a:endParaRPr/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25" y="904337"/>
            <a:ext cx="1887949" cy="188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025" y="890425"/>
            <a:ext cx="1887949" cy="188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5850" y="1048862"/>
            <a:ext cx="2855799" cy="1598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1023600" y="2815525"/>
            <a:ext cx="11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Design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485900" y="2815525"/>
            <a:ext cx="18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Transformation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3702000" y="2815525"/>
            <a:ext cx="11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Inputs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5935850" y="3963150"/>
            <a:ext cx="11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Output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Mihir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2200" y="3413263"/>
            <a:ext cx="2355011" cy="15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504750" y="0"/>
            <a:ext cx="8134500" cy="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Parameters</a:t>
            </a:r>
            <a:endParaRPr/>
          </a:p>
        </p:txBody>
      </p:sp>
      <p:pic>
        <p:nvPicPr>
          <p:cNvPr id="189" name="Google Shape;189;p17" title="Criteria - Desig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87" y="457202"/>
            <a:ext cx="7548472" cy="46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Mihir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583350" y="100150"/>
            <a:ext cx="8134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723072" y="10402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Materials </a:t>
            </a:r>
            <a:r>
              <a:rPr b="1" lang="en">
                <a:solidFill>
                  <a:schemeClr val="lt1"/>
                </a:solidFill>
              </a:rPr>
              <a:t>Availability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086091" y="104025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EE5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Cost of materials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53235" y="3188426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F06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Software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178880" y="3144776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Tooling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2242575" y="1008600"/>
            <a:ext cx="26430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Moderate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98375" y="923100"/>
            <a:ext cx="2445600" cy="1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High</a:t>
            </a:r>
            <a:endParaRPr b="1" sz="10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Moderate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2242575" y="3144775"/>
            <a:ext cx="26430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High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Moderate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765000" y="3058650"/>
            <a:ext cx="28020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Moderate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>
            <a:off x="5675153" y="1189057"/>
            <a:ext cx="341387" cy="316630"/>
            <a:chOff x="-62511900" y="4129100"/>
            <a:chExt cx="304050" cy="282000"/>
          </a:xfrm>
        </p:grpSpPr>
        <p:sp>
          <p:nvSpPr>
            <p:cNvPr id="206" name="Google Shape;206;p18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1222155" y="3374905"/>
            <a:ext cx="306686" cy="349457"/>
            <a:chOff x="5794025" y="2673575"/>
            <a:chExt cx="259925" cy="296175"/>
          </a:xfrm>
        </p:grpSpPr>
        <p:sp>
          <p:nvSpPr>
            <p:cNvPr id="212" name="Google Shape;212;p18"/>
            <p:cNvSpPr/>
            <p:nvPr/>
          </p:nvSpPr>
          <p:spPr>
            <a:xfrm>
              <a:off x="5794025" y="2673575"/>
              <a:ext cx="259925" cy="296175"/>
            </a:xfrm>
            <a:custGeom>
              <a:rect b="b" l="l" r="r" t="t"/>
              <a:pathLst>
                <a:path extrusionOk="0" h="11847" w="10397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967300" y="29153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18"/>
          <p:cNvSpPr/>
          <p:nvPr/>
        </p:nvSpPr>
        <p:spPr>
          <a:xfrm>
            <a:off x="5767928" y="3374898"/>
            <a:ext cx="341394" cy="349462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215" name="Google Shape;215;p18"/>
          <p:cNvGrpSpPr/>
          <p:nvPr/>
        </p:nvGrpSpPr>
        <p:grpSpPr>
          <a:xfrm>
            <a:off x="1271990" y="1189064"/>
            <a:ext cx="341405" cy="316616"/>
            <a:chOff x="-3852025" y="2764950"/>
            <a:chExt cx="291450" cy="293000"/>
          </a:xfrm>
        </p:grpSpPr>
        <p:sp>
          <p:nvSpPr>
            <p:cNvPr id="216" name="Google Shape;216;p18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18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740525" y="101850"/>
            <a:ext cx="8134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653222" y="11257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  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Equipment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222516" y="112575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EE5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Facilities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653235" y="3188426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F06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Staff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309855" y="3188426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Cost of Inputs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206050" y="1082800"/>
            <a:ext cx="26055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High 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Low 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Moderate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2319100" y="3144775"/>
            <a:ext cx="26586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912150" y="3188425"/>
            <a:ext cx="22005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829350" y="1082800"/>
            <a:ext cx="23661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High 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Low 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High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2450100" y="790021"/>
            <a:ext cx="1720200" cy="40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Complexity</a:t>
            </a:r>
            <a:endParaRPr b="1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2450100" y="2744571"/>
            <a:ext cx="1720200" cy="40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Complexity</a:t>
            </a:r>
            <a:endParaRPr b="1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6919050" y="725546"/>
            <a:ext cx="1720200" cy="400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Complexity</a:t>
            </a:r>
            <a:endParaRPr b="1"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236" name="Google Shape;236;p19"/>
          <p:cNvGrpSpPr/>
          <p:nvPr/>
        </p:nvGrpSpPr>
        <p:grpSpPr>
          <a:xfrm>
            <a:off x="5942553" y="3413382"/>
            <a:ext cx="341387" cy="316630"/>
            <a:chOff x="-62511900" y="4129100"/>
            <a:chExt cx="304050" cy="282000"/>
          </a:xfrm>
        </p:grpSpPr>
        <p:sp>
          <p:nvSpPr>
            <p:cNvPr id="237" name="Google Shape;237;p19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1264640" y="3371995"/>
            <a:ext cx="401532" cy="399374"/>
            <a:chOff x="-5635200" y="2037975"/>
            <a:chExt cx="293025" cy="291450"/>
          </a:xfrm>
        </p:grpSpPr>
        <p:sp>
          <p:nvSpPr>
            <p:cNvPr id="243" name="Google Shape;243;p19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>
            <a:off x="5799143" y="1335037"/>
            <a:ext cx="366269" cy="366269"/>
            <a:chOff x="-61354875" y="2671225"/>
            <a:chExt cx="316650" cy="316650"/>
          </a:xfrm>
        </p:grpSpPr>
        <p:sp>
          <p:nvSpPr>
            <p:cNvPr id="246" name="Google Shape;246;p19"/>
            <p:cNvSpPr/>
            <p:nvPr/>
          </p:nvSpPr>
          <p:spPr>
            <a:xfrm>
              <a:off x="-61354875" y="2671225"/>
              <a:ext cx="316650" cy="316650"/>
            </a:xfrm>
            <a:custGeom>
              <a:rect b="b" l="l" r="r" t="t"/>
              <a:pathLst>
                <a:path extrusionOk="0" h="12666" w="12666">
                  <a:moveTo>
                    <a:pt x="11405" y="1701"/>
                  </a:moveTo>
                  <a:cubicBezTo>
                    <a:pt x="11657" y="1701"/>
                    <a:pt x="11847" y="1890"/>
                    <a:pt x="11847" y="2111"/>
                  </a:cubicBezTo>
                  <a:lnTo>
                    <a:pt x="11847" y="3340"/>
                  </a:lnTo>
                  <a:lnTo>
                    <a:pt x="820" y="3340"/>
                  </a:lnTo>
                  <a:lnTo>
                    <a:pt x="820" y="2111"/>
                  </a:lnTo>
                  <a:cubicBezTo>
                    <a:pt x="820" y="1890"/>
                    <a:pt x="1009" y="1701"/>
                    <a:pt x="1198" y="1701"/>
                  </a:cubicBezTo>
                  <a:lnTo>
                    <a:pt x="1639" y="1701"/>
                  </a:lnTo>
                  <a:lnTo>
                    <a:pt x="1639" y="2111"/>
                  </a:lnTo>
                  <a:cubicBezTo>
                    <a:pt x="1639" y="2363"/>
                    <a:pt x="1828" y="2552"/>
                    <a:pt x="2048" y="2552"/>
                  </a:cubicBezTo>
                  <a:cubicBezTo>
                    <a:pt x="2237" y="2552"/>
                    <a:pt x="2427" y="2363"/>
                    <a:pt x="2427" y="2111"/>
                  </a:cubicBezTo>
                  <a:lnTo>
                    <a:pt x="2427" y="1701"/>
                  </a:lnTo>
                  <a:lnTo>
                    <a:pt x="5892" y="1701"/>
                  </a:lnTo>
                  <a:lnTo>
                    <a:pt x="5892" y="2111"/>
                  </a:lnTo>
                  <a:cubicBezTo>
                    <a:pt x="5892" y="2363"/>
                    <a:pt x="6081" y="2552"/>
                    <a:pt x="6333" y="2552"/>
                  </a:cubicBezTo>
                  <a:cubicBezTo>
                    <a:pt x="6585" y="2552"/>
                    <a:pt x="6743" y="2363"/>
                    <a:pt x="6743" y="2111"/>
                  </a:cubicBezTo>
                  <a:lnTo>
                    <a:pt x="6743" y="1701"/>
                  </a:lnTo>
                  <a:lnTo>
                    <a:pt x="10208" y="1701"/>
                  </a:lnTo>
                  <a:lnTo>
                    <a:pt x="10208" y="2111"/>
                  </a:lnTo>
                  <a:cubicBezTo>
                    <a:pt x="10208" y="2363"/>
                    <a:pt x="10397" y="2552"/>
                    <a:pt x="10618" y="2552"/>
                  </a:cubicBezTo>
                  <a:cubicBezTo>
                    <a:pt x="10870" y="2552"/>
                    <a:pt x="11027" y="2363"/>
                    <a:pt x="11027" y="2111"/>
                  </a:cubicBezTo>
                  <a:lnTo>
                    <a:pt x="11027" y="1701"/>
                  </a:lnTo>
                  <a:close/>
                  <a:moveTo>
                    <a:pt x="11878" y="4159"/>
                  </a:moveTo>
                  <a:lnTo>
                    <a:pt x="11878" y="6112"/>
                  </a:lnTo>
                  <a:lnTo>
                    <a:pt x="11847" y="6112"/>
                  </a:lnTo>
                  <a:cubicBezTo>
                    <a:pt x="11090" y="5072"/>
                    <a:pt x="9862" y="4442"/>
                    <a:pt x="8538" y="4442"/>
                  </a:cubicBezTo>
                  <a:cubicBezTo>
                    <a:pt x="6239" y="4442"/>
                    <a:pt x="4411" y="6301"/>
                    <a:pt x="4411" y="8569"/>
                  </a:cubicBezTo>
                  <a:cubicBezTo>
                    <a:pt x="4411" y="9168"/>
                    <a:pt x="4506" y="9735"/>
                    <a:pt x="4758" y="10239"/>
                  </a:cubicBezTo>
                  <a:lnTo>
                    <a:pt x="1261" y="10239"/>
                  </a:lnTo>
                  <a:cubicBezTo>
                    <a:pt x="1009" y="10239"/>
                    <a:pt x="851" y="10050"/>
                    <a:pt x="851" y="9830"/>
                  </a:cubicBezTo>
                  <a:lnTo>
                    <a:pt x="851" y="4159"/>
                  </a:lnTo>
                  <a:close/>
                  <a:moveTo>
                    <a:pt x="8538" y="5261"/>
                  </a:moveTo>
                  <a:cubicBezTo>
                    <a:pt x="10334" y="5261"/>
                    <a:pt x="11847" y="6774"/>
                    <a:pt x="11847" y="8569"/>
                  </a:cubicBezTo>
                  <a:cubicBezTo>
                    <a:pt x="11847" y="10397"/>
                    <a:pt x="10334" y="11877"/>
                    <a:pt x="8538" y="11877"/>
                  </a:cubicBezTo>
                  <a:cubicBezTo>
                    <a:pt x="6711" y="11877"/>
                    <a:pt x="5230" y="10397"/>
                    <a:pt x="5230" y="8569"/>
                  </a:cubicBezTo>
                  <a:cubicBezTo>
                    <a:pt x="5230" y="6774"/>
                    <a:pt x="6743" y="5261"/>
                    <a:pt x="8538" y="5261"/>
                  </a:cubicBezTo>
                  <a:close/>
                  <a:moveTo>
                    <a:pt x="2048" y="0"/>
                  </a:moveTo>
                  <a:cubicBezTo>
                    <a:pt x="1828" y="0"/>
                    <a:pt x="1639" y="189"/>
                    <a:pt x="1639" y="441"/>
                  </a:cubicBezTo>
                  <a:lnTo>
                    <a:pt x="1639" y="851"/>
                  </a:lnTo>
                  <a:lnTo>
                    <a:pt x="1198" y="851"/>
                  </a:lnTo>
                  <a:cubicBezTo>
                    <a:pt x="536" y="851"/>
                    <a:pt x="1" y="1418"/>
                    <a:pt x="1" y="2079"/>
                  </a:cubicBezTo>
                  <a:lnTo>
                    <a:pt x="1" y="9798"/>
                  </a:lnTo>
                  <a:cubicBezTo>
                    <a:pt x="1" y="10460"/>
                    <a:pt x="536" y="11027"/>
                    <a:pt x="1198" y="11027"/>
                  </a:cubicBezTo>
                  <a:lnTo>
                    <a:pt x="5230" y="11027"/>
                  </a:lnTo>
                  <a:cubicBezTo>
                    <a:pt x="5987" y="12003"/>
                    <a:pt x="7184" y="12665"/>
                    <a:pt x="8538" y="12665"/>
                  </a:cubicBezTo>
                  <a:cubicBezTo>
                    <a:pt x="10807" y="12665"/>
                    <a:pt x="12666" y="10838"/>
                    <a:pt x="12666" y="8538"/>
                  </a:cubicBezTo>
                  <a:lnTo>
                    <a:pt x="12666" y="2079"/>
                  </a:lnTo>
                  <a:cubicBezTo>
                    <a:pt x="12666" y="1418"/>
                    <a:pt x="12130" y="851"/>
                    <a:pt x="11405" y="851"/>
                  </a:cubicBezTo>
                  <a:lnTo>
                    <a:pt x="11027" y="851"/>
                  </a:lnTo>
                  <a:lnTo>
                    <a:pt x="11027" y="441"/>
                  </a:lnTo>
                  <a:cubicBezTo>
                    <a:pt x="11027" y="189"/>
                    <a:pt x="10807" y="0"/>
                    <a:pt x="10618" y="0"/>
                  </a:cubicBezTo>
                  <a:cubicBezTo>
                    <a:pt x="10397" y="0"/>
                    <a:pt x="10177" y="189"/>
                    <a:pt x="10177" y="441"/>
                  </a:cubicBezTo>
                  <a:lnTo>
                    <a:pt x="10177" y="851"/>
                  </a:lnTo>
                  <a:lnTo>
                    <a:pt x="6711" y="851"/>
                  </a:lnTo>
                  <a:lnTo>
                    <a:pt x="6711" y="441"/>
                  </a:lnTo>
                  <a:cubicBezTo>
                    <a:pt x="6711" y="189"/>
                    <a:pt x="6522" y="0"/>
                    <a:pt x="6333" y="0"/>
                  </a:cubicBezTo>
                  <a:cubicBezTo>
                    <a:pt x="6081" y="0"/>
                    <a:pt x="5892" y="189"/>
                    <a:pt x="5892" y="441"/>
                  </a:cubicBezTo>
                  <a:lnTo>
                    <a:pt x="5892" y="851"/>
                  </a:lnTo>
                  <a:lnTo>
                    <a:pt x="2427" y="851"/>
                  </a:lnTo>
                  <a:lnTo>
                    <a:pt x="2427" y="441"/>
                  </a:lnTo>
                  <a:cubicBezTo>
                    <a:pt x="2427" y="189"/>
                    <a:pt x="2237" y="0"/>
                    <a:pt x="2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-61172925" y="2813775"/>
              <a:ext cx="62225" cy="145725"/>
            </a:xfrm>
            <a:custGeom>
              <a:rect b="b" l="l" r="r" t="t"/>
              <a:pathLst>
                <a:path extrusionOk="0" h="5829" w="2489">
                  <a:moveTo>
                    <a:pt x="1260" y="0"/>
                  </a:moveTo>
                  <a:cubicBezTo>
                    <a:pt x="1008" y="0"/>
                    <a:pt x="819" y="190"/>
                    <a:pt x="819" y="410"/>
                  </a:cubicBezTo>
                  <a:lnTo>
                    <a:pt x="819" y="662"/>
                  </a:lnTo>
                  <a:cubicBezTo>
                    <a:pt x="347" y="820"/>
                    <a:pt x="0" y="1292"/>
                    <a:pt x="0" y="1859"/>
                  </a:cubicBezTo>
                  <a:cubicBezTo>
                    <a:pt x="0" y="2521"/>
                    <a:pt x="536" y="2899"/>
                    <a:pt x="977" y="3245"/>
                  </a:cubicBezTo>
                  <a:cubicBezTo>
                    <a:pt x="1292" y="3466"/>
                    <a:pt x="1639" y="3687"/>
                    <a:pt x="1639" y="3939"/>
                  </a:cubicBezTo>
                  <a:cubicBezTo>
                    <a:pt x="1639" y="4191"/>
                    <a:pt x="1450" y="4380"/>
                    <a:pt x="1260" y="4380"/>
                  </a:cubicBezTo>
                  <a:cubicBezTo>
                    <a:pt x="1008" y="4380"/>
                    <a:pt x="819" y="4191"/>
                    <a:pt x="819" y="3939"/>
                  </a:cubicBezTo>
                  <a:cubicBezTo>
                    <a:pt x="819" y="3718"/>
                    <a:pt x="630" y="3498"/>
                    <a:pt x="441" y="3498"/>
                  </a:cubicBezTo>
                  <a:cubicBezTo>
                    <a:pt x="189" y="3498"/>
                    <a:pt x="0" y="3718"/>
                    <a:pt x="0" y="3939"/>
                  </a:cubicBezTo>
                  <a:cubicBezTo>
                    <a:pt x="0" y="4506"/>
                    <a:pt x="347" y="4915"/>
                    <a:pt x="819" y="5136"/>
                  </a:cubicBezTo>
                  <a:lnTo>
                    <a:pt x="819" y="5388"/>
                  </a:lnTo>
                  <a:cubicBezTo>
                    <a:pt x="819" y="5640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388"/>
                  </a:cubicBezTo>
                  <a:lnTo>
                    <a:pt x="1639" y="5136"/>
                  </a:lnTo>
                  <a:cubicBezTo>
                    <a:pt x="2111" y="4978"/>
                    <a:pt x="2489" y="4506"/>
                    <a:pt x="2489" y="3939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2"/>
                    <a:pt x="819" y="2080"/>
                    <a:pt x="819" y="1859"/>
                  </a:cubicBezTo>
                  <a:cubicBezTo>
                    <a:pt x="819" y="1607"/>
                    <a:pt x="1008" y="1418"/>
                    <a:pt x="1260" y="1418"/>
                  </a:cubicBezTo>
                  <a:cubicBezTo>
                    <a:pt x="1513" y="1418"/>
                    <a:pt x="1639" y="1607"/>
                    <a:pt x="1639" y="1859"/>
                  </a:cubicBezTo>
                  <a:cubicBezTo>
                    <a:pt x="1639" y="2080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59"/>
                  </a:cubicBezTo>
                  <a:cubicBezTo>
                    <a:pt x="2489" y="1292"/>
                    <a:pt x="2143" y="883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-61313925" y="2796450"/>
              <a:ext cx="40975" cy="20500"/>
            </a:xfrm>
            <a:custGeom>
              <a:rect b="b" l="l" r="r" t="t"/>
              <a:pathLst>
                <a:path extrusionOk="0" h="820" w="1639"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0"/>
                    <a:pt x="1639" y="378"/>
                  </a:cubicBezTo>
                  <a:cubicBezTo>
                    <a:pt x="1639" y="158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-61313925" y="2837400"/>
              <a:ext cx="40975" cy="20500"/>
            </a:xfrm>
            <a:custGeom>
              <a:rect b="b" l="l" r="r" t="t"/>
              <a:pathLst>
                <a:path extrusionOk="0" h="820" w="1639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31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1"/>
                    <a:pt x="1639" y="442"/>
                  </a:cubicBezTo>
                  <a:cubicBezTo>
                    <a:pt x="1639" y="190"/>
                    <a:pt x="1419" y="1"/>
                    <a:pt x="12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-61313925" y="2877575"/>
              <a:ext cx="40975" cy="22075"/>
            </a:xfrm>
            <a:custGeom>
              <a:rect b="b" l="l" r="r" t="t"/>
              <a:pathLst>
                <a:path extrusionOk="0" h="883" w="1639">
                  <a:moveTo>
                    <a:pt x="410" y="0"/>
                  </a:moveTo>
                  <a:cubicBezTo>
                    <a:pt x="158" y="0"/>
                    <a:pt x="1" y="221"/>
                    <a:pt x="1" y="441"/>
                  </a:cubicBezTo>
                  <a:cubicBezTo>
                    <a:pt x="1" y="693"/>
                    <a:pt x="158" y="883"/>
                    <a:pt x="410" y="883"/>
                  </a:cubicBezTo>
                  <a:lnTo>
                    <a:pt x="1230" y="883"/>
                  </a:lnTo>
                  <a:cubicBezTo>
                    <a:pt x="1482" y="883"/>
                    <a:pt x="1639" y="693"/>
                    <a:pt x="1639" y="441"/>
                  </a:cubicBezTo>
                  <a:cubicBezTo>
                    <a:pt x="1639" y="221"/>
                    <a:pt x="1419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" name="Google Shape;251;p19"/>
          <p:cNvSpPr/>
          <p:nvPr/>
        </p:nvSpPr>
        <p:spPr>
          <a:xfrm>
            <a:off x="1194130" y="1337398"/>
            <a:ext cx="361534" cy="361544"/>
          </a:xfrm>
          <a:custGeom>
            <a:rect b="b" l="l" r="r" t="t"/>
            <a:pathLst>
              <a:path extrusionOk="0" h="11658" w="11721">
                <a:moveTo>
                  <a:pt x="7624" y="694"/>
                </a:moveTo>
                <a:cubicBezTo>
                  <a:pt x="9515" y="694"/>
                  <a:pt x="11058" y="2206"/>
                  <a:pt x="11058" y="4096"/>
                </a:cubicBezTo>
                <a:cubicBezTo>
                  <a:pt x="11058" y="5987"/>
                  <a:pt x="9515" y="7530"/>
                  <a:pt x="7624" y="7530"/>
                </a:cubicBezTo>
                <a:cubicBezTo>
                  <a:pt x="5734" y="7530"/>
                  <a:pt x="4190" y="5987"/>
                  <a:pt x="4190" y="4096"/>
                </a:cubicBezTo>
                <a:cubicBezTo>
                  <a:pt x="4190" y="2206"/>
                  <a:pt x="5734" y="694"/>
                  <a:pt x="7624" y="694"/>
                </a:cubicBezTo>
                <a:close/>
                <a:moveTo>
                  <a:pt x="3336" y="8066"/>
                </a:moveTo>
                <a:cubicBezTo>
                  <a:pt x="3426" y="8066"/>
                  <a:pt x="3513" y="8098"/>
                  <a:pt x="3560" y="8161"/>
                </a:cubicBezTo>
                <a:cubicBezTo>
                  <a:pt x="3686" y="8287"/>
                  <a:pt x="3686" y="8507"/>
                  <a:pt x="3560" y="8633"/>
                </a:cubicBezTo>
                <a:lnTo>
                  <a:pt x="1323" y="10870"/>
                </a:lnTo>
                <a:cubicBezTo>
                  <a:pt x="1260" y="10933"/>
                  <a:pt x="1174" y="10964"/>
                  <a:pt x="1087" y="10964"/>
                </a:cubicBezTo>
                <a:cubicBezTo>
                  <a:pt x="1001" y="10964"/>
                  <a:pt x="914" y="10933"/>
                  <a:pt x="851" y="10870"/>
                </a:cubicBezTo>
                <a:cubicBezTo>
                  <a:pt x="725" y="10744"/>
                  <a:pt x="725" y="10523"/>
                  <a:pt x="851" y="10397"/>
                </a:cubicBezTo>
                <a:lnTo>
                  <a:pt x="3088" y="8161"/>
                </a:lnTo>
                <a:cubicBezTo>
                  <a:pt x="3151" y="8098"/>
                  <a:pt x="3245" y="8066"/>
                  <a:pt x="3336" y="8066"/>
                </a:cubicBezTo>
                <a:close/>
                <a:moveTo>
                  <a:pt x="7624" y="1"/>
                </a:moveTo>
                <a:cubicBezTo>
                  <a:pt x="5356" y="1"/>
                  <a:pt x="3529" y="1860"/>
                  <a:pt x="3529" y="4096"/>
                </a:cubicBezTo>
                <a:cubicBezTo>
                  <a:pt x="3529" y="5136"/>
                  <a:pt x="3875" y="6050"/>
                  <a:pt x="4505" y="6743"/>
                </a:cubicBezTo>
                <a:lnTo>
                  <a:pt x="3812" y="7467"/>
                </a:lnTo>
                <a:cubicBezTo>
                  <a:pt x="3661" y="7386"/>
                  <a:pt x="3500" y="7347"/>
                  <a:pt x="3342" y="7347"/>
                </a:cubicBezTo>
                <a:cubicBezTo>
                  <a:pt x="3074" y="7347"/>
                  <a:pt x="2813" y="7458"/>
                  <a:pt x="2615" y="7656"/>
                </a:cubicBezTo>
                <a:lnTo>
                  <a:pt x="378" y="9893"/>
                </a:lnTo>
                <a:cubicBezTo>
                  <a:pt x="0" y="10271"/>
                  <a:pt x="0" y="10964"/>
                  <a:pt x="378" y="11343"/>
                </a:cubicBezTo>
                <a:cubicBezTo>
                  <a:pt x="567" y="11532"/>
                  <a:pt x="851" y="11658"/>
                  <a:pt x="1103" y="11658"/>
                </a:cubicBezTo>
                <a:cubicBezTo>
                  <a:pt x="1355" y="11658"/>
                  <a:pt x="1607" y="11532"/>
                  <a:pt x="1796" y="11343"/>
                </a:cubicBezTo>
                <a:lnTo>
                  <a:pt x="4033" y="9106"/>
                </a:lnTo>
                <a:cubicBezTo>
                  <a:pt x="4348" y="8791"/>
                  <a:pt x="4442" y="8318"/>
                  <a:pt x="4253" y="7909"/>
                </a:cubicBezTo>
                <a:lnTo>
                  <a:pt x="4947" y="7215"/>
                </a:lnTo>
                <a:cubicBezTo>
                  <a:pt x="5671" y="7814"/>
                  <a:pt x="6616" y="8192"/>
                  <a:pt x="7593" y="8192"/>
                </a:cubicBezTo>
                <a:cubicBezTo>
                  <a:pt x="9861" y="8192"/>
                  <a:pt x="11689" y="6333"/>
                  <a:pt x="11689" y="4096"/>
                </a:cubicBezTo>
                <a:cubicBezTo>
                  <a:pt x="11720" y="1828"/>
                  <a:pt x="9861" y="1"/>
                  <a:pt x="762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401700" y="4671950"/>
            <a:ext cx="6505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For detailed input analysis : </a:t>
            </a:r>
            <a:r>
              <a:rPr lang="en" sz="1200" u="sng">
                <a:solidFill>
                  <a:srgbClr val="2200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Detailed Inputs Analysis</a:t>
            </a:r>
            <a:endParaRPr sz="1200" u="sng">
              <a:solidFill>
                <a:srgbClr val="2200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 txBox="1"/>
          <p:nvPr>
            <p:ph type="title"/>
          </p:nvPr>
        </p:nvSpPr>
        <p:spPr>
          <a:xfrm>
            <a:off x="557225" y="203950"/>
            <a:ext cx="8134500" cy="1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</a:t>
            </a:r>
            <a:r>
              <a:rPr lang="en"/>
              <a:t>Cost Comparison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517145" y="146683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17145" y="1466838"/>
            <a:ext cx="1051200" cy="1131900"/>
          </a:xfrm>
          <a:prstGeom prst="blockArc">
            <a:avLst>
              <a:gd fmla="val 30113" name="adj1"/>
              <a:gd fmla="val 10799131" name="adj2"/>
              <a:gd fmla="val 25044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742798" y="1901479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50%</a:t>
            </a:r>
            <a:endParaRPr sz="19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74900" y="26838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Biobloom </a:t>
            </a:r>
            <a:endParaRPr sz="18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Facilities</a:t>
            </a:r>
            <a:endParaRPr sz="18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2000266" y="146683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2000266" y="1466838"/>
            <a:ext cx="1051200" cy="1131900"/>
          </a:xfrm>
          <a:prstGeom prst="blockArc">
            <a:avLst>
              <a:gd fmla="val 6099038" name="adj1"/>
              <a:gd fmla="val 10799131" name="adj2"/>
              <a:gd fmla="val 2504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2225919" y="1901479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20%</a:t>
            </a:r>
            <a:endParaRPr sz="19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1858021" y="26838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Infinishop Facilities</a:t>
            </a:r>
            <a:endParaRPr sz="18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3483387" y="146687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483387" y="1466878"/>
            <a:ext cx="1051200" cy="1131900"/>
          </a:xfrm>
          <a:prstGeom prst="blockArc">
            <a:avLst>
              <a:gd fmla="val 1067157" name="adj1"/>
              <a:gd fmla="val 10799131" name="adj2"/>
              <a:gd fmla="val 25044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3709039" y="1901518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40%</a:t>
            </a:r>
            <a:endParaRPr sz="19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3341141" y="26314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Aquachain Facilities</a:t>
            </a:r>
            <a:endParaRPr sz="18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203300" y="899716"/>
            <a:ext cx="2173500" cy="395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Facilities Cost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5056175" y="457200"/>
            <a:ext cx="4216500" cy="453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506225" y="2292042"/>
            <a:ext cx="693000" cy="1014000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387848" y="1914927"/>
            <a:ext cx="693000" cy="1356600"/>
          </a:xfrm>
          <a:prstGeom prst="can">
            <a:avLst>
              <a:gd fmla="val 25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5934500" y="2918079"/>
            <a:ext cx="693000" cy="644700"/>
          </a:xfrm>
          <a:prstGeom prst="can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5539235" y="1863999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544526" y="1863999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20 %</a:t>
            </a:r>
            <a:endParaRPr sz="17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6420858" y="1500764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426149" y="1500764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70%</a:t>
            </a:r>
            <a:endParaRPr sz="17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967510" y="2507347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5972800" y="2507347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30 %</a:t>
            </a:r>
            <a:endParaRPr sz="17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7500055" y="1782335"/>
            <a:ext cx="281622" cy="171424"/>
          </a:xfrm>
          <a:custGeom>
            <a:rect b="b" l="l" r="r" t="t"/>
            <a:pathLst>
              <a:path extrusionOk="0" h="2143" w="2837">
                <a:moveTo>
                  <a:pt x="0" y="0"/>
                </a:moveTo>
                <a:lnTo>
                  <a:pt x="0" y="2143"/>
                </a:lnTo>
                <a:lnTo>
                  <a:pt x="2837" y="2143"/>
                </a:lnTo>
                <a:lnTo>
                  <a:pt x="283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7501309" y="2114226"/>
            <a:ext cx="281629" cy="171424"/>
          </a:xfrm>
          <a:custGeom>
            <a:rect b="b" l="l" r="r" t="t"/>
            <a:pathLst>
              <a:path extrusionOk="0" h="2143" w="2839">
                <a:moveTo>
                  <a:pt x="1" y="0"/>
                </a:moveTo>
                <a:lnTo>
                  <a:pt x="1" y="2143"/>
                </a:lnTo>
                <a:lnTo>
                  <a:pt x="2838" y="2143"/>
                </a:lnTo>
                <a:lnTo>
                  <a:pt x="28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7501309" y="2446117"/>
            <a:ext cx="281622" cy="171424"/>
          </a:xfrm>
          <a:custGeom>
            <a:rect b="b" l="l" r="r" t="t"/>
            <a:pathLst>
              <a:path extrusionOk="0" h="2143" w="2837">
                <a:moveTo>
                  <a:pt x="0" y="0"/>
                </a:moveTo>
                <a:lnTo>
                  <a:pt x="0" y="2143"/>
                </a:lnTo>
                <a:lnTo>
                  <a:pt x="2837" y="2143"/>
                </a:lnTo>
                <a:lnTo>
                  <a:pt x="283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7885181" y="1695402"/>
            <a:ext cx="10221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Biobloom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7885181" y="2027283"/>
            <a:ext cx="9861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Infinishop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7885181" y="2359190"/>
            <a:ext cx="9861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Aquachain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110321" y="1045525"/>
            <a:ext cx="2248800" cy="410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Materials Cost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 flipH="1">
            <a:off x="1203289" y="4813912"/>
            <a:ext cx="832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60%</a:t>
            </a:r>
            <a:endParaRPr sz="24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 flipH="1">
            <a:off x="9932214" y="4128480"/>
            <a:ext cx="832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80%</a:t>
            </a:r>
            <a:endParaRPr sz="24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3129738" y="3761425"/>
            <a:ext cx="832800" cy="12999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3962550" y="4506625"/>
            <a:ext cx="693000" cy="554700"/>
          </a:xfrm>
          <a:prstGeom prst="round2SameRect">
            <a:avLst>
              <a:gd fmla="val 48979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655550" y="3989725"/>
            <a:ext cx="767400" cy="1071600"/>
          </a:xfrm>
          <a:prstGeom prst="round2SameRect">
            <a:avLst>
              <a:gd fmla="val 49312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3292200" y="3298154"/>
            <a:ext cx="2173500" cy="395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Equipment</a:t>
            </a: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Cost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3193625" y="4226725"/>
            <a:ext cx="7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70-80%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3962550" y="4648200"/>
            <a:ext cx="83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10-20%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4657075" y="4380550"/>
            <a:ext cx="7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0-70%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type="title"/>
          </p:nvPr>
        </p:nvSpPr>
        <p:spPr>
          <a:xfrm>
            <a:off x="583350" y="100150"/>
            <a:ext cx="8134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Transformation</a:t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1123497" y="7354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 Manufacturability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978966" y="73545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EE5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Cost of Manufacturing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2577875" y="2944050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F06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</a:rPr>
              <a:t>Staff &amp; Management Competency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765005" y="7354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Ease of Integration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029550" y="1976150"/>
            <a:ext cx="18189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768100" y="1950750"/>
            <a:ext cx="2152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Low</a:t>
            </a:r>
            <a:endParaRPr b="1" sz="10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Low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2337325" y="4159350"/>
            <a:ext cx="22590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524700" y="1962350"/>
            <a:ext cx="21525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498475" y="2907050"/>
            <a:ext cx="1519500" cy="1252200"/>
          </a:xfrm>
          <a:prstGeom prst="roundRect">
            <a:avLst>
              <a:gd fmla="val 1145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Infrastructure Readiness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5" name="Google Shape;3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1836" y="2978067"/>
            <a:ext cx="492775" cy="49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1238" y="2978075"/>
            <a:ext cx="492775" cy="4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2338" y="800050"/>
            <a:ext cx="492775" cy="49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0125" y="857175"/>
            <a:ext cx="566250" cy="5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41625" y="763312"/>
            <a:ext cx="566250" cy="5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5298850" y="4159350"/>
            <a:ext cx="22590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William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p21" title="Transformation slide.mp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78275" y="1001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 txBox="1"/>
          <p:nvPr>
            <p:ph type="title"/>
          </p:nvPr>
        </p:nvSpPr>
        <p:spPr>
          <a:xfrm>
            <a:off x="583350" y="100150"/>
            <a:ext cx="8134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r>
              <a:rPr lang="en"/>
              <a:t> </a:t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583350" y="1040250"/>
            <a:ext cx="1659300" cy="12153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Transportability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5086091" y="104025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EE5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Logistics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653235" y="3188426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F06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Infrastructure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5178880" y="3144776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Distribution Channels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2242575" y="1008600"/>
            <a:ext cx="26430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698375" y="923100"/>
            <a:ext cx="2445600" cy="1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Low</a:t>
            </a:r>
            <a:endParaRPr b="1" sz="10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2242575" y="3144775"/>
            <a:ext cx="26430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Low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6765000" y="3058650"/>
            <a:ext cx="28020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Patrick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p22"/>
          <p:cNvPicPr preferRelativeResize="0"/>
          <p:nvPr/>
        </p:nvPicPr>
        <p:blipFill rotWithShape="1">
          <a:blip r:embed="rId3">
            <a:alphaModFix/>
          </a:blip>
          <a:srcRect b="26316" l="0" r="0" t="12255"/>
          <a:stretch/>
        </p:blipFill>
        <p:spPr>
          <a:xfrm>
            <a:off x="1063088" y="1232225"/>
            <a:ext cx="699825" cy="4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2"/>
          <p:cNvPicPr preferRelativeResize="0"/>
          <p:nvPr/>
        </p:nvPicPr>
        <p:blipFill rotWithShape="1">
          <a:blip r:embed="rId4">
            <a:alphaModFix/>
          </a:blip>
          <a:srcRect b="13978" l="0" r="0" t="0"/>
          <a:stretch/>
        </p:blipFill>
        <p:spPr>
          <a:xfrm>
            <a:off x="5520176" y="1101826"/>
            <a:ext cx="651350" cy="5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2"/>
          <p:cNvPicPr preferRelativeResize="0"/>
          <p:nvPr/>
        </p:nvPicPr>
        <p:blipFill rotWithShape="1">
          <a:blip r:embed="rId5">
            <a:alphaModFix/>
          </a:blip>
          <a:srcRect b="18170" l="0" r="0" t="10093"/>
          <a:stretch/>
        </p:blipFill>
        <p:spPr>
          <a:xfrm>
            <a:off x="1022511" y="3339700"/>
            <a:ext cx="781011" cy="5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 rotWithShape="1">
          <a:blip r:embed="rId6">
            <a:alphaModFix/>
          </a:blip>
          <a:srcRect b="14310" l="0" r="0" t="0"/>
          <a:stretch/>
        </p:blipFill>
        <p:spPr>
          <a:xfrm>
            <a:off x="5675239" y="3262562"/>
            <a:ext cx="613310" cy="52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2" title="Output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03400" y="309375"/>
            <a:ext cx="295650" cy="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/>
          <p:nvPr>
            <p:ph type="title"/>
          </p:nvPr>
        </p:nvSpPr>
        <p:spPr>
          <a:xfrm>
            <a:off x="740525" y="101850"/>
            <a:ext cx="8134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653222" y="11257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  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Cost of </a:t>
            </a:r>
            <a:r>
              <a:rPr b="1" lang="en">
                <a:solidFill>
                  <a:schemeClr val="lt1"/>
                </a:solidFill>
              </a:rPr>
              <a:t>Maintenance</a:t>
            </a:r>
            <a:r>
              <a:rPr b="1"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5222516" y="112575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EE5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Customer Life Cycle Cost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2395923" y="2899101"/>
            <a:ext cx="1519500" cy="1215300"/>
          </a:xfrm>
          <a:prstGeom prst="roundRect">
            <a:avLst>
              <a:gd fmla="val 11451" name="adj"/>
            </a:avLst>
          </a:prstGeom>
          <a:solidFill>
            <a:srgbClr val="F063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Manufacturer </a:t>
            </a:r>
            <a:r>
              <a:rPr b="1" lang="en">
                <a:solidFill>
                  <a:schemeClr val="lt1"/>
                </a:solidFill>
              </a:rPr>
              <a:t>Life Cycle</a:t>
            </a:r>
            <a:r>
              <a:rPr b="1" lang="en">
                <a:solidFill>
                  <a:schemeClr val="lt1"/>
                </a:solidFill>
              </a:rPr>
              <a:t> Cost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2206050" y="1082800"/>
            <a:ext cx="26055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Moderate 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Low 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High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4089488" y="2821725"/>
            <a:ext cx="26586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Moderate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Low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6829350" y="1082800"/>
            <a:ext cx="23661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Low 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</a:t>
            </a:r>
            <a:r>
              <a:rPr b="1" lang="en">
                <a:latin typeface="Mulish"/>
                <a:ea typeface="Mulish"/>
                <a:cs typeface="Mulish"/>
                <a:sym typeface="Mulish"/>
              </a:rPr>
              <a:t> Moderate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Patrick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7" name="Google Shape;357;p23"/>
          <p:cNvPicPr preferRelativeResize="0"/>
          <p:nvPr/>
        </p:nvPicPr>
        <p:blipFill rotWithShape="1">
          <a:blip r:embed="rId3">
            <a:alphaModFix/>
          </a:blip>
          <a:srcRect b="14806" l="0" r="0" t="0"/>
          <a:stretch/>
        </p:blipFill>
        <p:spPr>
          <a:xfrm>
            <a:off x="1082197" y="1218375"/>
            <a:ext cx="661551" cy="5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/>
          <p:cNvPicPr preferRelativeResize="0"/>
          <p:nvPr/>
        </p:nvPicPr>
        <p:blipFill rotWithShape="1">
          <a:blip r:embed="rId4">
            <a:alphaModFix/>
          </a:blip>
          <a:srcRect b="14133" l="0" r="0" t="0"/>
          <a:stretch/>
        </p:blipFill>
        <p:spPr>
          <a:xfrm>
            <a:off x="2824887" y="2899094"/>
            <a:ext cx="661551" cy="56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3"/>
          <p:cNvPicPr preferRelativeResize="0"/>
          <p:nvPr/>
        </p:nvPicPr>
        <p:blipFill rotWithShape="1">
          <a:blip r:embed="rId5">
            <a:alphaModFix/>
          </a:blip>
          <a:srcRect b="12793" l="0" r="0" t="0"/>
          <a:stretch/>
        </p:blipFill>
        <p:spPr>
          <a:xfrm>
            <a:off x="5651500" y="1211715"/>
            <a:ext cx="661551" cy="57691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3"/>
          <p:cNvSpPr txBox="1"/>
          <p:nvPr/>
        </p:nvSpPr>
        <p:spPr>
          <a:xfrm>
            <a:off x="248150" y="4706025"/>
            <a:ext cx="46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detailed output analysis : </a:t>
            </a:r>
            <a:r>
              <a:rPr lang="en" sz="1200" u="sng">
                <a:solidFill>
                  <a:srgbClr val="4949E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Output Analysis</a:t>
            </a:r>
            <a:endParaRPr sz="1100">
              <a:solidFill>
                <a:srgbClr val="4949E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361" name="Google Shape;361;p23" title="Output costs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1975" y="1851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 txBox="1"/>
          <p:nvPr>
            <p:ph type="title"/>
          </p:nvPr>
        </p:nvSpPr>
        <p:spPr>
          <a:xfrm>
            <a:off x="1775500" y="111900"/>
            <a:ext cx="5865900" cy="3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r>
              <a:rPr lang="en"/>
              <a:t> Cost Comparison</a:t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517145" y="146683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517145" y="1466838"/>
            <a:ext cx="1051200" cy="1131900"/>
          </a:xfrm>
          <a:prstGeom prst="blockArc">
            <a:avLst>
              <a:gd fmla="val 30113" name="adj1"/>
              <a:gd fmla="val 10799131" name="adj2"/>
              <a:gd fmla="val 25044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742798" y="1901479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</a:t>
            </a:r>
            <a:r>
              <a:rPr lang="en" sz="19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0%</a:t>
            </a:r>
            <a:endParaRPr sz="19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374900" y="26838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Biobloom </a:t>
            </a:r>
            <a:endParaRPr sz="18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Facilities</a:t>
            </a:r>
            <a:endParaRPr sz="18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2000266" y="146683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2000266" y="1466838"/>
            <a:ext cx="1051200" cy="1131900"/>
          </a:xfrm>
          <a:prstGeom prst="blockArc">
            <a:avLst>
              <a:gd fmla="val 6099038" name="adj1"/>
              <a:gd fmla="val 10799131" name="adj2"/>
              <a:gd fmla="val 2504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2225919" y="1901479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</a:t>
            </a:r>
            <a:r>
              <a:rPr lang="en" sz="19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0%</a:t>
            </a:r>
            <a:endParaRPr sz="19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1858021" y="26838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Infinishop Facilities</a:t>
            </a:r>
            <a:endParaRPr sz="18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3483387" y="1466878"/>
            <a:ext cx="1051200" cy="11319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3483387" y="1466878"/>
            <a:ext cx="1051200" cy="1131900"/>
          </a:xfrm>
          <a:prstGeom prst="blockArc">
            <a:avLst>
              <a:gd fmla="val 1067157" name="adj1"/>
              <a:gd fmla="val 10799131" name="adj2"/>
              <a:gd fmla="val 25044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3709039" y="1901518"/>
            <a:ext cx="600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</a:t>
            </a:r>
            <a:r>
              <a:rPr lang="en" sz="19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0%</a:t>
            </a:r>
            <a:endParaRPr sz="19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3341141" y="2631473"/>
            <a:ext cx="1335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Aquachain Facilities</a:t>
            </a:r>
            <a:endParaRPr sz="18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1203300" y="899716"/>
            <a:ext cx="2173500" cy="395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Cost of Maintenance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5012388" y="501500"/>
            <a:ext cx="4216500" cy="453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506225" y="2233300"/>
            <a:ext cx="693000" cy="1072800"/>
          </a:xfrm>
          <a:prstGeom prst="can">
            <a:avLst>
              <a:gd fmla="val 25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6387825" y="2261300"/>
            <a:ext cx="693000" cy="1014000"/>
          </a:xfrm>
          <a:prstGeom prst="can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5934462" y="2913654"/>
            <a:ext cx="693000" cy="644700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5539223" y="1754249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5542026" y="1744936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20%</a:t>
            </a:r>
            <a:endParaRPr sz="17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6449608" y="1805177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6449599" y="1864002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20%</a:t>
            </a:r>
            <a:endParaRPr sz="17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5967510" y="2507347"/>
            <a:ext cx="626926" cy="455074"/>
          </a:xfrm>
          <a:custGeom>
            <a:rect b="b" l="l" r="r" t="t"/>
            <a:pathLst>
              <a:path extrusionOk="0" h="6480" w="5136">
                <a:moveTo>
                  <a:pt x="1" y="0"/>
                </a:moveTo>
                <a:lnTo>
                  <a:pt x="1" y="5602"/>
                </a:lnTo>
                <a:lnTo>
                  <a:pt x="1669" y="5602"/>
                </a:lnTo>
                <a:lnTo>
                  <a:pt x="2547" y="6480"/>
                </a:lnTo>
                <a:lnTo>
                  <a:pt x="3425" y="5602"/>
                </a:lnTo>
                <a:lnTo>
                  <a:pt x="5135" y="5602"/>
                </a:lnTo>
                <a:lnTo>
                  <a:pt x="5135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5972800" y="2507347"/>
            <a:ext cx="62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A883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10</a:t>
            </a:r>
            <a:r>
              <a:rPr lang="en" sz="1700">
                <a:solidFill>
                  <a:srgbClr val="FA883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1700">
              <a:solidFill>
                <a:srgbClr val="FA8839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7500055" y="1782335"/>
            <a:ext cx="281622" cy="171424"/>
          </a:xfrm>
          <a:custGeom>
            <a:rect b="b" l="l" r="r" t="t"/>
            <a:pathLst>
              <a:path extrusionOk="0" h="2143" w="2837">
                <a:moveTo>
                  <a:pt x="0" y="0"/>
                </a:moveTo>
                <a:lnTo>
                  <a:pt x="0" y="2143"/>
                </a:lnTo>
                <a:lnTo>
                  <a:pt x="2837" y="2143"/>
                </a:lnTo>
                <a:lnTo>
                  <a:pt x="283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7501309" y="2114226"/>
            <a:ext cx="281629" cy="171424"/>
          </a:xfrm>
          <a:custGeom>
            <a:rect b="b" l="l" r="r" t="t"/>
            <a:pathLst>
              <a:path extrusionOk="0" h="2143" w="2839">
                <a:moveTo>
                  <a:pt x="1" y="0"/>
                </a:moveTo>
                <a:lnTo>
                  <a:pt x="1" y="2143"/>
                </a:lnTo>
                <a:lnTo>
                  <a:pt x="2838" y="2143"/>
                </a:lnTo>
                <a:lnTo>
                  <a:pt x="28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7501309" y="2446117"/>
            <a:ext cx="281622" cy="171424"/>
          </a:xfrm>
          <a:custGeom>
            <a:rect b="b" l="l" r="r" t="t"/>
            <a:pathLst>
              <a:path extrusionOk="0" h="2143" w="2837">
                <a:moveTo>
                  <a:pt x="0" y="0"/>
                </a:moveTo>
                <a:lnTo>
                  <a:pt x="0" y="2143"/>
                </a:lnTo>
                <a:lnTo>
                  <a:pt x="2837" y="2143"/>
                </a:lnTo>
                <a:lnTo>
                  <a:pt x="283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7885181" y="1695402"/>
            <a:ext cx="10221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Biobloom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7885181" y="2027283"/>
            <a:ext cx="9861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Infinishop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7885181" y="2359190"/>
            <a:ext cx="9861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Aquachain</a:t>
            </a:r>
            <a:endParaRPr sz="150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5934500" y="1045525"/>
            <a:ext cx="2424600" cy="410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Customer Life Cycle </a:t>
            </a: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Cost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 flipH="1">
            <a:off x="1203289" y="4813912"/>
            <a:ext cx="832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60%</a:t>
            </a:r>
            <a:endParaRPr sz="24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 flipH="1">
            <a:off x="9932214" y="4128480"/>
            <a:ext cx="832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80%</a:t>
            </a:r>
            <a:endParaRPr sz="24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3129750" y="4047325"/>
            <a:ext cx="832800" cy="1014000"/>
          </a:xfrm>
          <a:prstGeom prst="round2SameRect">
            <a:avLst>
              <a:gd fmla="val 47828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4682663" y="4263025"/>
            <a:ext cx="693000" cy="798300"/>
          </a:xfrm>
          <a:prstGeom prst="round2SameRect">
            <a:avLst>
              <a:gd fmla="val 48243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923813" y="3846625"/>
            <a:ext cx="767400" cy="1214700"/>
          </a:xfrm>
          <a:prstGeom prst="round2SameRect">
            <a:avLst>
              <a:gd fmla="val 48687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2368900" y="3298150"/>
            <a:ext cx="3096900" cy="395700"/>
          </a:xfrm>
          <a:prstGeom prst="roundRect">
            <a:avLst>
              <a:gd fmla="val 50000" name="adj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Manufacturer </a:t>
            </a: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Life Cycle</a:t>
            </a:r>
            <a:r>
              <a:rPr lang="en" sz="17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Cost</a:t>
            </a:r>
            <a:endParaRPr sz="17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3341150" y="4263025"/>
            <a:ext cx="600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Patrick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3891125" y="4393225"/>
            <a:ext cx="832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4691225" y="4369675"/>
            <a:ext cx="7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40%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" name="Google Shape;408;p24" title="Output costs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10455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4"/>
          <p:cNvSpPr txBox="1"/>
          <p:nvPr/>
        </p:nvSpPr>
        <p:spPr>
          <a:xfrm>
            <a:off x="0" y="4762000"/>
            <a:ext cx="466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detailed output analysis : </a:t>
            </a:r>
            <a:r>
              <a:rPr lang="en" sz="1200" u="sng">
                <a:solidFill>
                  <a:srgbClr val="4949E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Output Analysis</a:t>
            </a:r>
            <a:endParaRPr sz="1100">
              <a:solidFill>
                <a:srgbClr val="4949E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0" name="Google Shape;410;p24"/>
          <p:cNvSpPr/>
          <p:nvPr/>
        </p:nvSpPr>
        <p:spPr>
          <a:xfrm>
            <a:off x="5426667" y="3693851"/>
            <a:ext cx="1519500" cy="12153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Miscellaneous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1" name="Google Shape;411;p24"/>
          <p:cNvSpPr txBox="1"/>
          <p:nvPr/>
        </p:nvSpPr>
        <p:spPr>
          <a:xfrm>
            <a:off x="7028963" y="3693850"/>
            <a:ext cx="2200500" cy="14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Biobloom    :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High</a:t>
            </a:r>
            <a:endParaRPr b="1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ulish"/>
                <a:ea typeface="Mulish"/>
                <a:cs typeface="Mulish"/>
                <a:sym typeface="Mulish"/>
              </a:rPr>
              <a:t>Infinishop   </a:t>
            </a: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: Moderate</a:t>
            </a:r>
            <a:endParaRPr b="1">
              <a:solidFill>
                <a:srgbClr val="1F1F1F"/>
              </a:solidFill>
              <a:highlight>
                <a:schemeClr val="lt1"/>
              </a:highlight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chemeClr val="lt1"/>
                </a:highlight>
                <a:latin typeface="Mulish"/>
                <a:ea typeface="Mulish"/>
                <a:cs typeface="Mulish"/>
                <a:sym typeface="Mulish"/>
              </a:rPr>
              <a:t>Aquachain : High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2" name="Google Shape;412;p24"/>
          <p:cNvPicPr preferRelativeResize="0"/>
          <p:nvPr/>
        </p:nvPicPr>
        <p:blipFill rotWithShape="1">
          <a:blip r:embed="rId6">
            <a:alphaModFix/>
          </a:blip>
          <a:srcRect b="16541" l="0" r="0" t="0"/>
          <a:stretch/>
        </p:blipFill>
        <p:spPr>
          <a:xfrm>
            <a:off x="5875413" y="3784377"/>
            <a:ext cx="622001" cy="5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"/>
          <p:cNvSpPr txBox="1"/>
          <p:nvPr>
            <p:ph type="title"/>
          </p:nvPr>
        </p:nvSpPr>
        <p:spPr>
          <a:xfrm>
            <a:off x="504750" y="102450"/>
            <a:ext cx="8134500" cy="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Downselect Criteria and Conclusion 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21" name="Google Shape;4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900" y="1332849"/>
            <a:ext cx="3172050" cy="269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625" y="1736700"/>
            <a:ext cx="3000001" cy="10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5"/>
          <p:cNvSpPr txBox="1"/>
          <p:nvPr/>
        </p:nvSpPr>
        <p:spPr>
          <a:xfrm>
            <a:off x="288175" y="1196375"/>
            <a:ext cx="20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Potential Designs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6955075" y="1086800"/>
            <a:ext cx="20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353250" y="2955575"/>
            <a:ext cx="20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Transformation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26" name="Google Shape;42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775" y="1592608"/>
            <a:ext cx="2920300" cy="112821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5"/>
          <p:cNvSpPr txBox="1"/>
          <p:nvPr/>
        </p:nvSpPr>
        <p:spPr>
          <a:xfrm>
            <a:off x="6824850" y="2918325"/>
            <a:ext cx="206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</a:t>
            </a: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Intricacy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28" name="Google Shape;42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175" y="3435875"/>
            <a:ext cx="2575775" cy="98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4225" y="3386050"/>
            <a:ext cx="2601625" cy="1154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 txBox="1"/>
          <p:nvPr>
            <p:ph type="title"/>
          </p:nvPr>
        </p:nvSpPr>
        <p:spPr>
          <a:xfrm>
            <a:off x="-281175" y="203950"/>
            <a:ext cx="8134500" cy="1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     </a:t>
            </a:r>
            <a:r>
              <a:rPr lang="en"/>
              <a:t>Downselect Criteria &amp; Conclusion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1528200" y="1078075"/>
            <a:ext cx="1764000" cy="51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Cost Comparison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37" name="Google Shape;4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25" y="1787787"/>
            <a:ext cx="3345350" cy="180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6"/>
          <p:cNvSpPr txBox="1"/>
          <p:nvPr/>
        </p:nvSpPr>
        <p:spPr>
          <a:xfrm>
            <a:off x="5761425" y="1139200"/>
            <a:ext cx="2300700" cy="51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Complexity Comparison</a:t>
            </a:r>
            <a:endParaRPr b="1" sz="1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39" name="Google Shape;4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250" y="1837675"/>
            <a:ext cx="3635700" cy="18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6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9074" y="0"/>
            <a:ext cx="9262598" cy="521020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7"/>
          <p:cNvSpPr txBox="1"/>
          <p:nvPr>
            <p:ph type="ctrTitle"/>
          </p:nvPr>
        </p:nvSpPr>
        <p:spPr>
          <a:xfrm>
            <a:off x="2615400" y="1428692"/>
            <a:ext cx="41577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“</a:t>
            </a:r>
            <a:r>
              <a:rPr lang="en">
                <a:highlight>
                  <a:schemeClr val="lt2"/>
                </a:highlight>
              </a:rPr>
              <a:t>Aqua Chain”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0" y="5210200"/>
            <a:ext cx="232200" cy="23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232159" y="5210200"/>
            <a:ext cx="232200" cy="23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>
            <a:off x="464317" y="5210200"/>
            <a:ext cx="232200" cy="23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/>
          <p:nvPr/>
        </p:nvSpPr>
        <p:spPr>
          <a:xfrm>
            <a:off x="696476" y="5210200"/>
            <a:ext cx="232200" cy="23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7"/>
          <p:cNvSpPr/>
          <p:nvPr/>
        </p:nvSpPr>
        <p:spPr>
          <a:xfrm>
            <a:off x="928635" y="5210200"/>
            <a:ext cx="232200" cy="23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>
            <a:off x="1160794" y="5210200"/>
            <a:ext cx="232200" cy="23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"/>
          <p:cNvSpPr/>
          <p:nvPr/>
        </p:nvSpPr>
        <p:spPr>
          <a:xfrm>
            <a:off x="1392952" y="5210200"/>
            <a:ext cx="232200" cy="23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7"/>
          <p:cNvSpPr/>
          <p:nvPr/>
        </p:nvSpPr>
        <p:spPr>
          <a:xfrm>
            <a:off x="1625111" y="5210200"/>
            <a:ext cx="232200" cy="23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7"/>
          <p:cNvSpPr/>
          <p:nvPr/>
        </p:nvSpPr>
        <p:spPr>
          <a:xfrm>
            <a:off x="8163477" y="1116115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7"/>
          <p:cNvSpPr/>
          <p:nvPr/>
        </p:nvSpPr>
        <p:spPr>
          <a:xfrm>
            <a:off x="8144348" y="1733777"/>
            <a:ext cx="1277" cy="128"/>
          </a:xfrm>
          <a:custGeom>
            <a:rect b="b" l="l" r="r" t="t"/>
            <a:pathLst>
              <a:path extrusionOk="0" h="1" w="10">
                <a:moveTo>
                  <a:pt x="9" y="1"/>
                </a:moveTo>
                <a:cubicBezTo>
                  <a:pt x="9" y="1"/>
                  <a:pt x="9" y="1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rgbClr val="A9584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27"/>
          <p:cNvGrpSpPr/>
          <p:nvPr/>
        </p:nvGrpSpPr>
        <p:grpSpPr>
          <a:xfrm>
            <a:off x="12664928" y="1553063"/>
            <a:ext cx="1387824" cy="521998"/>
            <a:chOff x="6461826" y="2459496"/>
            <a:chExt cx="1148005" cy="1148005"/>
          </a:xfrm>
        </p:grpSpPr>
        <p:sp>
          <p:nvSpPr>
            <p:cNvPr id="458" name="Google Shape;458;p27"/>
            <p:cNvSpPr/>
            <p:nvPr/>
          </p:nvSpPr>
          <p:spPr>
            <a:xfrm>
              <a:off x="6461826" y="2459496"/>
              <a:ext cx="1148005" cy="1148005"/>
            </a:xfrm>
            <a:custGeom>
              <a:rect b="b" l="l" r="r" t="t"/>
              <a:pathLst>
                <a:path extrusionOk="0" h="29933" w="29933">
                  <a:moveTo>
                    <a:pt x="14962" y="1"/>
                  </a:moveTo>
                  <a:cubicBezTo>
                    <a:pt x="6706" y="1"/>
                    <a:pt x="1" y="6705"/>
                    <a:pt x="1" y="14971"/>
                  </a:cubicBezTo>
                  <a:cubicBezTo>
                    <a:pt x="1" y="23228"/>
                    <a:pt x="6706" y="29932"/>
                    <a:pt x="14962" y="29932"/>
                  </a:cubicBezTo>
                  <a:cubicBezTo>
                    <a:pt x="23228" y="29932"/>
                    <a:pt x="29933" y="23228"/>
                    <a:pt x="29933" y="14971"/>
                  </a:cubicBezTo>
                  <a:cubicBezTo>
                    <a:pt x="29933" y="6705"/>
                    <a:pt x="23228" y="1"/>
                    <a:pt x="14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6593115" y="2633539"/>
              <a:ext cx="885406" cy="798921"/>
            </a:xfrm>
            <a:custGeom>
              <a:rect b="b" l="l" r="r" t="t"/>
              <a:pathLst>
                <a:path extrusionOk="0" h="20831" w="23086">
                  <a:moveTo>
                    <a:pt x="11533" y="0"/>
                  </a:moveTo>
                  <a:cubicBezTo>
                    <a:pt x="6937" y="0"/>
                    <a:pt x="2729" y="3070"/>
                    <a:pt x="1481" y="7719"/>
                  </a:cubicBezTo>
                  <a:cubicBezTo>
                    <a:pt x="0" y="13271"/>
                    <a:pt x="3290" y="18982"/>
                    <a:pt x="8842" y="20472"/>
                  </a:cubicBezTo>
                  <a:cubicBezTo>
                    <a:pt x="9746" y="20714"/>
                    <a:pt x="10654" y="20830"/>
                    <a:pt x="11547" y="20830"/>
                  </a:cubicBezTo>
                  <a:cubicBezTo>
                    <a:pt x="16146" y="20830"/>
                    <a:pt x="20348" y="17761"/>
                    <a:pt x="21596" y="13111"/>
                  </a:cubicBezTo>
                  <a:cubicBezTo>
                    <a:pt x="23085" y="7559"/>
                    <a:pt x="19795" y="1848"/>
                    <a:pt x="14234" y="358"/>
                  </a:cubicBezTo>
                  <a:cubicBezTo>
                    <a:pt x="13332" y="116"/>
                    <a:pt x="12425" y="0"/>
                    <a:pt x="11533" y="0"/>
                  </a:cubicBezTo>
                  <a:close/>
                </a:path>
              </a:pathLst>
            </a:custGeom>
            <a:solidFill>
              <a:srgbClr val="1329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27"/>
          <p:cNvSpPr/>
          <p:nvPr/>
        </p:nvSpPr>
        <p:spPr>
          <a:xfrm>
            <a:off x="13050926" y="1019675"/>
            <a:ext cx="615900" cy="861600"/>
          </a:xfrm>
          <a:prstGeom prst="can">
            <a:avLst>
              <a:gd fmla="val 25000" name="adj"/>
            </a:avLst>
          </a:prstGeom>
          <a:solidFill>
            <a:schemeClr val="accent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2" name="Google Shape;462;p27"/>
          <p:cNvPicPr preferRelativeResize="0"/>
          <p:nvPr/>
        </p:nvPicPr>
        <p:blipFill rotWithShape="1">
          <a:blip r:embed="rId4">
            <a:alphaModFix/>
          </a:blip>
          <a:srcRect b="0" l="0" r="16832" t="10666"/>
          <a:stretch/>
        </p:blipFill>
        <p:spPr>
          <a:xfrm>
            <a:off x="6605600" y="1226425"/>
            <a:ext cx="2107325" cy="127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2475" y="1553075"/>
            <a:ext cx="1538392" cy="9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7"/>
          <p:cNvSpPr txBox="1"/>
          <p:nvPr/>
        </p:nvSpPr>
        <p:spPr>
          <a:xfrm>
            <a:off x="1647875" y="2689288"/>
            <a:ext cx="6597300" cy="127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Aqua Chain</a:t>
            </a:r>
            <a:r>
              <a:rPr b="1" lang="en" sz="1600">
                <a:solidFill>
                  <a:srgbClr val="38761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has biggest </a:t>
            </a:r>
            <a:r>
              <a:rPr b="1" lang="en" sz="1600">
                <a:solidFill>
                  <a:srgbClr val="EE5E3C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Social impact </a:t>
            </a: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and</a:t>
            </a:r>
            <a:r>
              <a:rPr b="1" lang="en" sz="1600">
                <a:solidFill>
                  <a:srgbClr val="EE5E3C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addresses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❏"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Fundamental human need </a:t>
            </a: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</a:t>
            </a: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access to clean water</a:t>
            </a: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impacting billions globally.</a:t>
            </a:r>
            <a:endParaRPr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❏"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Global crisis of water scarcity </a:t>
            </a:r>
            <a:r>
              <a:rPr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and </a:t>
            </a: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poor water management.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ra Sans Extra Condensed"/>
              <a:buChar char="❏"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Contributes to sustainability.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               </a:t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sp>
        <p:nvSpPr>
          <p:cNvPr id="465" name="Google Shape;465;p27"/>
          <p:cNvSpPr txBox="1"/>
          <p:nvPr/>
        </p:nvSpPr>
        <p:spPr>
          <a:xfrm>
            <a:off x="1570775" y="4113650"/>
            <a:ext cx="67515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Whereas</a:t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Infinishop</a:t>
            </a: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focuses on business objectives and  </a:t>
            </a: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Biobloom</a:t>
            </a: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focuses on certain specialty areas and primarily benefits smaller groups of individuals.</a:t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7"/>
          <p:cNvSpPr txBox="1"/>
          <p:nvPr/>
        </p:nvSpPr>
        <p:spPr>
          <a:xfrm>
            <a:off x="6095775" y="4797150"/>
            <a:ext cx="25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Rachana &amp; Shruti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/>
          <p:nvPr>
            <p:ph type="ctrTitle"/>
          </p:nvPr>
        </p:nvSpPr>
        <p:spPr>
          <a:xfrm>
            <a:off x="1593675" y="329225"/>
            <a:ext cx="5471100" cy="6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References/ Appendix</a:t>
            </a:r>
            <a:endParaRPr sz="3400"/>
          </a:p>
        </p:txBody>
      </p:sp>
      <p:sp>
        <p:nvSpPr>
          <p:cNvPr id="472" name="Google Shape;472;p28"/>
          <p:cNvSpPr txBox="1"/>
          <p:nvPr>
            <p:ph idx="1" type="subTitle"/>
          </p:nvPr>
        </p:nvSpPr>
        <p:spPr>
          <a:xfrm>
            <a:off x="696050" y="1104350"/>
            <a:ext cx="7678500" cy="34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2F4D"/>
                </a:solidFill>
                <a:latin typeface="Oswald"/>
                <a:ea typeface="Oswald"/>
                <a:cs typeface="Oswald"/>
                <a:sym typeface="Oswald"/>
              </a:rPr>
              <a:t>1.</a:t>
            </a: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https://carewater.solutions/en/waterborne-diseases/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2F4D"/>
                </a:solidFill>
                <a:latin typeface="Oswald"/>
                <a:ea typeface="Oswald"/>
                <a:cs typeface="Oswald"/>
                <a:sym typeface="Oswald"/>
              </a:rPr>
              <a:t>2.</a:t>
            </a: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https://www.bv.com/perspectives/aging-infrastructure-and-workforce-vexing-challenges-remain/</a:t>
            </a:r>
            <a:endParaRPr sz="1100" u="sng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</a:rPr>
              <a:t>3.Downselect criteria</a:t>
            </a:r>
            <a:r>
              <a:rPr lang="en" sz="1100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https://docs.google.com/spreadsheets/d/1gQRXX5AbjdF8T2v8fkKlXB52i9hbKpvM/edit?usp=drive_link&amp;ouid=101281950215166262772&amp;rtpof=true&amp;sd=true</a:t>
            </a:r>
            <a:endParaRPr sz="1100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hlink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PI Report Deck Infographics by Slidesgo">
  <a:themeElements>
    <a:clrScheme name="Simple Light">
      <a:dk1>
        <a:srgbClr val="000000"/>
      </a:dk1>
      <a:lt1>
        <a:srgbClr val="FFFFFF"/>
      </a:lt1>
      <a:dk2>
        <a:srgbClr val="AAAAAA"/>
      </a:dk2>
      <a:lt2>
        <a:srgbClr val="DBDBDB"/>
      </a:lt2>
      <a:accent1>
        <a:srgbClr val="F59D43"/>
      </a:accent1>
      <a:accent2>
        <a:srgbClr val="EE5E3C"/>
      </a:accent2>
      <a:accent3>
        <a:srgbClr val="F06393"/>
      </a:accent3>
      <a:accent4>
        <a:srgbClr val="BD5AB7"/>
      </a:accent4>
      <a:accent5>
        <a:srgbClr val="896CD1"/>
      </a:accent5>
      <a:accent6>
        <a:srgbClr val="918DF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