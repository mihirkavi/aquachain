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Fira Sans Extra Condensed Medium"/>
      <p:regular r:id="rId31"/>
      <p:bold r:id="rId32"/>
      <p:italic r:id="rId33"/>
      <p:boldItalic r:id="rId34"/>
    </p:embeddedFont>
    <p:embeddedFont>
      <p:font typeface="Fira Sans Condensed Medium"/>
      <p:regular r:id="rId35"/>
      <p:bold r:id="rId36"/>
      <p:italic r:id="rId37"/>
      <p:boldItalic r:id="rId38"/>
    </p:embeddedFont>
    <p:embeddedFont>
      <p:font typeface="Lato Light"/>
      <p:regular r:id="rId39"/>
      <p:bold r:id="rId40"/>
      <p:italic r:id="rId41"/>
      <p:boldItalic r:id="rId42"/>
    </p:embeddedFont>
    <p:embeddedFont>
      <p:font typeface="Fira Sans Extra Condensed"/>
      <p:regular r:id="rId43"/>
      <p:bold r:id="rId44"/>
      <p:italic r:id="rId45"/>
      <p:boldItalic r:id="rId46"/>
    </p:embeddedFont>
    <p:embeddedFont>
      <p:font typeface="Fira Sans Extra Condensed SemiBold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1BA93C-2169-4B38-BACA-5810F1A31930}">
  <a:tblStyle styleId="{F01BA93C-2169-4B38-BACA-5810F1A319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Light-bold.fntdata"/><Relationship Id="rId42" Type="http://schemas.openxmlformats.org/officeDocument/2006/relationships/font" Target="fonts/LatoLight-boldItalic.fntdata"/><Relationship Id="rId41" Type="http://schemas.openxmlformats.org/officeDocument/2006/relationships/font" Target="fonts/LatoLight-italic.fntdata"/><Relationship Id="rId44" Type="http://schemas.openxmlformats.org/officeDocument/2006/relationships/font" Target="fonts/FiraSansExtraCondensed-bold.fntdata"/><Relationship Id="rId43" Type="http://schemas.openxmlformats.org/officeDocument/2006/relationships/font" Target="fonts/FiraSansExtraCondensed-regular.fntdata"/><Relationship Id="rId46" Type="http://schemas.openxmlformats.org/officeDocument/2006/relationships/font" Target="fonts/FiraSansExtraCondensed-boldItalic.fntdata"/><Relationship Id="rId45" Type="http://schemas.openxmlformats.org/officeDocument/2006/relationships/font" Target="fonts/FiraSansExtraCondense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FiraSansExtraCondensedSemiBold-bold.fntdata"/><Relationship Id="rId47" Type="http://schemas.openxmlformats.org/officeDocument/2006/relationships/font" Target="fonts/FiraSansExtraCondensedSemiBold-regular.fntdata"/><Relationship Id="rId49" Type="http://schemas.openxmlformats.org/officeDocument/2006/relationships/font" Target="fonts/FiraSansExtraCondensedSemiBold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FiraSansExtraCondensedMedium-regular.fntdata"/><Relationship Id="rId30" Type="http://schemas.openxmlformats.org/officeDocument/2006/relationships/font" Target="fonts/Roboto-boldItalic.fntdata"/><Relationship Id="rId33" Type="http://schemas.openxmlformats.org/officeDocument/2006/relationships/font" Target="fonts/FiraSansExtraCondensedMedium-italic.fntdata"/><Relationship Id="rId32" Type="http://schemas.openxmlformats.org/officeDocument/2006/relationships/font" Target="fonts/FiraSansExtraCondensedMedium-bold.fntdata"/><Relationship Id="rId35" Type="http://schemas.openxmlformats.org/officeDocument/2006/relationships/font" Target="fonts/FiraSansCondensedMedium-regular.fntdata"/><Relationship Id="rId34" Type="http://schemas.openxmlformats.org/officeDocument/2006/relationships/font" Target="fonts/FiraSansExtraCondensedMedium-boldItalic.fntdata"/><Relationship Id="rId37" Type="http://schemas.openxmlformats.org/officeDocument/2006/relationships/font" Target="fonts/FiraSansCondensedMedium-italic.fntdata"/><Relationship Id="rId36" Type="http://schemas.openxmlformats.org/officeDocument/2006/relationships/font" Target="fonts/FiraSansCondensedMedium-bold.fntdata"/><Relationship Id="rId39" Type="http://schemas.openxmlformats.org/officeDocument/2006/relationships/font" Target="fonts/LatoLight-regular.fntdata"/><Relationship Id="rId38" Type="http://schemas.openxmlformats.org/officeDocument/2006/relationships/font" Target="fonts/FiraSansCondensedMedium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29" Type="http://schemas.openxmlformats.org/officeDocument/2006/relationships/font" Target="fonts/Roboto-italic.fntdata"/><Relationship Id="rId50" Type="http://schemas.openxmlformats.org/officeDocument/2006/relationships/font" Target="fonts/FiraSansExtraCondensedSemiBold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Rd2eelZ_VBcnAVPg9MwBOLEIi3IR_RPD/edit#gid=2004839208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b6d2bac824_4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b6d2bac824_4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6d2bac824_4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b6d2bac824_4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f0e868ccfc_6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f0e868ccfc_6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8425bd8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68425bd8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8425bd80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68425bd80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68425bd80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68425bd80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b6d2bac824_4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b6d2bac824_4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MIHIR</a:t>
            </a:r>
            <a:br>
              <a:rPr lang="en"/>
            </a:br>
            <a:r>
              <a:rPr lang="en"/>
              <a:t>Description of the case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SWOT Analysis - (generic aspects of strength, weakness like a new team, opportunities and strengths concerning the project)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More information on the case? Who are the clients and is it a B2B product or B2C?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f0e868ccfc_6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f0e868ccfc_6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b6d2bac824_4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b6d2bac824_4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/>
              <a:t>When presenting such an estimate to a client, it's crucial to communicate the limitations clearly to manage expectations effectively. These limitations include: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Lack of Previous Experience: Acknowledge that the team does not have prior experience with similar projects, which may affect the precision of the estimate.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Technical Glitches: Possible issues include signal interference, hardware issue, software error, multipath effect, environmental conditions, and user error.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First time build resources: Lack of tools and template and benchmark projects make it difficult to come up with an accurate estimate.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Potential for Scope Creep: Warn about the possibility of unforeseen requirements or complexities emerging as the project progresses, impacting costs.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Cost estimation: Only a range of values can be given as a cost estimate and a single point value cannot be given due to uncertainties and assumptions.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Risks: Apart from these potential uncertainties, there can be a variety of unforeseen risks eg: supply chain and regulatory issues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b75123b138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b75123b138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done </a:t>
            </a:r>
            <a:r>
              <a:rPr lang="en"/>
              <a:t>sensitivity</a:t>
            </a:r>
            <a:r>
              <a:rPr lang="en"/>
              <a:t> analysis using tornado approach to come up </a:t>
            </a:r>
            <a:r>
              <a:rPr lang="en"/>
              <a:t>with the risk matrix and evaluate its impact on the cost estimate.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b75123b138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b75123b138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to Risk Matrix of GPS Estimation : </a:t>
            </a:r>
            <a:r>
              <a:rPr lang="en" u="sng">
                <a:solidFill>
                  <a:schemeClr val="hlink"/>
                </a:solidFill>
                <a:hlinkClick r:id="rId2"/>
              </a:rPr>
              <a:t>ISE 585 Risk.xlsx - Google Sheets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f0e868ccfc_6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f0e868ccfc_6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b6d2bac824_4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b6d2bac824_4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Defend the inaccuracy: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Contingency and reserves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Iterative revisions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Feedback mechanisms and Collaboration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Being transparent to the customer regarding the knowledge gap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Documentation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Consultation with expert professionals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References with people who can showcase our credibility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b6d2bac824_4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b6d2bac824_4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Contingencies, overestimates or underestimates.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/>
              <a:t>2. Protecting Against the Inaccuracy of the Estimate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/>
              <a:t>To safeguard against the potential inaccuracy of the estimate: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Contingency Planning: Include a contingency fund to cover unforeseen costs, ensuring the estimate is flexible enough to accommodate changes.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Iterative Revisions: Propose a plan for revisiting and adjusting the estimate at key project milestones as more information becomes available.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Transparent Communication: Maintain open lines of communication with the client, providing updates on potential shifts in the estimate due to emerging insights.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Documentation of Assumptions: Clearly document all assumptions made during the estimating process, allowing for easier adjustments and justifications later.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Benchmarking.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WL + RN: References - people who we have referred to showcasing our credibility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f0e868ccfc_6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f0e868ccfc_6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b6d2bac824_4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b6d2bac824_4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/>
              <a:t>3. Offering Alternatives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/>
              <a:t>Given the uncertainties involved in the estimate, offering alternatives can help manage risks and client expectations: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Phased Approach: Suggest breaking the project into smaller, manageable phases, each with its own more accurate estimate as the project scope becomes clearer.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Flexible Pricing Models: Propose pricing models that accommodate changes, such as time and materials contracts, which can adjust for actual costs incurred.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Expert Consultation: Recommend bringing in external experts with experience in similar projects for a more informed estimate or for validating the team's assumptions.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Joint Risk Management: Engage the client in a partnership approach to risk management, where both parties share the responsibility for managing and mitigating project risks.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MVP, prototype or POC before full scale development.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b6d2bac824_4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b6d2bac824_4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f0e868ccfc_6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f0e868ccfc_6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68a2c7ea3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68a2c7ea3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457200" y="1325775"/>
            <a:ext cx="4219500" cy="20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457200" y="3393225"/>
            <a:ext cx="38577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7200" y="411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988800"/>
            <a:ext cx="8229600" cy="27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457200" y="411025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457200" y="411025"/>
            <a:ext cx="82296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411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988800"/>
            <a:ext cx="8229600" cy="27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A4335"/>
          </p15:clr>
        </p15:guide>
        <p15:guide id="2" orient="horz" pos="259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1">
          <p15:clr>
            <a:srgbClr val="EA4335"/>
          </p15:clr>
        </p15:guide>
        <p15:guide id="5" pos="2880">
          <p15:clr>
            <a:srgbClr val="EA4335"/>
          </p15:clr>
        </p15:guide>
        <p15:guide id="6" pos="1584">
          <p15:clr>
            <a:srgbClr val="EA4335"/>
          </p15:clr>
        </p15:guide>
        <p15:guide id="7" pos="4176">
          <p15:clr>
            <a:srgbClr val="EA4335"/>
          </p15:clr>
        </p15:guide>
        <p15:guide id="8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spreadsheets/d/1Rd2eelZ_VBcnAVPg9MwBOLEIi3IR_RPD/edit?usp=drive_link&amp;ouid=101281950215166262772&amp;rtpof=true&amp;sd=true" TargetMode="External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pes.edu/brand-identity/" TargetMode="External"/><Relationship Id="rId4" Type="http://schemas.openxmlformats.org/officeDocument/2006/relationships/hyperlink" Target="https://learn.ineight.com/Schedule/Content/7%20Review%20Process/5%20Tornado%20Analysis.htm?TocPath=Topics%7CReview%20Process-%20Risk%20Overview%7C_____5" TargetMode="External"/><Relationship Id="rId5" Type="http://schemas.openxmlformats.org/officeDocument/2006/relationships/hyperlink" Target="https://hellotracks.com/en/blog/How-to-Improve-your-GPS-Accuracy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spreadsheets/d/1Rd2eelZ_VBcnAVPg9MwBOLEIi3IR_RPD/edit?usp=drive_link&amp;ouid=101281950215166262772&amp;rtpof=true&amp;sd=tru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381000" y="2960450"/>
            <a:ext cx="47466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GPS installation estimate challenge</a:t>
            </a:r>
            <a:endParaRPr/>
          </a:p>
        </p:txBody>
      </p:sp>
      <p:sp>
        <p:nvSpPr>
          <p:cNvPr id="99" name="Google Shape;99;p25"/>
          <p:cNvSpPr txBox="1"/>
          <p:nvPr>
            <p:ph type="ctrTitle"/>
          </p:nvPr>
        </p:nvSpPr>
        <p:spPr>
          <a:xfrm>
            <a:off x="353500" y="921938"/>
            <a:ext cx="5448000" cy="20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ISE 585 </a:t>
            </a:r>
            <a:endParaRPr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Case 3: Too early to provide accurate details </a:t>
            </a:r>
            <a:endParaRPr sz="3500"/>
          </a:p>
        </p:txBody>
      </p:sp>
      <p:sp>
        <p:nvSpPr>
          <p:cNvPr id="100" name="Google Shape;100;p25"/>
          <p:cNvSpPr/>
          <p:nvPr/>
        </p:nvSpPr>
        <p:spPr>
          <a:xfrm rot="1713762">
            <a:off x="8048310" y="483239"/>
            <a:ext cx="373337" cy="34087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5"/>
          <p:cNvSpPr/>
          <p:nvPr/>
        </p:nvSpPr>
        <p:spPr>
          <a:xfrm rot="900000">
            <a:off x="6242789" y="56193"/>
            <a:ext cx="3400425" cy="1285875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5"/>
          <p:cNvSpPr/>
          <p:nvPr/>
        </p:nvSpPr>
        <p:spPr>
          <a:xfrm rot="900000">
            <a:off x="5909980" y="1298253"/>
            <a:ext cx="3400425" cy="1285875"/>
          </a:xfrm>
          <a:prstGeom prst="flowChartOffpageConnector">
            <a:avLst/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5"/>
          <p:cNvSpPr/>
          <p:nvPr/>
        </p:nvSpPr>
        <p:spPr>
          <a:xfrm rot="900000">
            <a:off x="5577171" y="2540313"/>
            <a:ext cx="3400425" cy="1285875"/>
          </a:xfrm>
          <a:prstGeom prst="flowChartOffpageConnector">
            <a:avLst/>
          </a:pr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5"/>
          <p:cNvSpPr/>
          <p:nvPr/>
        </p:nvSpPr>
        <p:spPr>
          <a:xfrm rot="900000">
            <a:off x="5244362" y="3782372"/>
            <a:ext cx="3400425" cy="1285875"/>
          </a:xfrm>
          <a:prstGeom prst="flowChartOffpageConnector">
            <a:avLst/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5"/>
          <p:cNvSpPr txBox="1"/>
          <p:nvPr/>
        </p:nvSpPr>
        <p:spPr>
          <a:xfrm rot="900066">
            <a:off x="6276732" y="60724"/>
            <a:ext cx="3400589" cy="1023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900">
                <a:solidFill>
                  <a:srgbClr val="CBDC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OVERVIEW</a:t>
            </a:r>
            <a:endParaRPr>
              <a:solidFill>
                <a:srgbClr val="CBDC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25"/>
          <p:cNvSpPr txBox="1"/>
          <p:nvPr/>
        </p:nvSpPr>
        <p:spPr>
          <a:xfrm rot="900066">
            <a:off x="5943923" y="1302784"/>
            <a:ext cx="3400589" cy="1023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BECEE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CHALLENGE</a:t>
            </a:r>
            <a:endParaRPr>
              <a:solidFill>
                <a:srgbClr val="BECEE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25"/>
          <p:cNvSpPr txBox="1"/>
          <p:nvPr/>
        </p:nvSpPr>
        <p:spPr>
          <a:xfrm rot="900066">
            <a:off x="5611078" y="2544834"/>
            <a:ext cx="3400589" cy="1023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D9F3FA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QUESTIONS</a:t>
            </a:r>
            <a:endParaRPr>
              <a:solidFill>
                <a:srgbClr val="D9F3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25"/>
          <p:cNvSpPr txBox="1"/>
          <p:nvPr/>
        </p:nvSpPr>
        <p:spPr>
          <a:xfrm rot="900066">
            <a:off x="5278269" y="3786894"/>
            <a:ext cx="3400589" cy="1023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DEF8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EVALUATION</a:t>
            </a:r>
            <a:endParaRPr>
              <a:solidFill>
                <a:srgbClr val="DEF8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25"/>
          <p:cNvPicPr preferRelativeResize="0"/>
          <p:nvPr/>
        </p:nvPicPr>
        <p:blipFill rotWithShape="1">
          <a:blip r:embed="rId3">
            <a:alphaModFix/>
          </a:blip>
          <a:srcRect b="-40193" l="-40193" r="0" t="0"/>
          <a:stretch/>
        </p:blipFill>
        <p:spPr>
          <a:xfrm>
            <a:off x="2706275" y="419225"/>
            <a:ext cx="1791025" cy="61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 txBox="1"/>
          <p:nvPr>
            <p:ph idx="1" type="subTitle"/>
          </p:nvPr>
        </p:nvSpPr>
        <p:spPr>
          <a:xfrm>
            <a:off x="381000" y="3493775"/>
            <a:ext cx="50031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1: </a:t>
            </a:r>
            <a:r>
              <a:rPr lang="en"/>
              <a:t>Patrick, Rachana, Shruti, William, Mihir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type="title"/>
          </p:nvPr>
        </p:nvSpPr>
        <p:spPr>
          <a:xfrm>
            <a:off x="457200" y="411025"/>
            <a:ext cx="8229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16" name="Google Shape;116;p26"/>
          <p:cNvSpPr/>
          <p:nvPr/>
        </p:nvSpPr>
        <p:spPr>
          <a:xfrm>
            <a:off x="683638" y="1697931"/>
            <a:ext cx="1578935" cy="2905468"/>
          </a:xfrm>
          <a:custGeom>
            <a:rect b="b" l="l" r="r" t="t"/>
            <a:pathLst>
              <a:path extrusionOk="0" h="3653" w="3679">
                <a:moveTo>
                  <a:pt x="0" y="0"/>
                </a:moveTo>
                <a:lnTo>
                  <a:pt x="3678" y="0"/>
                </a:lnTo>
                <a:lnTo>
                  <a:pt x="3678" y="3652"/>
                </a:lnTo>
                <a:lnTo>
                  <a:pt x="0" y="3652"/>
                </a:lnTo>
                <a:lnTo>
                  <a:pt x="0" y="0"/>
                </a:ln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/>
          <p:nvPr/>
        </p:nvSpPr>
        <p:spPr>
          <a:xfrm>
            <a:off x="683942" y="3493474"/>
            <a:ext cx="1578325" cy="942175"/>
          </a:xfrm>
          <a:custGeom>
            <a:rect b="b" l="l" r="r" t="t"/>
            <a:pathLst>
              <a:path extrusionOk="0" h="2246" w="2859">
                <a:moveTo>
                  <a:pt x="0" y="2245"/>
                </a:moveTo>
                <a:lnTo>
                  <a:pt x="0" y="0"/>
                </a:lnTo>
                <a:lnTo>
                  <a:pt x="2858" y="0"/>
                </a:lnTo>
                <a:lnTo>
                  <a:pt x="2858" y="2245"/>
                </a:lnTo>
                <a:lnTo>
                  <a:pt x="0" y="2245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SUMMARY</a:t>
            </a:r>
            <a:endParaRPr i="0" sz="2400" u="none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8" name="Google Shape;118;p26"/>
          <p:cNvSpPr/>
          <p:nvPr/>
        </p:nvSpPr>
        <p:spPr>
          <a:xfrm>
            <a:off x="1135270" y="1354925"/>
            <a:ext cx="675670" cy="672028"/>
          </a:xfrm>
          <a:custGeom>
            <a:rect b="b" l="l" r="r" t="t"/>
            <a:pathLst>
              <a:path extrusionOk="0" h="1600" w="1608">
                <a:moveTo>
                  <a:pt x="1607" y="804"/>
                </a:moveTo>
                <a:lnTo>
                  <a:pt x="1607" y="804"/>
                </a:lnTo>
                <a:cubicBezTo>
                  <a:pt x="1607" y="1243"/>
                  <a:pt x="1251" y="1599"/>
                  <a:pt x="804" y="1599"/>
                </a:cubicBezTo>
                <a:cubicBezTo>
                  <a:pt x="365" y="1599"/>
                  <a:pt x="0" y="1243"/>
                  <a:pt x="0" y="804"/>
                </a:cubicBezTo>
                <a:cubicBezTo>
                  <a:pt x="0" y="357"/>
                  <a:pt x="365" y="0"/>
                  <a:pt x="804" y="0"/>
                </a:cubicBezTo>
                <a:cubicBezTo>
                  <a:pt x="1251" y="0"/>
                  <a:pt x="1607" y="357"/>
                  <a:pt x="1607" y="80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6"/>
          <p:cNvSpPr txBox="1"/>
          <p:nvPr/>
        </p:nvSpPr>
        <p:spPr>
          <a:xfrm flipH="1">
            <a:off x="866355" y="2273500"/>
            <a:ext cx="12135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Summary</a:t>
            </a:r>
            <a:endParaRPr sz="21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0" name="Google Shape;120;p26"/>
          <p:cNvSpPr txBox="1"/>
          <p:nvPr/>
        </p:nvSpPr>
        <p:spPr>
          <a:xfrm>
            <a:off x="1266855" y="1437739"/>
            <a:ext cx="412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Lato Black"/>
              <a:buNone/>
            </a:pPr>
            <a:r>
              <a:rPr i="0" lang="en" sz="2800" u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1</a:t>
            </a:r>
            <a:r>
              <a:rPr lang="en" sz="28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st</a:t>
            </a:r>
            <a:endParaRPr sz="2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866355" y="2633895"/>
            <a:ext cx="12135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Summary of the case.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6"/>
          <p:cNvSpPr/>
          <p:nvPr/>
        </p:nvSpPr>
        <p:spPr>
          <a:xfrm>
            <a:off x="4841297" y="1697931"/>
            <a:ext cx="1578331" cy="2905468"/>
          </a:xfrm>
          <a:custGeom>
            <a:rect b="b" l="l" r="r" t="t"/>
            <a:pathLst>
              <a:path extrusionOk="0" h="3653" w="3678">
                <a:moveTo>
                  <a:pt x="0" y="0"/>
                </a:moveTo>
                <a:lnTo>
                  <a:pt x="3677" y="0"/>
                </a:lnTo>
                <a:lnTo>
                  <a:pt x="3677" y="3652"/>
                </a:lnTo>
                <a:lnTo>
                  <a:pt x="0" y="3652"/>
                </a:lnTo>
                <a:lnTo>
                  <a:pt x="0" y="0"/>
                </a:ln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6"/>
          <p:cNvSpPr/>
          <p:nvPr/>
        </p:nvSpPr>
        <p:spPr>
          <a:xfrm>
            <a:off x="4681375" y="3493475"/>
            <a:ext cx="1847625" cy="942175"/>
          </a:xfrm>
          <a:custGeom>
            <a:rect b="b" l="l" r="r" t="t"/>
            <a:pathLst>
              <a:path extrusionOk="0" h="2246" w="3678">
                <a:moveTo>
                  <a:pt x="0" y="2245"/>
                </a:moveTo>
                <a:lnTo>
                  <a:pt x="0" y="0"/>
                </a:lnTo>
                <a:lnTo>
                  <a:pt x="3677" y="0"/>
                </a:lnTo>
                <a:lnTo>
                  <a:pt x="3677" y="2245"/>
                </a:lnTo>
                <a:lnTo>
                  <a:pt x="0" y="2245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INACCURACIES</a:t>
            </a:r>
            <a:endParaRPr sz="29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6"/>
          <p:cNvSpPr/>
          <p:nvPr/>
        </p:nvSpPr>
        <p:spPr>
          <a:xfrm>
            <a:off x="5295358" y="1354925"/>
            <a:ext cx="670209" cy="672028"/>
          </a:xfrm>
          <a:custGeom>
            <a:rect b="b" l="l" r="r" t="t"/>
            <a:pathLst>
              <a:path extrusionOk="0" h="1600" w="1598">
                <a:moveTo>
                  <a:pt x="1597" y="804"/>
                </a:moveTo>
                <a:lnTo>
                  <a:pt x="1597" y="804"/>
                </a:lnTo>
                <a:cubicBezTo>
                  <a:pt x="1597" y="1243"/>
                  <a:pt x="1241" y="1599"/>
                  <a:pt x="802" y="1599"/>
                </a:cubicBezTo>
                <a:cubicBezTo>
                  <a:pt x="356" y="1599"/>
                  <a:pt x="0" y="1243"/>
                  <a:pt x="0" y="804"/>
                </a:cubicBezTo>
                <a:cubicBezTo>
                  <a:pt x="0" y="357"/>
                  <a:pt x="356" y="0"/>
                  <a:pt x="802" y="0"/>
                </a:cubicBezTo>
                <a:cubicBezTo>
                  <a:pt x="1241" y="0"/>
                  <a:pt x="1597" y="357"/>
                  <a:pt x="1597" y="804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6"/>
          <p:cNvSpPr txBox="1"/>
          <p:nvPr/>
        </p:nvSpPr>
        <p:spPr>
          <a:xfrm>
            <a:off x="5295349" y="1437750"/>
            <a:ext cx="6702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Lato Black"/>
              <a:buNone/>
            </a:pPr>
            <a:r>
              <a:rPr i="0" lang="en" sz="2800" u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3</a:t>
            </a:r>
            <a:r>
              <a:rPr lang="en" sz="28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rd</a:t>
            </a:r>
            <a:endParaRPr sz="2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6" name="Google Shape;126;p26"/>
          <p:cNvSpPr txBox="1"/>
          <p:nvPr/>
        </p:nvSpPr>
        <p:spPr>
          <a:xfrm flipH="1">
            <a:off x="4841350" y="2263275"/>
            <a:ext cx="1578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Inaccuracies</a:t>
            </a:r>
            <a:endParaRPr sz="21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7" name="Google Shape;127;p26"/>
          <p:cNvSpPr txBox="1"/>
          <p:nvPr/>
        </p:nvSpPr>
        <p:spPr>
          <a:xfrm>
            <a:off x="5023713" y="2624850"/>
            <a:ext cx="12135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Safeguarding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inaccuracies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6"/>
          <p:cNvSpPr/>
          <p:nvPr/>
        </p:nvSpPr>
        <p:spPr>
          <a:xfrm>
            <a:off x="2724367" y="1697931"/>
            <a:ext cx="1578935" cy="2905468"/>
          </a:xfrm>
          <a:custGeom>
            <a:rect b="b" l="l" r="r" t="t"/>
            <a:pathLst>
              <a:path extrusionOk="0" h="3653" w="3679">
                <a:moveTo>
                  <a:pt x="0" y="0"/>
                </a:moveTo>
                <a:lnTo>
                  <a:pt x="3678" y="0"/>
                </a:lnTo>
                <a:lnTo>
                  <a:pt x="3678" y="3652"/>
                </a:lnTo>
                <a:lnTo>
                  <a:pt x="0" y="3652"/>
                </a:lnTo>
                <a:lnTo>
                  <a:pt x="0" y="0"/>
                </a:ln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6"/>
          <p:cNvSpPr/>
          <p:nvPr/>
        </p:nvSpPr>
        <p:spPr>
          <a:xfrm>
            <a:off x="2686687" y="3493475"/>
            <a:ext cx="1646776" cy="942175"/>
          </a:xfrm>
          <a:custGeom>
            <a:rect b="b" l="l" r="r" t="t"/>
            <a:pathLst>
              <a:path extrusionOk="0" h="2246" w="3679">
                <a:moveTo>
                  <a:pt x="0" y="2245"/>
                </a:moveTo>
                <a:lnTo>
                  <a:pt x="0" y="0"/>
                </a:lnTo>
                <a:lnTo>
                  <a:pt x="3678" y="0"/>
                </a:lnTo>
                <a:lnTo>
                  <a:pt x="3678" y="2245"/>
                </a:lnTo>
                <a:lnTo>
                  <a:pt x="0" y="2245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LIMITATIONS</a:t>
            </a:r>
            <a:endParaRPr sz="29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6"/>
          <p:cNvSpPr/>
          <p:nvPr/>
        </p:nvSpPr>
        <p:spPr>
          <a:xfrm>
            <a:off x="3177821" y="1354925"/>
            <a:ext cx="672028" cy="672028"/>
          </a:xfrm>
          <a:custGeom>
            <a:rect b="b" l="l" r="r" t="t"/>
            <a:pathLst>
              <a:path extrusionOk="0" h="1600" w="1599">
                <a:moveTo>
                  <a:pt x="1598" y="804"/>
                </a:moveTo>
                <a:lnTo>
                  <a:pt x="1598" y="804"/>
                </a:lnTo>
                <a:cubicBezTo>
                  <a:pt x="1598" y="1243"/>
                  <a:pt x="1242" y="1599"/>
                  <a:pt x="795" y="1599"/>
                </a:cubicBezTo>
                <a:cubicBezTo>
                  <a:pt x="356" y="1599"/>
                  <a:pt x="0" y="1243"/>
                  <a:pt x="0" y="804"/>
                </a:cubicBezTo>
                <a:cubicBezTo>
                  <a:pt x="0" y="357"/>
                  <a:pt x="356" y="0"/>
                  <a:pt x="795" y="0"/>
                </a:cubicBezTo>
                <a:cubicBezTo>
                  <a:pt x="1242" y="0"/>
                  <a:pt x="1598" y="357"/>
                  <a:pt x="1598" y="804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6"/>
          <p:cNvSpPr txBox="1"/>
          <p:nvPr/>
        </p:nvSpPr>
        <p:spPr>
          <a:xfrm>
            <a:off x="3177825" y="1437750"/>
            <a:ext cx="6645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Lato Black"/>
              <a:buNone/>
            </a:pPr>
            <a:r>
              <a:rPr i="0" lang="en" sz="2800" u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</a:t>
            </a:r>
            <a:r>
              <a:rPr lang="en" sz="28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nd</a:t>
            </a:r>
            <a:endParaRPr sz="2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2" name="Google Shape;132;p26"/>
          <p:cNvSpPr txBox="1"/>
          <p:nvPr/>
        </p:nvSpPr>
        <p:spPr>
          <a:xfrm flipH="1">
            <a:off x="2797900" y="2273500"/>
            <a:ext cx="15054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Limitations</a:t>
            </a:r>
            <a:endParaRPr sz="21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3" name="Google Shape;133;p26"/>
          <p:cNvSpPr txBox="1"/>
          <p:nvPr/>
        </p:nvSpPr>
        <p:spPr>
          <a:xfrm>
            <a:off x="2907085" y="2633895"/>
            <a:ext cx="12135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imitations of the estimate.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6"/>
          <p:cNvSpPr/>
          <p:nvPr/>
        </p:nvSpPr>
        <p:spPr>
          <a:xfrm>
            <a:off x="6881423" y="1697931"/>
            <a:ext cx="1578935" cy="2905468"/>
          </a:xfrm>
          <a:custGeom>
            <a:rect b="b" l="l" r="r" t="t"/>
            <a:pathLst>
              <a:path extrusionOk="0" h="3653" w="3679">
                <a:moveTo>
                  <a:pt x="0" y="0"/>
                </a:moveTo>
                <a:lnTo>
                  <a:pt x="3678" y="0"/>
                </a:lnTo>
                <a:lnTo>
                  <a:pt x="3678" y="3652"/>
                </a:lnTo>
                <a:lnTo>
                  <a:pt x="0" y="3652"/>
                </a:lnTo>
                <a:lnTo>
                  <a:pt x="0" y="0"/>
                </a:lnTo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6729026" y="3493475"/>
            <a:ext cx="1847621" cy="942175"/>
          </a:xfrm>
          <a:custGeom>
            <a:rect b="b" l="l" r="r" t="t"/>
            <a:pathLst>
              <a:path extrusionOk="0" h="2246" w="3679">
                <a:moveTo>
                  <a:pt x="0" y="2245"/>
                </a:moveTo>
                <a:lnTo>
                  <a:pt x="0" y="0"/>
                </a:lnTo>
                <a:lnTo>
                  <a:pt x="3678" y="0"/>
                </a:lnTo>
                <a:lnTo>
                  <a:pt x="3678" y="2245"/>
                </a:lnTo>
                <a:lnTo>
                  <a:pt x="0" y="2245"/>
                </a:ln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ALTERNATIVES</a:t>
            </a:r>
            <a:endParaRPr sz="290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7333965" y="1354925"/>
            <a:ext cx="673851" cy="672028"/>
          </a:xfrm>
          <a:custGeom>
            <a:rect b="b" l="l" r="r" t="t"/>
            <a:pathLst>
              <a:path extrusionOk="0" h="1600" w="1607">
                <a:moveTo>
                  <a:pt x="1606" y="804"/>
                </a:moveTo>
                <a:lnTo>
                  <a:pt x="1606" y="804"/>
                </a:lnTo>
                <a:cubicBezTo>
                  <a:pt x="1606" y="1243"/>
                  <a:pt x="1242" y="1599"/>
                  <a:pt x="803" y="1599"/>
                </a:cubicBezTo>
                <a:cubicBezTo>
                  <a:pt x="356" y="1599"/>
                  <a:pt x="0" y="1243"/>
                  <a:pt x="0" y="804"/>
                </a:cubicBezTo>
                <a:cubicBezTo>
                  <a:pt x="0" y="357"/>
                  <a:pt x="356" y="0"/>
                  <a:pt x="803" y="0"/>
                </a:cubicBezTo>
                <a:cubicBezTo>
                  <a:pt x="1242" y="0"/>
                  <a:pt x="1606" y="357"/>
                  <a:pt x="1606" y="804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7333974" y="1437750"/>
            <a:ext cx="675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Lato Black"/>
              <a:buNone/>
            </a:pPr>
            <a:r>
              <a:rPr i="0" lang="en" sz="2800" u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4</a:t>
            </a:r>
            <a:r>
              <a:rPr lang="en" sz="28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</a:t>
            </a:r>
            <a:endParaRPr sz="2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8" name="Google Shape;138;p26"/>
          <p:cNvSpPr txBox="1"/>
          <p:nvPr/>
        </p:nvSpPr>
        <p:spPr>
          <a:xfrm flipH="1">
            <a:off x="6957550" y="2263275"/>
            <a:ext cx="14493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Alternatives</a:t>
            </a:r>
            <a:endParaRPr sz="21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7064140" y="2624850"/>
            <a:ext cx="12135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Provide alternatives.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9073175" y="49688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47" name="Google Shape;147;p27"/>
          <p:cNvSpPr/>
          <p:nvPr/>
        </p:nvSpPr>
        <p:spPr>
          <a:xfrm rot="-5400000">
            <a:off x="501666" y="-501621"/>
            <a:ext cx="5115250" cy="6118500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7"/>
          <p:cNvSpPr txBox="1"/>
          <p:nvPr>
            <p:ph type="title"/>
          </p:nvPr>
        </p:nvSpPr>
        <p:spPr>
          <a:xfrm>
            <a:off x="2316775" y="1756325"/>
            <a:ext cx="5731800" cy="18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Concept &amp; Summary</a:t>
            </a:r>
            <a:endParaRPr sz="44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8"/>
          <p:cNvPicPr preferRelativeResize="0"/>
          <p:nvPr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2000"/>
              </a:srgbClr>
            </a:outerShdw>
          </a:effectLst>
        </p:spPr>
      </p:pic>
      <p:sp>
        <p:nvSpPr>
          <p:cNvPr id="154" name="Google Shape;154;p28"/>
          <p:cNvSpPr txBox="1"/>
          <p:nvPr>
            <p:ph type="title"/>
          </p:nvPr>
        </p:nvSpPr>
        <p:spPr>
          <a:xfrm>
            <a:off x="457200" y="411025"/>
            <a:ext cx="82296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</a:t>
            </a:r>
            <a:endParaRPr/>
          </a:p>
        </p:txBody>
      </p:sp>
      <p:sp>
        <p:nvSpPr>
          <p:cNvPr id="155" name="Google Shape;155;p28"/>
          <p:cNvSpPr txBox="1"/>
          <p:nvPr/>
        </p:nvSpPr>
        <p:spPr>
          <a:xfrm>
            <a:off x="1165175" y="1201075"/>
            <a:ext cx="137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Initial</a:t>
            </a:r>
            <a:r>
              <a:rPr b="1" lang="en" sz="2000"/>
              <a:t> design  </a:t>
            </a:r>
            <a:endParaRPr b="1" sz="2000"/>
          </a:p>
        </p:txBody>
      </p:sp>
      <p:sp>
        <p:nvSpPr>
          <p:cNvPr id="156" name="Google Shape;156;p28"/>
          <p:cNvSpPr txBox="1"/>
          <p:nvPr/>
        </p:nvSpPr>
        <p:spPr>
          <a:xfrm>
            <a:off x="723575" y="2130075"/>
            <a:ext cx="2261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Cost Estimation</a:t>
            </a:r>
            <a:br>
              <a:rPr lang="en" sz="2000"/>
            </a:br>
            <a:r>
              <a:rPr lang="en" sz="2000"/>
              <a:t>3 methods: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Top down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Parametric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Buttom up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Contingency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57" name="Google Shape;157;p28"/>
          <p:cNvSpPr txBox="1"/>
          <p:nvPr/>
        </p:nvSpPr>
        <p:spPr>
          <a:xfrm>
            <a:off x="3311000" y="3286063"/>
            <a:ext cx="5466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Seven resource categories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Hardware, Software, Documentation, People, Tooling, Equipment, and Facilities.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58" name="Google Shape;158;p28"/>
          <p:cNvSpPr txBox="1"/>
          <p:nvPr/>
        </p:nvSpPr>
        <p:spPr>
          <a:xfrm>
            <a:off x="3311000" y="2130075"/>
            <a:ext cx="2910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Schedule estimate</a:t>
            </a:r>
            <a:endParaRPr b="1"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Right to left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Left to right</a:t>
            </a:r>
            <a:endParaRPr sz="1800"/>
          </a:p>
        </p:txBody>
      </p:sp>
      <p:sp>
        <p:nvSpPr>
          <p:cNvPr id="159" name="Google Shape;159;p28"/>
          <p:cNvSpPr txBox="1"/>
          <p:nvPr/>
        </p:nvSpPr>
        <p:spPr>
          <a:xfrm>
            <a:off x="5706050" y="1354975"/>
            <a:ext cx="271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(Form - fit - function)</a:t>
            </a:r>
            <a:endParaRPr sz="2000"/>
          </a:p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8"/>
          <p:cNvSpPr/>
          <p:nvPr/>
        </p:nvSpPr>
        <p:spPr>
          <a:xfrm rot="-5400000">
            <a:off x="2829300" y="833995"/>
            <a:ext cx="232575" cy="1285875"/>
          </a:xfrm>
          <a:prstGeom prst="flowChartOffpageConnector">
            <a:avLst/>
          </a:pr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62" name="Google Shape;162;p28"/>
          <p:cNvSpPr txBox="1"/>
          <p:nvPr/>
        </p:nvSpPr>
        <p:spPr>
          <a:xfrm>
            <a:off x="3826850" y="1220375"/>
            <a:ext cx="1879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Product Specification</a:t>
            </a:r>
            <a:endParaRPr b="1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457200" y="411025"/>
            <a:ext cx="82296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ESTIMATING TEMPLATE</a:t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536902" y="-810352"/>
            <a:ext cx="4070175" cy="759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644109" y="47326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0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0"/>
          <p:cNvSpPr txBox="1"/>
          <p:nvPr>
            <p:ph type="title"/>
          </p:nvPr>
        </p:nvSpPr>
        <p:spPr>
          <a:xfrm>
            <a:off x="457200" y="411025"/>
            <a:ext cx="82296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</a:t>
            </a:r>
            <a:endParaRPr/>
          </a:p>
        </p:txBody>
      </p:sp>
      <p:sp>
        <p:nvSpPr>
          <p:cNvPr id="176" name="Google Shape;176;p30"/>
          <p:cNvSpPr txBox="1"/>
          <p:nvPr/>
        </p:nvSpPr>
        <p:spPr>
          <a:xfrm>
            <a:off x="457200" y="1427200"/>
            <a:ext cx="82296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case describes the challenges faced by a new program manager tasked with </a:t>
            </a:r>
            <a:r>
              <a:rPr b="1" lang="en" sz="1700"/>
              <a:t>estimating the cost of installing a Global Positioning System (GPS)</a:t>
            </a:r>
            <a:r>
              <a:rPr lang="en" sz="1700"/>
              <a:t>. Lacking templates, tools, and system knowledge, coupled with numerous uncertainties, the manager embarked on an </a:t>
            </a:r>
            <a:r>
              <a:rPr b="1" lang="en" sz="1700"/>
              <a:t>extensive inquiry process</a:t>
            </a:r>
            <a:r>
              <a:rPr lang="en" sz="1700"/>
              <a:t>, consulting with </a:t>
            </a:r>
            <a:r>
              <a:rPr b="1" lang="en" sz="1700"/>
              <a:t>end-users</a:t>
            </a:r>
            <a:r>
              <a:rPr lang="en" sz="1700"/>
              <a:t>, </a:t>
            </a:r>
            <a:r>
              <a:rPr b="1" lang="en" sz="1700"/>
              <a:t>customer management </a:t>
            </a:r>
            <a:r>
              <a:rPr lang="en" sz="1700"/>
              <a:t>and </a:t>
            </a:r>
            <a:r>
              <a:rPr b="1" lang="en" sz="1700"/>
              <a:t>technical teams</a:t>
            </a:r>
            <a:r>
              <a:rPr lang="en" sz="1700"/>
              <a:t>, and </a:t>
            </a:r>
            <a:r>
              <a:rPr b="1" lang="en" sz="1700"/>
              <a:t>internal stakeholders</a:t>
            </a:r>
            <a:r>
              <a:rPr lang="en" sz="1700"/>
              <a:t>. This process aimed at understanding customer needs and the project's scope, including hardware, software, labor, and other requirements, leading to the creation of a resource matrix. Despite these efforts, the team struggled with </a:t>
            </a:r>
            <a:r>
              <a:rPr b="1" lang="en" sz="1700"/>
              <a:t>accurately estimating the costs of resources</a:t>
            </a:r>
            <a:r>
              <a:rPr lang="en" sz="1700"/>
              <a:t>, particularly for </a:t>
            </a:r>
            <a:r>
              <a:rPr b="1" lang="en" sz="1700"/>
              <a:t>first-time builds</a:t>
            </a:r>
            <a:r>
              <a:rPr lang="en" sz="1700"/>
              <a:t>, resulting in an initial estimate they were hesitant to present to the customer due to its potential inaccuracies.</a:t>
            </a:r>
            <a:endParaRPr sz="1700"/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7725" y="188475"/>
            <a:ext cx="1329050" cy="13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457200" y="411025"/>
            <a:ext cx="8229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CHALLENGE SUMMARY</a:t>
            </a:r>
            <a:endParaRPr/>
          </a:p>
        </p:txBody>
      </p:sp>
      <p:sp>
        <p:nvSpPr>
          <p:cNvPr id="184" name="Google Shape;184;p31"/>
          <p:cNvSpPr txBox="1"/>
          <p:nvPr/>
        </p:nvSpPr>
        <p:spPr>
          <a:xfrm>
            <a:off x="5341325" y="1799675"/>
            <a:ext cx="32154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No prior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knowledge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of the system or similar systems.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No experience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in 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building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these systems.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5541400" y="1045653"/>
            <a:ext cx="269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WEAKNESSES</a:t>
            </a:r>
            <a:endParaRPr sz="20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86" name="Google Shape;186;p31"/>
          <p:cNvSpPr txBox="1"/>
          <p:nvPr/>
        </p:nvSpPr>
        <p:spPr>
          <a:xfrm>
            <a:off x="598500" y="1763538"/>
            <a:ext cx="30471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Stakeholder communication.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Methods like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5W and 1H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to gain knowledge of the system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598500" y="1027591"/>
            <a:ext cx="2820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STRENGTHS</a:t>
            </a:r>
            <a:endParaRPr sz="20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457199" y="3949125"/>
            <a:ext cx="32154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Better future relationship with the client.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More opportunities to work with the client.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522155" y="3097454"/>
            <a:ext cx="269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OPPORTUNITIES</a:t>
            </a:r>
            <a:endParaRPr sz="20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90" name="Google Shape;190;p31"/>
          <p:cNvSpPr txBox="1"/>
          <p:nvPr/>
        </p:nvSpPr>
        <p:spPr>
          <a:xfrm>
            <a:off x="5603825" y="3807825"/>
            <a:ext cx="30471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Project failure.</a:t>
            </a:r>
            <a:endParaRPr sz="16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Estimate off by </a:t>
            </a:r>
            <a:r>
              <a:rPr b="1" lang="en" sz="16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+-30%</a:t>
            </a:r>
            <a:r>
              <a:rPr lang="en" sz="16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Tasks not go as per schedule</a:t>
            </a:r>
            <a:endParaRPr sz="16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5603825" y="3097448"/>
            <a:ext cx="2690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THREATS</a:t>
            </a:r>
            <a:endParaRPr sz="20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192" name="Google Shape;192;p31"/>
          <p:cNvCxnSpPr/>
          <p:nvPr/>
        </p:nvCxnSpPr>
        <p:spPr>
          <a:xfrm>
            <a:off x="4552525" y="989125"/>
            <a:ext cx="56400" cy="401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31"/>
          <p:cNvCxnSpPr/>
          <p:nvPr/>
        </p:nvCxnSpPr>
        <p:spPr>
          <a:xfrm rot="10800000">
            <a:off x="277275" y="2751875"/>
            <a:ext cx="8642100" cy="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200" name="Google Shape;200;p32"/>
          <p:cNvSpPr/>
          <p:nvPr/>
        </p:nvSpPr>
        <p:spPr>
          <a:xfrm rot="-5400000">
            <a:off x="501666" y="-501621"/>
            <a:ext cx="5115250" cy="6118500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2"/>
          <p:cNvSpPr txBox="1"/>
          <p:nvPr>
            <p:ph type="title"/>
          </p:nvPr>
        </p:nvSpPr>
        <p:spPr>
          <a:xfrm>
            <a:off x="697425" y="1393175"/>
            <a:ext cx="82296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If </a:t>
            </a:r>
            <a:r>
              <a:rPr lang="en" sz="3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you had </a:t>
            </a:r>
            <a:r>
              <a:rPr lang="en"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to </a:t>
            </a:r>
            <a:r>
              <a:rPr lang="en" sz="3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present </a:t>
            </a:r>
            <a:r>
              <a:rPr lang="en" sz="3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this </a:t>
            </a:r>
            <a:r>
              <a:rPr lang="en"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as </a:t>
            </a:r>
            <a:r>
              <a:rPr lang="en" sz="3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an </a:t>
            </a:r>
            <a:r>
              <a:rPr lang="en" sz="3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estimate </a:t>
            </a:r>
            <a:r>
              <a:rPr lang="en"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to </a:t>
            </a:r>
            <a:r>
              <a:rPr lang="en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a </a:t>
            </a:r>
            <a:r>
              <a:rPr lang="en" sz="3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client, </a:t>
            </a:r>
            <a:r>
              <a:rPr lang="en" sz="3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what limitations would you make </a:t>
            </a:r>
            <a:r>
              <a:rPr lang="en" sz="3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clear </a:t>
            </a:r>
            <a:r>
              <a:rPr lang="en"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to </a:t>
            </a:r>
            <a:r>
              <a:rPr lang="en" sz="31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the </a:t>
            </a:r>
            <a:r>
              <a:rPr lang="en" sz="3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customer?</a:t>
            </a:r>
            <a:endParaRPr sz="3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457200" y="411025"/>
            <a:ext cx="8229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07" name="Google Shape;207;p33"/>
          <p:cNvSpPr/>
          <p:nvPr/>
        </p:nvSpPr>
        <p:spPr>
          <a:xfrm flipH="1">
            <a:off x="2037704" y="1809095"/>
            <a:ext cx="1943849" cy="1972738"/>
          </a:xfrm>
          <a:custGeom>
            <a:rect b="b" l="l" r="r" t="t"/>
            <a:pathLst>
              <a:path extrusionOk="0" h="29090" w="28664">
                <a:moveTo>
                  <a:pt x="8268" y="22585"/>
                </a:moveTo>
                <a:cubicBezTo>
                  <a:pt x="10487" y="23314"/>
                  <a:pt x="12858" y="23344"/>
                  <a:pt x="15107" y="22645"/>
                </a:cubicBezTo>
                <a:cubicBezTo>
                  <a:pt x="15198" y="22615"/>
                  <a:pt x="15320" y="22585"/>
                  <a:pt x="15411" y="22554"/>
                </a:cubicBezTo>
                <a:lnTo>
                  <a:pt x="15624" y="22493"/>
                </a:lnTo>
                <a:cubicBezTo>
                  <a:pt x="17509" y="21977"/>
                  <a:pt x="19454" y="22341"/>
                  <a:pt x="21034" y="23496"/>
                </a:cubicBezTo>
                <a:cubicBezTo>
                  <a:pt x="22645" y="24651"/>
                  <a:pt x="23618" y="26475"/>
                  <a:pt x="23679" y="28451"/>
                </a:cubicBezTo>
                <a:cubicBezTo>
                  <a:pt x="23679" y="28603"/>
                  <a:pt x="23679" y="28755"/>
                  <a:pt x="23679" y="28907"/>
                </a:cubicBezTo>
                <a:lnTo>
                  <a:pt x="28664" y="29089"/>
                </a:lnTo>
                <a:cubicBezTo>
                  <a:pt x="28664" y="28816"/>
                  <a:pt x="28664" y="28542"/>
                  <a:pt x="28664" y="28269"/>
                </a:cubicBezTo>
                <a:cubicBezTo>
                  <a:pt x="28542" y="24743"/>
                  <a:pt x="26840" y="21551"/>
                  <a:pt x="23983" y="19454"/>
                </a:cubicBezTo>
                <a:cubicBezTo>
                  <a:pt x="23496" y="19119"/>
                  <a:pt x="22980" y="18785"/>
                  <a:pt x="22433" y="18512"/>
                </a:cubicBezTo>
                <a:cubicBezTo>
                  <a:pt x="20974" y="17934"/>
                  <a:pt x="17448" y="17083"/>
                  <a:pt x="13618" y="17904"/>
                </a:cubicBezTo>
                <a:cubicBezTo>
                  <a:pt x="12372" y="18268"/>
                  <a:pt x="11034" y="18268"/>
                  <a:pt x="9818" y="17843"/>
                </a:cubicBezTo>
                <a:cubicBezTo>
                  <a:pt x="8177" y="17326"/>
                  <a:pt x="6870" y="16201"/>
                  <a:pt x="6080" y="14682"/>
                </a:cubicBezTo>
                <a:cubicBezTo>
                  <a:pt x="5289" y="13132"/>
                  <a:pt x="5168" y="11399"/>
                  <a:pt x="5685" y="9788"/>
                </a:cubicBezTo>
                <a:cubicBezTo>
                  <a:pt x="6232" y="8147"/>
                  <a:pt x="7356" y="6840"/>
                  <a:pt x="8876" y="6049"/>
                </a:cubicBezTo>
                <a:cubicBezTo>
                  <a:pt x="10396" y="5289"/>
                  <a:pt x="12128" y="5137"/>
                  <a:pt x="13770" y="5685"/>
                </a:cubicBezTo>
                <a:cubicBezTo>
                  <a:pt x="15016" y="6080"/>
                  <a:pt x="16110" y="6840"/>
                  <a:pt x="16901" y="7903"/>
                </a:cubicBezTo>
                <a:lnTo>
                  <a:pt x="20882" y="4894"/>
                </a:lnTo>
                <a:cubicBezTo>
                  <a:pt x="19454" y="3040"/>
                  <a:pt x="17539" y="1672"/>
                  <a:pt x="15290" y="943"/>
                </a:cubicBezTo>
                <a:cubicBezTo>
                  <a:pt x="12402" y="1"/>
                  <a:pt x="9332" y="244"/>
                  <a:pt x="6627" y="1612"/>
                </a:cubicBezTo>
                <a:cubicBezTo>
                  <a:pt x="6080" y="1885"/>
                  <a:pt x="5563" y="2220"/>
                  <a:pt x="5077" y="2554"/>
                </a:cubicBezTo>
                <a:cubicBezTo>
                  <a:pt x="3131" y="3982"/>
                  <a:pt x="1703" y="5928"/>
                  <a:pt x="943" y="8238"/>
                </a:cubicBezTo>
                <a:cubicBezTo>
                  <a:pt x="1" y="11125"/>
                  <a:pt x="244" y="14226"/>
                  <a:pt x="1642" y="16931"/>
                </a:cubicBezTo>
                <a:cubicBezTo>
                  <a:pt x="3010" y="19636"/>
                  <a:pt x="5381" y="21642"/>
                  <a:pt x="8268" y="2258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3"/>
          <p:cNvSpPr/>
          <p:nvPr/>
        </p:nvSpPr>
        <p:spPr>
          <a:xfrm flipH="1">
            <a:off x="809145" y="2130676"/>
            <a:ext cx="1566662" cy="2395226"/>
          </a:xfrm>
          <a:custGeom>
            <a:rect b="b" l="l" r="r" t="t"/>
            <a:pathLst>
              <a:path extrusionOk="0" h="35320" w="23102">
                <a:moveTo>
                  <a:pt x="20609" y="17235"/>
                </a:moveTo>
                <a:cubicBezTo>
                  <a:pt x="19211" y="15350"/>
                  <a:pt x="17326" y="13922"/>
                  <a:pt x="15108" y="13162"/>
                </a:cubicBezTo>
                <a:cubicBezTo>
                  <a:pt x="15016" y="13131"/>
                  <a:pt x="14895" y="13101"/>
                  <a:pt x="14773" y="13070"/>
                </a:cubicBezTo>
                <a:lnTo>
                  <a:pt x="14560" y="12979"/>
                </a:lnTo>
                <a:cubicBezTo>
                  <a:pt x="12767" y="12280"/>
                  <a:pt x="11399" y="10852"/>
                  <a:pt x="10791" y="8997"/>
                </a:cubicBezTo>
                <a:cubicBezTo>
                  <a:pt x="10183" y="7113"/>
                  <a:pt x="10457" y="5076"/>
                  <a:pt x="11551" y="3435"/>
                </a:cubicBezTo>
                <a:cubicBezTo>
                  <a:pt x="11642" y="3313"/>
                  <a:pt x="11734" y="3192"/>
                  <a:pt x="11825" y="3070"/>
                </a:cubicBezTo>
                <a:lnTo>
                  <a:pt x="7904" y="0"/>
                </a:lnTo>
                <a:cubicBezTo>
                  <a:pt x="7752" y="213"/>
                  <a:pt x="7569" y="426"/>
                  <a:pt x="7417" y="639"/>
                </a:cubicBezTo>
                <a:cubicBezTo>
                  <a:pt x="5472" y="3557"/>
                  <a:pt x="4955" y="7174"/>
                  <a:pt x="6050" y="10548"/>
                </a:cubicBezTo>
                <a:cubicBezTo>
                  <a:pt x="6232" y="11095"/>
                  <a:pt x="6475" y="11672"/>
                  <a:pt x="6749" y="12189"/>
                </a:cubicBezTo>
                <a:cubicBezTo>
                  <a:pt x="7569" y="13526"/>
                  <a:pt x="9940" y="16292"/>
                  <a:pt x="13497" y="17903"/>
                </a:cubicBezTo>
                <a:cubicBezTo>
                  <a:pt x="14743" y="18329"/>
                  <a:pt x="15807" y="19119"/>
                  <a:pt x="16567" y="20183"/>
                </a:cubicBezTo>
                <a:cubicBezTo>
                  <a:pt x="17570" y="21551"/>
                  <a:pt x="17965" y="23253"/>
                  <a:pt x="17691" y="24925"/>
                </a:cubicBezTo>
                <a:cubicBezTo>
                  <a:pt x="17448" y="26627"/>
                  <a:pt x="16536" y="28116"/>
                  <a:pt x="15138" y="29119"/>
                </a:cubicBezTo>
                <a:cubicBezTo>
                  <a:pt x="13770" y="30122"/>
                  <a:pt x="12068" y="30517"/>
                  <a:pt x="10366" y="30244"/>
                </a:cubicBezTo>
                <a:cubicBezTo>
                  <a:pt x="8694" y="29970"/>
                  <a:pt x="7205" y="29089"/>
                  <a:pt x="6202" y="27691"/>
                </a:cubicBezTo>
                <a:cubicBezTo>
                  <a:pt x="5411" y="26627"/>
                  <a:pt x="5016" y="25381"/>
                  <a:pt x="4986" y="24043"/>
                </a:cubicBezTo>
                <a:lnTo>
                  <a:pt x="1" y="24134"/>
                </a:lnTo>
                <a:cubicBezTo>
                  <a:pt x="31" y="26475"/>
                  <a:pt x="791" y="28724"/>
                  <a:pt x="2159" y="30639"/>
                </a:cubicBezTo>
                <a:cubicBezTo>
                  <a:pt x="3952" y="33071"/>
                  <a:pt x="6597" y="34712"/>
                  <a:pt x="9606" y="35168"/>
                </a:cubicBezTo>
                <a:cubicBezTo>
                  <a:pt x="10214" y="35259"/>
                  <a:pt x="10822" y="35320"/>
                  <a:pt x="11399" y="35320"/>
                </a:cubicBezTo>
                <a:cubicBezTo>
                  <a:pt x="13800" y="35320"/>
                  <a:pt x="16111" y="34560"/>
                  <a:pt x="18086" y="33132"/>
                </a:cubicBezTo>
                <a:cubicBezTo>
                  <a:pt x="20518" y="31369"/>
                  <a:pt x="22159" y="28724"/>
                  <a:pt x="22615" y="25715"/>
                </a:cubicBezTo>
                <a:cubicBezTo>
                  <a:pt x="23102" y="22706"/>
                  <a:pt x="22372" y="19697"/>
                  <a:pt x="20609" y="1723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3"/>
          <p:cNvSpPr/>
          <p:nvPr/>
        </p:nvSpPr>
        <p:spPr>
          <a:xfrm flipH="1">
            <a:off x="1435765" y="1124768"/>
            <a:ext cx="1618202" cy="1914960"/>
          </a:xfrm>
          <a:custGeom>
            <a:rect b="b" l="l" r="r" t="t"/>
            <a:pathLst>
              <a:path extrusionOk="0" h="28238" w="23862">
                <a:moveTo>
                  <a:pt x="23861" y="10882"/>
                </a:moveTo>
                <a:cubicBezTo>
                  <a:pt x="23709" y="10912"/>
                  <a:pt x="23527" y="10973"/>
                  <a:pt x="23345" y="11034"/>
                </a:cubicBezTo>
                <a:cubicBezTo>
                  <a:pt x="21186" y="11733"/>
                  <a:pt x="19302" y="13040"/>
                  <a:pt x="17934" y="14833"/>
                </a:cubicBezTo>
                <a:lnTo>
                  <a:pt x="17904" y="14833"/>
                </a:lnTo>
                <a:cubicBezTo>
                  <a:pt x="17904" y="14864"/>
                  <a:pt x="17873" y="14894"/>
                  <a:pt x="17843" y="14925"/>
                </a:cubicBezTo>
                <a:cubicBezTo>
                  <a:pt x="18542" y="13861"/>
                  <a:pt x="18907" y="12645"/>
                  <a:pt x="18907" y="11399"/>
                </a:cubicBezTo>
                <a:cubicBezTo>
                  <a:pt x="18907" y="9696"/>
                  <a:pt x="18238" y="8086"/>
                  <a:pt x="17022" y="6870"/>
                </a:cubicBezTo>
                <a:cubicBezTo>
                  <a:pt x="15806" y="5654"/>
                  <a:pt x="14195" y="4985"/>
                  <a:pt x="12493" y="4985"/>
                </a:cubicBezTo>
                <a:cubicBezTo>
                  <a:pt x="10791" y="4985"/>
                  <a:pt x="9180" y="5654"/>
                  <a:pt x="7964" y="6870"/>
                </a:cubicBezTo>
                <a:cubicBezTo>
                  <a:pt x="6749" y="8086"/>
                  <a:pt x="6080" y="9696"/>
                  <a:pt x="6080" y="11399"/>
                </a:cubicBezTo>
                <a:cubicBezTo>
                  <a:pt x="6080" y="12706"/>
                  <a:pt x="6475" y="13952"/>
                  <a:pt x="7235" y="15046"/>
                </a:cubicBezTo>
                <a:cubicBezTo>
                  <a:pt x="7235" y="15046"/>
                  <a:pt x="7265" y="15077"/>
                  <a:pt x="7265" y="15107"/>
                </a:cubicBezTo>
                <a:cubicBezTo>
                  <a:pt x="8755" y="17751"/>
                  <a:pt x="9271" y="20548"/>
                  <a:pt x="9363" y="22371"/>
                </a:cubicBezTo>
                <a:cubicBezTo>
                  <a:pt x="9393" y="22858"/>
                  <a:pt x="9363" y="23283"/>
                  <a:pt x="9363" y="23618"/>
                </a:cubicBezTo>
                <a:cubicBezTo>
                  <a:pt x="9271" y="24226"/>
                  <a:pt x="9119" y="24803"/>
                  <a:pt x="8937" y="25381"/>
                </a:cubicBezTo>
                <a:cubicBezTo>
                  <a:pt x="8603" y="26414"/>
                  <a:pt x="8147" y="27356"/>
                  <a:pt x="7539" y="28238"/>
                </a:cubicBezTo>
                <a:cubicBezTo>
                  <a:pt x="5776" y="27751"/>
                  <a:pt x="3010" y="27356"/>
                  <a:pt x="1" y="27964"/>
                </a:cubicBezTo>
                <a:cubicBezTo>
                  <a:pt x="122" y="27934"/>
                  <a:pt x="213" y="27903"/>
                  <a:pt x="305" y="27873"/>
                </a:cubicBezTo>
                <a:cubicBezTo>
                  <a:pt x="2159" y="27204"/>
                  <a:pt x="3587" y="25715"/>
                  <a:pt x="4195" y="23830"/>
                </a:cubicBezTo>
                <a:cubicBezTo>
                  <a:pt x="4803" y="21976"/>
                  <a:pt x="4530" y="20001"/>
                  <a:pt x="3466" y="18390"/>
                </a:cubicBezTo>
                <a:lnTo>
                  <a:pt x="3435" y="18329"/>
                </a:lnTo>
                <a:lnTo>
                  <a:pt x="3344" y="18207"/>
                </a:lnTo>
                <a:cubicBezTo>
                  <a:pt x="3283" y="18116"/>
                  <a:pt x="3253" y="18055"/>
                  <a:pt x="3192" y="17964"/>
                </a:cubicBezTo>
                <a:cubicBezTo>
                  <a:pt x="3192" y="17964"/>
                  <a:pt x="3162" y="17934"/>
                  <a:pt x="3162" y="17903"/>
                </a:cubicBezTo>
                <a:cubicBezTo>
                  <a:pt x="3101" y="17873"/>
                  <a:pt x="3071" y="17812"/>
                  <a:pt x="3040" y="17751"/>
                </a:cubicBezTo>
                <a:cubicBezTo>
                  <a:pt x="1764" y="15867"/>
                  <a:pt x="1095" y="13678"/>
                  <a:pt x="1095" y="11399"/>
                </a:cubicBezTo>
                <a:cubicBezTo>
                  <a:pt x="1095" y="11216"/>
                  <a:pt x="1095" y="11034"/>
                  <a:pt x="1125" y="10882"/>
                </a:cubicBezTo>
                <a:cubicBezTo>
                  <a:pt x="1247" y="8025"/>
                  <a:pt x="2402" y="5380"/>
                  <a:pt x="4438" y="3344"/>
                </a:cubicBezTo>
                <a:cubicBezTo>
                  <a:pt x="6597" y="1186"/>
                  <a:pt x="9454" y="0"/>
                  <a:pt x="12493" y="0"/>
                </a:cubicBezTo>
                <a:cubicBezTo>
                  <a:pt x="14925" y="0"/>
                  <a:pt x="17235" y="760"/>
                  <a:pt x="19150" y="2158"/>
                </a:cubicBezTo>
                <a:cubicBezTo>
                  <a:pt x="19636" y="2523"/>
                  <a:pt x="20092" y="2918"/>
                  <a:pt x="20548" y="3344"/>
                </a:cubicBezTo>
                <a:cubicBezTo>
                  <a:pt x="22554" y="5380"/>
                  <a:pt x="23740" y="8025"/>
                  <a:pt x="23861" y="108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3"/>
          <p:cNvSpPr/>
          <p:nvPr/>
        </p:nvSpPr>
        <p:spPr>
          <a:xfrm flipH="1">
            <a:off x="446337" y="1811197"/>
            <a:ext cx="2114946" cy="1517157"/>
          </a:xfrm>
          <a:custGeom>
            <a:rect b="b" l="l" r="r" t="t"/>
            <a:pathLst>
              <a:path extrusionOk="0" h="22372" w="31187">
                <a:moveTo>
                  <a:pt x="30457" y="15228"/>
                </a:moveTo>
                <a:cubicBezTo>
                  <a:pt x="30274" y="15806"/>
                  <a:pt x="30031" y="16353"/>
                  <a:pt x="29758" y="16900"/>
                </a:cubicBezTo>
                <a:cubicBezTo>
                  <a:pt x="28451" y="19453"/>
                  <a:pt x="26293" y="21399"/>
                  <a:pt x="23618" y="22371"/>
                </a:cubicBezTo>
                <a:cubicBezTo>
                  <a:pt x="23527" y="22250"/>
                  <a:pt x="23435" y="22098"/>
                  <a:pt x="23344" y="21946"/>
                </a:cubicBezTo>
                <a:cubicBezTo>
                  <a:pt x="22007" y="20122"/>
                  <a:pt x="20153" y="18724"/>
                  <a:pt x="18025" y="17964"/>
                </a:cubicBezTo>
                <a:lnTo>
                  <a:pt x="18025" y="17933"/>
                </a:lnTo>
                <a:cubicBezTo>
                  <a:pt x="17994" y="17933"/>
                  <a:pt x="17964" y="17903"/>
                  <a:pt x="17934" y="17903"/>
                </a:cubicBezTo>
                <a:cubicBezTo>
                  <a:pt x="19119" y="18237"/>
                  <a:pt x="20396" y="18207"/>
                  <a:pt x="21581" y="17812"/>
                </a:cubicBezTo>
                <a:cubicBezTo>
                  <a:pt x="23223" y="17295"/>
                  <a:pt x="24530" y="16170"/>
                  <a:pt x="25320" y="14651"/>
                </a:cubicBezTo>
                <a:cubicBezTo>
                  <a:pt x="26080" y="13101"/>
                  <a:pt x="26232" y="11368"/>
                  <a:pt x="25715" y="9757"/>
                </a:cubicBezTo>
                <a:cubicBezTo>
                  <a:pt x="25168" y="8116"/>
                  <a:pt x="24043" y="6809"/>
                  <a:pt x="22523" y="6018"/>
                </a:cubicBezTo>
                <a:cubicBezTo>
                  <a:pt x="21004" y="5258"/>
                  <a:pt x="19241" y="5106"/>
                  <a:pt x="17630" y="5654"/>
                </a:cubicBezTo>
                <a:cubicBezTo>
                  <a:pt x="16384" y="6049"/>
                  <a:pt x="15320" y="6809"/>
                  <a:pt x="14529" y="7842"/>
                </a:cubicBezTo>
                <a:cubicBezTo>
                  <a:pt x="14499" y="7872"/>
                  <a:pt x="14499" y="7872"/>
                  <a:pt x="14469" y="7903"/>
                </a:cubicBezTo>
                <a:cubicBezTo>
                  <a:pt x="12402" y="10152"/>
                  <a:pt x="9940" y="11490"/>
                  <a:pt x="8237" y="12128"/>
                </a:cubicBezTo>
                <a:cubicBezTo>
                  <a:pt x="7751" y="12310"/>
                  <a:pt x="7356" y="12432"/>
                  <a:pt x="7022" y="12523"/>
                </a:cubicBezTo>
                <a:cubicBezTo>
                  <a:pt x="6414" y="12614"/>
                  <a:pt x="5836" y="12675"/>
                  <a:pt x="5228" y="12675"/>
                </a:cubicBezTo>
                <a:cubicBezTo>
                  <a:pt x="4134" y="12675"/>
                  <a:pt x="3101" y="12523"/>
                  <a:pt x="2098" y="12249"/>
                </a:cubicBezTo>
                <a:cubicBezTo>
                  <a:pt x="2006" y="10426"/>
                  <a:pt x="1490" y="7660"/>
                  <a:pt x="0" y="4985"/>
                </a:cubicBezTo>
                <a:cubicBezTo>
                  <a:pt x="61" y="5076"/>
                  <a:pt x="122" y="5137"/>
                  <a:pt x="183" y="5228"/>
                </a:cubicBezTo>
                <a:cubicBezTo>
                  <a:pt x="1398" y="6778"/>
                  <a:pt x="3222" y="7690"/>
                  <a:pt x="5228" y="7690"/>
                </a:cubicBezTo>
                <a:cubicBezTo>
                  <a:pt x="7174" y="7690"/>
                  <a:pt x="8967" y="6839"/>
                  <a:pt x="10183" y="5319"/>
                </a:cubicBezTo>
                <a:lnTo>
                  <a:pt x="10244" y="5258"/>
                </a:lnTo>
                <a:lnTo>
                  <a:pt x="10335" y="5137"/>
                </a:lnTo>
                <a:cubicBezTo>
                  <a:pt x="10396" y="5046"/>
                  <a:pt x="10456" y="4985"/>
                  <a:pt x="10487" y="4894"/>
                </a:cubicBezTo>
                <a:cubicBezTo>
                  <a:pt x="10517" y="4894"/>
                  <a:pt x="10517" y="4894"/>
                  <a:pt x="10517" y="4863"/>
                </a:cubicBezTo>
                <a:cubicBezTo>
                  <a:pt x="10578" y="4803"/>
                  <a:pt x="10608" y="4772"/>
                  <a:pt x="10669" y="4711"/>
                </a:cubicBezTo>
                <a:cubicBezTo>
                  <a:pt x="12037" y="2918"/>
                  <a:pt x="13921" y="1611"/>
                  <a:pt x="16080" y="912"/>
                </a:cubicBezTo>
                <a:cubicBezTo>
                  <a:pt x="16262" y="851"/>
                  <a:pt x="16444" y="790"/>
                  <a:pt x="16596" y="760"/>
                </a:cubicBezTo>
                <a:cubicBezTo>
                  <a:pt x="19332" y="0"/>
                  <a:pt x="22219" y="274"/>
                  <a:pt x="24773" y="1581"/>
                </a:cubicBezTo>
                <a:cubicBezTo>
                  <a:pt x="27478" y="2979"/>
                  <a:pt x="29514" y="5319"/>
                  <a:pt x="30457" y="8207"/>
                </a:cubicBezTo>
                <a:cubicBezTo>
                  <a:pt x="31186" y="10517"/>
                  <a:pt x="31186" y="12949"/>
                  <a:pt x="30457" y="152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/>
          <p:nvPr/>
        </p:nvSpPr>
        <p:spPr>
          <a:xfrm flipH="1">
            <a:off x="1464662" y="3027332"/>
            <a:ext cx="2137597" cy="1521294"/>
          </a:xfrm>
          <a:custGeom>
            <a:rect b="b" l="l" r="r" t="t"/>
            <a:pathLst>
              <a:path extrusionOk="0" h="22433" w="31521">
                <a:moveTo>
                  <a:pt x="31521" y="4651"/>
                </a:moveTo>
                <a:cubicBezTo>
                  <a:pt x="31430" y="4621"/>
                  <a:pt x="31338" y="4590"/>
                  <a:pt x="31247" y="4560"/>
                </a:cubicBezTo>
                <a:cubicBezTo>
                  <a:pt x="29332" y="4013"/>
                  <a:pt x="27326" y="4347"/>
                  <a:pt x="25715" y="5532"/>
                </a:cubicBezTo>
                <a:cubicBezTo>
                  <a:pt x="24135" y="6657"/>
                  <a:pt x="23192" y="8420"/>
                  <a:pt x="23071" y="10365"/>
                </a:cubicBezTo>
                <a:lnTo>
                  <a:pt x="23071" y="10426"/>
                </a:lnTo>
                <a:lnTo>
                  <a:pt x="23071" y="10426"/>
                </a:lnTo>
                <a:lnTo>
                  <a:pt x="23071" y="10578"/>
                </a:lnTo>
                <a:cubicBezTo>
                  <a:pt x="23071" y="10669"/>
                  <a:pt x="23071" y="10760"/>
                  <a:pt x="23071" y="10821"/>
                </a:cubicBezTo>
                <a:lnTo>
                  <a:pt x="23071" y="10852"/>
                </a:lnTo>
                <a:cubicBezTo>
                  <a:pt x="23071" y="10882"/>
                  <a:pt x="23071" y="10912"/>
                  <a:pt x="23071" y="10912"/>
                </a:cubicBezTo>
                <a:cubicBezTo>
                  <a:pt x="23071" y="11004"/>
                  <a:pt x="23071" y="11064"/>
                  <a:pt x="23071" y="11125"/>
                </a:cubicBezTo>
                <a:cubicBezTo>
                  <a:pt x="22980" y="13405"/>
                  <a:pt x="22250" y="15563"/>
                  <a:pt x="20913" y="17417"/>
                </a:cubicBezTo>
                <a:cubicBezTo>
                  <a:pt x="20791" y="17539"/>
                  <a:pt x="20700" y="17691"/>
                  <a:pt x="20578" y="17812"/>
                </a:cubicBezTo>
                <a:cubicBezTo>
                  <a:pt x="18815" y="20061"/>
                  <a:pt x="16293" y="21490"/>
                  <a:pt x="13466" y="21946"/>
                </a:cubicBezTo>
                <a:cubicBezTo>
                  <a:pt x="10457" y="22432"/>
                  <a:pt x="7447" y="21703"/>
                  <a:pt x="4985" y="19910"/>
                </a:cubicBezTo>
                <a:cubicBezTo>
                  <a:pt x="3040" y="18511"/>
                  <a:pt x="1611" y="16536"/>
                  <a:pt x="851" y="14256"/>
                </a:cubicBezTo>
                <a:cubicBezTo>
                  <a:pt x="669" y="13678"/>
                  <a:pt x="548" y="13101"/>
                  <a:pt x="426" y="12493"/>
                </a:cubicBezTo>
                <a:cubicBezTo>
                  <a:pt x="0" y="9666"/>
                  <a:pt x="608" y="6839"/>
                  <a:pt x="2159" y="4438"/>
                </a:cubicBezTo>
                <a:cubicBezTo>
                  <a:pt x="2341" y="4529"/>
                  <a:pt x="2493" y="4560"/>
                  <a:pt x="2675" y="4621"/>
                </a:cubicBezTo>
                <a:cubicBezTo>
                  <a:pt x="4833" y="5320"/>
                  <a:pt x="7113" y="5380"/>
                  <a:pt x="9301" y="4742"/>
                </a:cubicBezTo>
                <a:lnTo>
                  <a:pt x="9301" y="4742"/>
                </a:lnTo>
                <a:cubicBezTo>
                  <a:pt x="9332" y="4742"/>
                  <a:pt x="9393" y="4742"/>
                  <a:pt x="9423" y="4712"/>
                </a:cubicBezTo>
                <a:cubicBezTo>
                  <a:pt x="8238" y="5168"/>
                  <a:pt x="7235" y="5928"/>
                  <a:pt x="6505" y="6931"/>
                </a:cubicBezTo>
                <a:cubicBezTo>
                  <a:pt x="5502" y="8329"/>
                  <a:pt x="5107" y="10031"/>
                  <a:pt x="5350" y="11703"/>
                </a:cubicBezTo>
                <a:cubicBezTo>
                  <a:pt x="5624" y="13405"/>
                  <a:pt x="6535" y="14894"/>
                  <a:pt x="7934" y="15897"/>
                </a:cubicBezTo>
                <a:cubicBezTo>
                  <a:pt x="9301" y="16900"/>
                  <a:pt x="11004" y="17295"/>
                  <a:pt x="12675" y="17022"/>
                </a:cubicBezTo>
                <a:cubicBezTo>
                  <a:pt x="14378" y="16748"/>
                  <a:pt x="15867" y="15867"/>
                  <a:pt x="16870" y="14469"/>
                </a:cubicBezTo>
                <a:cubicBezTo>
                  <a:pt x="17630" y="13405"/>
                  <a:pt x="18055" y="12159"/>
                  <a:pt x="18086" y="10882"/>
                </a:cubicBezTo>
                <a:cubicBezTo>
                  <a:pt x="18086" y="10852"/>
                  <a:pt x="18086" y="10821"/>
                  <a:pt x="18086" y="10791"/>
                </a:cubicBezTo>
                <a:lnTo>
                  <a:pt x="18086" y="10791"/>
                </a:lnTo>
                <a:cubicBezTo>
                  <a:pt x="18451" y="7751"/>
                  <a:pt x="19666" y="5228"/>
                  <a:pt x="20669" y="3678"/>
                </a:cubicBezTo>
                <a:cubicBezTo>
                  <a:pt x="20943" y="3283"/>
                  <a:pt x="21186" y="2918"/>
                  <a:pt x="21399" y="2675"/>
                </a:cubicBezTo>
                <a:cubicBezTo>
                  <a:pt x="21825" y="2250"/>
                  <a:pt x="22280" y="1855"/>
                  <a:pt x="22767" y="1490"/>
                </a:cubicBezTo>
                <a:cubicBezTo>
                  <a:pt x="23648" y="851"/>
                  <a:pt x="24591" y="365"/>
                  <a:pt x="25563" y="0"/>
                </a:cubicBezTo>
                <a:cubicBezTo>
                  <a:pt x="26718" y="1429"/>
                  <a:pt x="28755" y="3374"/>
                  <a:pt x="31521" y="465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3"/>
          <p:cNvSpPr txBox="1"/>
          <p:nvPr/>
        </p:nvSpPr>
        <p:spPr>
          <a:xfrm>
            <a:off x="6768813" y="1563125"/>
            <a:ext cx="18732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4560025" y="1467125"/>
            <a:ext cx="2263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4537B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Lack of similar project knowledge</a:t>
            </a:r>
            <a:endParaRPr>
              <a:solidFill>
                <a:srgbClr val="34537B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6824463" y="2324875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6833563" y="2790163"/>
            <a:ext cx="18732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4537B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Iterative cost estimation</a:t>
            </a:r>
            <a:endParaRPr>
              <a:solidFill>
                <a:srgbClr val="34537B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216" name="Google Shape;216;p33"/>
          <p:cNvCxnSpPr/>
          <p:nvPr/>
        </p:nvCxnSpPr>
        <p:spPr>
          <a:xfrm>
            <a:off x="4560033" y="3632175"/>
            <a:ext cx="0" cy="1057200"/>
          </a:xfrm>
          <a:prstGeom prst="straightConnector1">
            <a:avLst/>
          </a:prstGeom>
          <a:noFill/>
          <a:ln cap="flat" cmpd="sng" w="38100">
            <a:solidFill>
              <a:srgbClr val="4583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33"/>
          <p:cNvSpPr txBox="1"/>
          <p:nvPr/>
        </p:nvSpPr>
        <p:spPr>
          <a:xfrm>
            <a:off x="4636113" y="2384100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1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18" name="Google Shape;218;p33"/>
          <p:cNvSpPr txBox="1"/>
          <p:nvPr/>
        </p:nvSpPr>
        <p:spPr>
          <a:xfrm>
            <a:off x="4636113" y="3618913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45839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100">
              <a:solidFill>
                <a:srgbClr val="45839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6833563" y="1217938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45839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100">
              <a:solidFill>
                <a:srgbClr val="45839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6899463" y="2417863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05</a:t>
            </a:r>
            <a:endParaRPr sz="21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221" name="Google Shape;221;p33"/>
          <p:cNvCxnSpPr/>
          <p:nvPr/>
        </p:nvCxnSpPr>
        <p:spPr>
          <a:xfrm>
            <a:off x="4560033" y="2405125"/>
            <a:ext cx="0" cy="1057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33"/>
          <p:cNvCxnSpPr/>
          <p:nvPr/>
        </p:nvCxnSpPr>
        <p:spPr>
          <a:xfrm>
            <a:off x="4560033" y="1180800"/>
            <a:ext cx="0" cy="1057200"/>
          </a:xfrm>
          <a:prstGeom prst="straightConnector1">
            <a:avLst/>
          </a:prstGeom>
          <a:noFill/>
          <a:ln cap="flat" cmpd="sng" w="38100">
            <a:solidFill>
              <a:srgbClr val="45839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33"/>
          <p:cNvCxnSpPr/>
          <p:nvPr/>
        </p:nvCxnSpPr>
        <p:spPr>
          <a:xfrm>
            <a:off x="6740533" y="2324875"/>
            <a:ext cx="0" cy="1057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33"/>
          <p:cNvCxnSpPr/>
          <p:nvPr/>
        </p:nvCxnSpPr>
        <p:spPr>
          <a:xfrm>
            <a:off x="6768833" y="1178075"/>
            <a:ext cx="0" cy="1057200"/>
          </a:xfrm>
          <a:prstGeom prst="straightConnector1">
            <a:avLst/>
          </a:prstGeom>
          <a:noFill/>
          <a:ln cap="flat" cmpd="sng" w="38100">
            <a:solidFill>
              <a:srgbClr val="4583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33"/>
          <p:cNvSpPr txBox="1"/>
          <p:nvPr/>
        </p:nvSpPr>
        <p:spPr>
          <a:xfrm>
            <a:off x="4603738" y="1149275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45839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100">
              <a:solidFill>
                <a:srgbClr val="45839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26" name="Google Shape;226;p33"/>
          <p:cNvSpPr/>
          <p:nvPr/>
        </p:nvSpPr>
        <p:spPr>
          <a:xfrm>
            <a:off x="1053079" y="2436056"/>
            <a:ext cx="349457" cy="349427"/>
          </a:xfrm>
          <a:custGeom>
            <a:rect b="b" l="l" r="r" t="t"/>
            <a:pathLst>
              <a:path extrusionOk="0" h="11846" w="11847">
                <a:moveTo>
                  <a:pt x="10744" y="3718"/>
                </a:moveTo>
                <a:lnTo>
                  <a:pt x="10428" y="4348"/>
                </a:lnTo>
                <a:cubicBezTo>
                  <a:pt x="10397" y="4442"/>
                  <a:pt x="10397" y="4568"/>
                  <a:pt x="10428" y="4663"/>
                </a:cubicBezTo>
                <a:lnTo>
                  <a:pt x="10744" y="5293"/>
                </a:lnTo>
                <a:lnTo>
                  <a:pt x="9483" y="4915"/>
                </a:lnTo>
                <a:lnTo>
                  <a:pt x="9105" y="4505"/>
                </a:lnTo>
                <a:lnTo>
                  <a:pt x="9483" y="4127"/>
                </a:lnTo>
                <a:lnTo>
                  <a:pt x="10744" y="3718"/>
                </a:lnTo>
                <a:close/>
                <a:moveTo>
                  <a:pt x="4443" y="3497"/>
                </a:moveTo>
                <a:cubicBezTo>
                  <a:pt x="4884" y="3497"/>
                  <a:pt x="5262" y="3781"/>
                  <a:pt x="5419" y="4190"/>
                </a:cubicBezTo>
                <a:lnTo>
                  <a:pt x="4443" y="4190"/>
                </a:lnTo>
                <a:cubicBezTo>
                  <a:pt x="4253" y="4190"/>
                  <a:pt x="4096" y="4348"/>
                  <a:pt x="4096" y="4568"/>
                </a:cubicBezTo>
                <a:cubicBezTo>
                  <a:pt x="4096" y="4663"/>
                  <a:pt x="4253" y="4820"/>
                  <a:pt x="4443" y="4820"/>
                </a:cubicBezTo>
                <a:lnTo>
                  <a:pt x="5419" y="4820"/>
                </a:lnTo>
                <a:cubicBezTo>
                  <a:pt x="5262" y="5230"/>
                  <a:pt x="4915" y="5545"/>
                  <a:pt x="4443" y="5545"/>
                </a:cubicBezTo>
                <a:cubicBezTo>
                  <a:pt x="3844" y="5545"/>
                  <a:pt x="3434" y="5072"/>
                  <a:pt x="3434" y="4505"/>
                </a:cubicBezTo>
                <a:cubicBezTo>
                  <a:pt x="3434" y="3970"/>
                  <a:pt x="3907" y="3497"/>
                  <a:pt x="4443" y="3497"/>
                </a:cubicBezTo>
                <a:close/>
                <a:moveTo>
                  <a:pt x="4443" y="2080"/>
                </a:moveTo>
                <a:cubicBezTo>
                  <a:pt x="5671" y="2080"/>
                  <a:pt x="6679" y="2993"/>
                  <a:pt x="6837" y="4159"/>
                </a:cubicBezTo>
                <a:lnTo>
                  <a:pt x="6144" y="4159"/>
                </a:lnTo>
                <a:cubicBezTo>
                  <a:pt x="5986" y="3371"/>
                  <a:pt x="5262" y="2773"/>
                  <a:pt x="4443" y="2773"/>
                </a:cubicBezTo>
                <a:cubicBezTo>
                  <a:pt x="3497" y="2773"/>
                  <a:pt x="2710" y="3560"/>
                  <a:pt x="2710" y="4505"/>
                </a:cubicBezTo>
                <a:cubicBezTo>
                  <a:pt x="2710" y="5451"/>
                  <a:pt x="3497" y="6238"/>
                  <a:pt x="4443" y="6238"/>
                </a:cubicBezTo>
                <a:cubicBezTo>
                  <a:pt x="5262" y="6238"/>
                  <a:pt x="5986" y="5671"/>
                  <a:pt x="6144" y="4883"/>
                </a:cubicBezTo>
                <a:lnTo>
                  <a:pt x="6837" y="4883"/>
                </a:lnTo>
                <a:cubicBezTo>
                  <a:pt x="6679" y="6049"/>
                  <a:pt x="5671" y="6963"/>
                  <a:pt x="4443" y="6963"/>
                </a:cubicBezTo>
                <a:cubicBezTo>
                  <a:pt x="3119" y="6963"/>
                  <a:pt x="2017" y="5860"/>
                  <a:pt x="2017" y="4505"/>
                </a:cubicBezTo>
                <a:cubicBezTo>
                  <a:pt x="2017" y="3182"/>
                  <a:pt x="3119" y="2080"/>
                  <a:pt x="4443" y="2080"/>
                </a:cubicBezTo>
                <a:close/>
                <a:moveTo>
                  <a:pt x="4474" y="662"/>
                </a:moveTo>
                <a:cubicBezTo>
                  <a:pt x="6459" y="662"/>
                  <a:pt x="8097" y="2206"/>
                  <a:pt x="8255" y="4127"/>
                </a:cubicBezTo>
                <a:lnTo>
                  <a:pt x="7562" y="4127"/>
                </a:lnTo>
                <a:cubicBezTo>
                  <a:pt x="7372" y="2584"/>
                  <a:pt x="6049" y="1355"/>
                  <a:pt x="4443" y="1355"/>
                </a:cubicBezTo>
                <a:cubicBezTo>
                  <a:pt x="2710" y="1355"/>
                  <a:pt x="1324" y="2773"/>
                  <a:pt x="1324" y="4474"/>
                </a:cubicBezTo>
                <a:cubicBezTo>
                  <a:pt x="1324" y="6175"/>
                  <a:pt x="2741" y="7593"/>
                  <a:pt x="4443" y="7593"/>
                </a:cubicBezTo>
                <a:cubicBezTo>
                  <a:pt x="6049" y="7593"/>
                  <a:pt x="7372" y="6364"/>
                  <a:pt x="7562" y="4820"/>
                </a:cubicBezTo>
                <a:lnTo>
                  <a:pt x="8255" y="4820"/>
                </a:lnTo>
                <a:cubicBezTo>
                  <a:pt x="8097" y="6774"/>
                  <a:pt x="6459" y="8286"/>
                  <a:pt x="4474" y="8286"/>
                </a:cubicBezTo>
                <a:cubicBezTo>
                  <a:pt x="2395" y="8286"/>
                  <a:pt x="662" y="6616"/>
                  <a:pt x="662" y="4474"/>
                </a:cubicBezTo>
                <a:cubicBezTo>
                  <a:pt x="662" y="2363"/>
                  <a:pt x="2363" y="662"/>
                  <a:pt x="4474" y="662"/>
                </a:cubicBezTo>
                <a:close/>
                <a:moveTo>
                  <a:pt x="5734" y="8822"/>
                </a:moveTo>
                <a:lnTo>
                  <a:pt x="6049" y="9767"/>
                </a:lnTo>
                <a:lnTo>
                  <a:pt x="2836" y="9767"/>
                </a:lnTo>
                <a:lnTo>
                  <a:pt x="3151" y="8822"/>
                </a:lnTo>
                <a:cubicBezTo>
                  <a:pt x="3529" y="8916"/>
                  <a:pt x="4001" y="9011"/>
                  <a:pt x="4443" y="9011"/>
                </a:cubicBezTo>
                <a:cubicBezTo>
                  <a:pt x="4884" y="9011"/>
                  <a:pt x="5356" y="8916"/>
                  <a:pt x="5734" y="8822"/>
                </a:cubicBezTo>
                <a:close/>
                <a:moveTo>
                  <a:pt x="6522" y="10428"/>
                </a:moveTo>
                <a:cubicBezTo>
                  <a:pt x="6963" y="10428"/>
                  <a:pt x="7372" y="10680"/>
                  <a:pt x="7530" y="11121"/>
                </a:cubicBezTo>
                <a:lnTo>
                  <a:pt x="1418" y="11121"/>
                </a:lnTo>
                <a:cubicBezTo>
                  <a:pt x="1576" y="10743"/>
                  <a:pt x="1922" y="10428"/>
                  <a:pt x="2395" y="10428"/>
                </a:cubicBezTo>
                <a:close/>
                <a:moveTo>
                  <a:pt x="4474" y="0"/>
                </a:moveTo>
                <a:cubicBezTo>
                  <a:pt x="1985" y="0"/>
                  <a:pt x="0" y="1985"/>
                  <a:pt x="0" y="4474"/>
                </a:cubicBezTo>
                <a:cubicBezTo>
                  <a:pt x="0" y="6238"/>
                  <a:pt x="1040" y="7813"/>
                  <a:pt x="2552" y="8538"/>
                </a:cubicBezTo>
                <a:lnTo>
                  <a:pt x="2143" y="9767"/>
                </a:lnTo>
                <a:cubicBezTo>
                  <a:pt x="1324" y="9861"/>
                  <a:pt x="693" y="10586"/>
                  <a:pt x="693" y="11499"/>
                </a:cubicBezTo>
                <a:cubicBezTo>
                  <a:pt x="693" y="11688"/>
                  <a:pt x="851" y="11846"/>
                  <a:pt x="1040" y="11846"/>
                </a:cubicBezTo>
                <a:lnTo>
                  <a:pt x="7971" y="11846"/>
                </a:lnTo>
                <a:cubicBezTo>
                  <a:pt x="8192" y="11846"/>
                  <a:pt x="8349" y="11688"/>
                  <a:pt x="8349" y="11499"/>
                </a:cubicBezTo>
                <a:cubicBezTo>
                  <a:pt x="8349" y="10617"/>
                  <a:pt x="7719" y="9924"/>
                  <a:pt x="6900" y="9767"/>
                </a:cubicBezTo>
                <a:lnTo>
                  <a:pt x="6490" y="8538"/>
                </a:lnTo>
                <a:cubicBezTo>
                  <a:pt x="7782" y="7908"/>
                  <a:pt x="8727" y="6679"/>
                  <a:pt x="8979" y="5230"/>
                </a:cubicBezTo>
                <a:lnTo>
                  <a:pt x="9137" y="5388"/>
                </a:lnTo>
                <a:cubicBezTo>
                  <a:pt x="9168" y="5419"/>
                  <a:pt x="9200" y="5451"/>
                  <a:pt x="9263" y="5451"/>
                </a:cubicBezTo>
                <a:lnTo>
                  <a:pt x="11374" y="6175"/>
                </a:lnTo>
                <a:cubicBezTo>
                  <a:pt x="11403" y="6183"/>
                  <a:pt x="11435" y="6186"/>
                  <a:pt x="11466" y="6186"/>
                </a:cubicBezTo>
                <a:cubicBezTo>
                  <a:pt x="11569" y="6186"/>
                  <a:pt x="11672" y="6145"/>
                  <a:pt x="11720" y="6049"/>
                </a:cubicBezTo>
                <a:cubicBezTo>
                  <a:pt x="11815" y="5923"/>
                  <a:pt x="11846" y="5766"/>
                  <a:pt x="11783" y="5671"/>
                </a:cubicBezTo>
                <a:lnTo>
                  <a:pt x="11153" y="4442"/>
                </a:lnTo>
                <a:lnTo>
                  <a:pt x="11783" y="3214"/>
                </a:lnTo>
                <a:cubicBezTo>
                  <a:pt x="11815" y="3151"/>
                  <a:pt x="11783" y="2993"/>
                  <a:pt x="11689" y="2899"/>
                </a:cubicBezTo>
                <a:cubicBezTo>
                  <a:pt x="11641" y="2802"/>
                  <a:pt x="11519" y="2761"/>
                  <a:pt x="11422" y="2761"/>
                </a:cubicBezTo>
                <a:cubicBezTo>
                  <a:pt x="11392" y="2761"/>
                  <a:pt x="11364" y="2765"/>
                  <a:pt x="11342" y="2773"/>
                </a:cubicBezTo>
                <a:lnTo>
                  <a:pt x="9200" y="3497"/>
                </a:lnTo>
                <a:cubicBezTo>
                  <a:pt x="9168" y="3497"/>
                  <a:pt x="9105" y="3529"/>
                  <a:pt x="9105" y="3560"/>
                </a:cubicBezTo>
                <a:lnTo>
                  <a:pt x="8916" y="3718"/>
                </a:lnTo>
                <a:cubicBezTo>
                  <a:pt x="8570" y="1607"/>
                  <a:pt x="6742" y="0"/>
                  <a:pt x="447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" name="Google Shape;227;p33"/>
          <p:cNvGrpSpPr/>
          <p:nvPr/>
        </p:nvGrpSpPr>
        <p:grpSpPr>
          <a:xfrm>
            <a:off x="2029297" y="1775991"/>
            <a:ext cx="350371" cy="224918"/>
            <a:chOff x="5411225" y="2726350"/>
            <a:chExt cx="296950" cy="190625"/>
          </a:xfrm>
        </p:grpSpPr>
        <p:sp>
          <p:nvSpPr>
            <p:cNvPr id="228" name="Google Shape;228;p33"/>
            <p:cNvSpPr/>
            <p:nvPr/>
          </p:nvSpPr>
          <p:spPr>
            <a:xfrm>
              <a:off x="5534100" y="2794875"/>
              <a:ext cx="52000" cy="51225"/>
            </a:xfrm>
            <a:custGeom>
              <a:rect b="b" l="l" r="r" t="t"/>
              <a:pathLst>
                <a:path extrusionOk="0" h="2049" w="2080">
                  <a:moveTo>
                    <a:pt x="1009" y="662"/>
                  </a:moveTo>
                  <a:cubicBezTo>
                    <a:pt x="1229" y="662"/>
                    <a:pt x="1387" y="851"/>
                    <a:pt x="1387" y="1040"/>
                  </a:cubicBezTo>
                  <a:cubicBezTo>
                    <a:pt x="1387" y="1229"/>
                    <a:pt x="1229" y="1387"/>
                    <a:pt x="1009" y="1387"/>
                  </a:cubicBezTo>
                  <a:cubicBezTo>
                    <a:pt x="819" y="1387"/>
                    <a:pt x="662" y="1229"/>
                    <a:pt x="662" y="1040"/>
                  </a:cubicBezTo>
                  <a:cubicBezTo>
                    <a:pt x="662" y="851"/>
                    <a:pt x="819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09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80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3"/>
            <p:cNvSpPr/>
            <p:nvPr/>
          </p:nvSpPr>
          <p:spPr>
            <a:xfrm>
              <a:off x="5411225" y="2726350"/>
              <a:ext cx="296950" cy="190625"/>
            </a:xfrm>
            <a:custGeom>
              <a:rect b="b" l="l" r="r" t="t"/>
              <a:pathLst>
                <a:path extrusionOk="0" h="7625" w="11878">
                  <a:moveTo>
                    <a:pt x="5924" y="662"/>
                  </a:moveTo>
                  <a:cubicBezTo>
                    <a:pt x="7404" y="662"/>
                    <a:pt x="8759" y="1576"/>
                    <a:pt x="9641" y="2332"/>
                  </a:cubicBezTo>
                  <a:cubicBezTo>
                    <a:pt x="9736" y="2395"/>
                    <a:pt x="9830" y="2489"/>
                    <a:pt x="9925" y="2584"/>
                  </a:cubicBezTo>
                  <a:cubicBezTo>
                    <a:pt x="8696" y="2080"/>
                    <a:pt x="7278" y="1733"/>
                    <a:pt x="5924" y="1733"/>
                  </a:cubicBezTo>
                  <a:cubicBezTo>
                    <a:pt x="4569" y="1733"/>
                    <a:pt x="3183" y="2080"/>
                    <a:pt x="1954" y="2584"/>
                  </a:cubicBezTo>
                  <a:cubicBezTo>
                    <a:pt x="2048" y="2521"/>
                    <a:pt x="2111" y="2458"/>
                    <a:pt x="2206" y="2395"/>
                  </a:cubicBezTo>
                  <a:cubicBezTo>
                    <a:pt x="3151" y="1544"/>
                    <a:pt x="4474" y="662"/>
                    <a:pt x="5924" y="662"/>
                  </a:cubicBezTo>
                  <a:close/>
                  <a:moveTo>
                    <a:pt x="5924" y="2426"/>
                  </a:moveTo>
                  <a:cubicBezTo>
                    <a:pt x="6333" y="2426"/>
                    <a:pt x="6711" y="2489"/>
                    <a:pt x="7089" y="2521"/>
                  </a:cubicBezTo>
                  <a:cubicBezTo>
                    <a:pt x="7467" y="2836"/>
                    <a:pt x="7656" y="3308"/>
                    <a:pt x="7656" y="3813"/>
                  </a:cubicBezTo>
                  <a:cubicBezTo>
                    <a:pt x="7656" y="4758"/>
                    <a:pt x="6869" y="5545"/>
                    <a:pt x="5924" y="5545"/>
                  </a:cubicBezTo>
                  <a:cubicBezTo>
                    <a:pt x="4978" y="5545"/>
                    <a:pt x="4191" y="4758"/>
                    <a:pt x="4191" y="3813"/>
                  </a:cubicBezTo>
                  <a:cubicBezTo>
                    <a:pt x="4191" y="3308"/>
                    <a:pt x="4411" y="2836"/>
                    <a:pt x="4789" y="2521"/>
                  </a:cubicBezTo>
                  <a:cubicBezTo>
                    <a:pt x="5136" y="2489"/>
                    <a:pt x="5545" y="2426"/>
                    <a:pt x="5924" y="2426"/>
                  </a:cubicBezTo>
                  <a:close/>
                  <a:moveTo>
                    <a:pt x="3781" y="2710"/>
                  </a:moveTo>
                  <a:lnTo>
                    <a:pt x="3781" y="2710"/>
                  </a:lnTo>
                  <a:cubicBezTo>
                    <a:pt x="3624" y="3056"/>
                    <a:pt x="3498" y="3434"/>
                    <a:pt x="3498" y="3813"/>
                  </a:cubicBezTo>
                  <a:cubicBezTo>
                    <a:pt x="3498" y="5167"/>
                    <a:pt x="4600" y="6270"/>
                    <a:pt x="5924" y="6270"/>
                  </a:cubicBezTo>
                  <a:cubicBezTo>
                    <a:pt x="7278" y="6270"/>
                    <a:pt x="8381" y="5167"/>
                    <a:pt x="8381" y="3813"/>
                  </a:cubicBezTo>
                  <a:cubicBezTo>
                    <a:pt x="8381" y="3434"/>
                    <a:pt x="8286" y="3056"/>
                    <a:pt x="8097" y="2710"/>
                  </a:cubicBezTo>
                  <a:lnTo>
                    <a:pt x="8097" y="2710"/>
                  </a:lnTo>
                  <a:cubicBezTo>
                    <a:pt x="9137" y="2993"/>
                    <a:pt x="10145" y="3434"/>
                    <a:pt x="11027" y="3907"/>
                  </a:cubicBezTo>
                  <a:cubicBezTo>
                    <a:pt x="10744" y="4222"/>
                    <a:pt x="10240" y="4789"/>
                    <a:pt x="9547" y="5356"/>
                  </a:cubicBezTo>
                  <a:cubicBezTo>
                    <a:pt x="8601" y="6144"/>
                    <a:pt x="7310" y="6932"/>
                    <a:pt x="5924" y="6932"/>
                  </a:cubicBezTo>
                  <a:cubicBezTo>
                    <a:pt x="4474" y="6932"/>
                    <a:pt x="3088" y="6018"/>
                    <a:pt x="2237" y="5262"/>
                  </a:cubicBezTo>
                  <a:cubicBezTo>
                    <a:pt x="1607" y="4726"/>
                    <a:pt x="1135" y="4222"/>
                    <a:pt x="851" y="3907"/>
                  </a:cubicBezTo>
                  <a:cubicBezTo>
                    <a:pt x="1733" y="3371"/>
                    <a:pt x="2710" y="2962"/>
                    <a:pt x="3781" y="2710"/>
                  </a:cubicBezTo>
                  <a:close/>
                  <a:moveTo>
                    <a:pt x="5924" y="0"/>
                  </a:moveTo>
                  <a:cubicBezTo>
                    <a:pt x="4411" y="0"/>
                    <a:pt x="2931" y="820"/>
                    <a:pt x="1765" y="1796"/>
                  </a:cubicBezTo>
                  <a:cubicBezTo>
                    <a:pt x="725" y="2678"/>
                    <a:pt x="95" y="3592"/>
                    <a:pt x="64" y="3624"/>
                  </a:cubicBezTo>
                  <a:cubicBezTo>
                    <a:pt x="1" y="3750"/>
                    <a:pt x="1" y="3907"/>
                    <a:pt x="64" y="4002"/>
                  </a:cubicBezTo>
                  <a:cubicBezTo>
                    <a:pt x="95" y="4065"/>
                    <a:pt x="725" y="4915"/>
                    <a:pt x="1765" y="5829"/>
                  </a:cubicBezTo>
                  <a:cubicBezTo>
                    <a:pt x="2931" y="6805"/>
                    <a:pt x="4348" y="7625"/>
                    <a:pt x="5924" y="7625"/>
                  </a:cubicBezTo>
                  <a:cubicBezTo>
                    <a:pt x="7436" y="7625"/>
                    <a:pt x="8759" y="6900"/>
                    <a:pt x="9925" y="5955"/>
                  </a:cubicBezTo>
                  <a:cubicBezTo>
                    <a:pt x="10712" y="5325"/>
                    <a:pt x="11374" y="4600"/>
                    <a:pt x="11815" y="4002"/>
                  </a:cubicBezTo>
                  <a:cubicBezTo>
                    <a:pt x="11878" y="3907"/>
                    <a:pt x="11878" y="3750"/>
                    <a:pt x="11815" y="3624"/>
                  </a:cubicBezTo>
                  <a:cubicBezTo>
                    <a:pt x="11752" y="3592"/>
                    <a:pt x="11122" y="2710"/>
                    <a:pt x="10114" y="1796"/>
                  </a:cubicBezTo>
                  <a:cubicBezTo>
                    <a:pt x="8916" y="820"/>
                    <a:pt x="7499" y="0"/>
                    <a:pt x="59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" name="Google Shape;230;p33"/>
          <p:cNvGrpSpPr/>
          <p:nvPr/>
        </p:nvGrpSpPr>
        <p:grpSpPr>
          <a:xfrm>
            <a:off x="3013504" y="2436042"/>
            <a:ext cx="349457" cy="349457"/>
            <a:chOff x="3963575" y="2317575"/>
            <a:chExt cx="296175" cy="296175"/>
          </a:xfrm>
        </p:grpSpPr>
        <p:sp>
          <p:nvSpPr>
            <p:cNvPr id="231" name="Google Shape;231;p33"/>
            <p:cNvSpPr/>
            <p:nvPr/>
          </p:nvSpPr>
          <p:spPr>
            <a:xfrm>
              <a:off x="3963575" y="2317575"/>
              <a:ext cx="296175" cy="296175"/>
            </a:xfrm>
            <a:custGeom>
              <a:rect b="b" l="l" r="r" t="t"/>
              <a:pathLst>
                <a:path extrusionOk="0" h="11847" w="11847">
                  <a:moveTo>
                    <a:pt x="9483" y="1418"/>
                  </a:moveTo>
                  <a:cubicBezTo>
                    <a:pt x="9672" y="1418"/>
                    <a:pt x="9830" y="1576"/>
                    <a:pt x="9830" y="1765"/>
                  </a:cubicBezTo>
                  <a:lnTo>
                    <a:pt x="9830" y="2836"/>
                  </a:lnTo>
                  <a:lnTo>
                    <a:pt x="788" y="2836"/>
                  </a:lnTo>
                  <a:lnTo>
                    <a:pt x="788" y="1765"/>
                  </a:lnTo>
                  <a:lnTo>
                    <a:pt x="725" y="1765"/>
                  </a:lnTo>
                  <a:cubicBezTo>
                    <a:pt x="725" y="1576"/>
                    <a:pt x="883" y="1418"/>
                    <a:pt x="1072" y="1418"/>
                  </a:cubicBezTo>
                  <a:lnTo>
                    <a:pt x="1418" y="1418"/>
                  </a:lnTo>
                  <a:lnTo>
                    <a:pt x="1418" y="1765"/>
                  </a:lnTo>
                  <a:cubicBezTo>
                    <a:pt x="1418" y="1954"/>
                    <a:pt x="1576" y="2143"/>
                    <a:pt x="1765" y="2143"/>
                  </a:cubicBezTo>
                  <a:cubicBezTo>
                    <a:pt x="1954" y="2143"/>
                    <a:pt x="2111" y="1954"/>
                    <a:pt x="2111" y="1765"/>
                  </a:cubicBezTo>
                  <a:lnTo>
                    <a:pt x="2111" y="1418"/>
                  </a:lnTo>
                  <a:lnTo>
                    <a:pt x="3498" y="1418"/>
                  </a:lnTo>
                  <a:lnTo>
                    <a:pt x="3498" y="1765"/>
                  </a:lnTo>
                  <a:cubicBezTo>
                    <a:pt x="3498" y="1954"/>
                    <a:pt x="3655" y="2143"/>
                    <a:pt x="3844" y="2143"/>
                  </a:cubicBezTo>
                  <a:cubicBezTo>
                    <a:pt x="4065" y="2143"/>
                    <a:pt x="4222" y="1954"/>
                    <a:pt x="4222" y="1765"/>
                  </a:cubicBezTo>
                  <a:lnTo>
                    <a:pt x="4222" y="1418"/>
                  </a:lnTo>
                  <a:lnTo>
                    <a:pt x="6333" y="1418"/>
                  </a:lnTo>
                  <a:lnTo>
                    <a:pt x="6333" y="1765"/>
                  </a:lnTo>
                  <a:cubicBezTo>
                    <a:pt x="6333" y="1954"/>
                    <a:pt x="6490" y="2143"/>
                    <a:pt x="6680" y="2143"/>
                  </a:cubicBezTo>
                  <a:cubicBezTo>
                    <a:pt x="6900" y="2143"/>
                    <a:pt x="7058" y="1954"/>
                    <a:pt x="7058" y="1765"/>
                  </a:cubicBezTo>
                  <a:lnTo>
                    <a:pt x="7058" y="1418"/>
                  </a:lnTo>
                  <a:lnTo>
                    <a:pt x="8412" y="1418"/>
                  </a:lnTo>
                  <a:lnTo>
                    <a:pt x="8412" y="1765"/>
                  </a:lnTo>
                  <a:cubicBezTo>
                    <a:pt x="8412" y="1954"/>
                    <a:pt x="8570" y="2143"/>
                    <a:pt x="8790" y="2143"/>
                  </a:cubicBezTo>
                  <a:cubicBezTo>
                    <a:pt x="8979" y="2143"/>
                    <a:pt x="9137" y="1954"/>
                    <a:pt x="9137" y="1765"/>
                  </a:cubicBezTo>
                  <a:lnTo>
                    <a:pt x="9137" y="1418"/>
                  </a:lnTo>
                  <a:close/>
                  <a:moveTo>
                    <a:pt x="9767" y="3497"/>
                  </a:moveTo>
                  <a:lnTo>
                    <a:pt x="9767" y="7026"/>
                  </a:lnTo>
                  <a:cubicBezTo>
                    <a:pt x="9641" y="7026"/>
                    <a:pt x="9546" y="6963"/>
                    <a:pt x="9420" y="6963"/>
                  </a:cubicBezTo>
                  <a:cubicBezTo>
                    <a:pt x="8066" y="6963"/>
                    <a:pt x="6963" y="8066"/>
                    <a:pt x="6963" y="9420"/>
                  </a:cubicBezTo>
                  <a:cubicBezTo>
                    <a:pt x="6963" y="9546"/>
                    <a:pt x="6963" y="9641"/>
                    <a:pt x="7026" y="9767"/>
                  </a:cubicBezTo>
                  <a:lnTo>
                    <a:pt x="1040" y="9767"/>
                  </a:lnTo>
                  <a:cubicBezTo>
                    <a:pt x="820" y="9767"/>
                    <a:pt x="662" y="9609"/>
                    <a:pt x="662" y="9420"/>
                  </a:cubicBezTo>
                  <a:lnTo>
                    <a:pt x="662" y="3497"/>
                  </a:lnTo>
                  <a:close/>
                  <a:moveTo>
                    <a:pt x="9420" y="7688"/>
                  </a:moveTo>
                  <a:cubicBezTo>
                    <a:pt x="10366" y="7688"/>
                    <a:pt x="11153" y="8475"/>
                    <a:pt x="11153" y="9420"/>
                  </a:cubicBezTo>
                  <a:cubicBezTo>
                    <a:pt x="11153" y="10397"/>
                    <a:pt x="10366" y="11185"/>
                    <a:pt x="9420" y="11185"/>
                  </a:cubicBezTo>
                  <a:cubicBezTo>
                    <a:pt x="8475" y="11185"/>
                    <a:pt x="7688" y="10397"/>
                    <a:pt x="7688" y="9420"/>
                  </a:cubicBezTo>
                  <a:cubicBezTo>
                    <a:pt x="7688" y="8475"/>
                    <a:pt x="8475" y="7688"/>
                    <a:pt x="9420" y="7688"/>
                  </a:cubicBez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42" y="725"/>
                    <a:pt x="0" y="1166"/>
                    <a:pt x="0" y="1733"/>
                  </a:cubicBezTo>
                  <a:lnTo>
                    <a:pt x="0" y="9389"/>
                  </a:lnTo>
                  <a:cubicBezTo>
                    <a:pt x="0" y="9956"/>
                    <a:pt x="473" y="10429"/>
                    <a:pt x="1040" y="10429"/>
                  </a:cubicBezTo>
                  <a:lnTo>
                    <a:pt x="7215" y="10429"/>
                  </a:lnTo>
                  <a:cubicBezTo>
                    <a:pt x="7593" y="11279"/>
                    <a:pt x="8444" y="11846"/>
                    <a:pt x="9420" y="11846"/>
                  </a:cubicBezTo>
                  <a:cubicBezTo>
                    <a:pt x="10744" y="11846"/>
                    <a:pt x="11846" y="10744"/>
                    <a:pt x="11846" y="9420"/>
                  </a:cubicBezTo>
                  <a:cubicBezTo>
                    <a:pt x="11846" y="8444"/>
                    <a:pt x="11311" y="7593"/>
                    <a:pt x="10492" y="7215"/>
                  </a:cubicBezTo>
                  <a:lnTo>
                    <a:pt x="10492" y="1733"/>
                  </a:lnTo>
                  <a:cubicBezTo>
                    <a:pt x="10492" y="1135"/>
                    <a:pt x="10019" y="725"/>
                    <a:pt x="9452" y="725"/>
                  </a:cubicBezTo>
                  <a:lnTo>
                    <a:pt x="9105" y="725"/>
                  </a:lnTo>
                  <a:lnTo>
                    <a:pt x="9105" y="347"/>
                  </a:lnTo>
                  <a:cubicBezTo>
                    <a:pt x="9105" y="158"/>
                    <a:pt x="8948" y="0"/>
                    <a:pt x="8759" y="0"/>
                  </a:cubicBezTo>
                  <a:cubicBezTo>
                    <a:pt x="8538" y="0"/>
                    <a:pt x="8381" y="158"/>
                    <a:pt x="8381" y="347"/>
                  </a:cubicBezTo>
                  <a:lnTo>
                    <a:pt x="8381" y="725"/>
                  </a:lnTo>
                  <a:lnTo>
                    <a:pt x="7026" y="725"/>
                  </a:lnTo>
                  <a:lnTo>
                    <a:pt x="7026" y="347"/>
                  </a:lnTo>
                  <a:cubicBezTo>
                    <a:pt x="7026" y="158"/>
                    <a:pt x="6869" y="0"/>
                    <a:pt x="6648" y="0"/>
                  </a:cubicBezTo>
                  <a:cubicBezTo>
                    <a:pt x="6459" y="0"/>
                    <a:pt x="6301" y="158"/>
                    <a:pt x="6301" y="347"/>
                  </a:cubicBezTo>
                  <a:lnTo>
                    <a:pt x="6301" y="725"/>
                  </a:lnTo>
                  <a:lnTo>
                    <a:pt x="4191" y="725"/>
                  </a:lnTo>
                  <a:lnTo>
                    <a:pt x="4191" y="347"/>
                  </a:lnTo>
                  <a:cubicBezTo>
                    <a:pt x="4191" y="158"/>
                    <a:pt x="4033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725"/>
                  </a:lnTo>
                  <a:lnTo>
                    <a:pt x="2080" y="725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3"/>
            <p:cNvSpPr/>
            <p:nvPr/>
          </p:nvSpPr>
          <p:spPr>
            <a:xfrm>
              <a:off x="4190400" y="2526300"/>
              <a:ext cx="34700" cy="35450"/>
            </a:xfrm>
            <a:custGeom>
              <a:rect b="b" l="l" r="r" t="t"/>
              <a:pathLst>
                <a:path extrusionOk="0" h="1418" w="1388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71"/>
                  </a:lnTo>
                  <a:cubicBezTo>
                    <a:pt x="1" y="1260"/>
                    <a:pt x="127" y="1418"/>
                    <a:pt x="347" y="1418"/>
                  </a:cubicBezTo>
                  <a:lnTo>
                    <a:pt x="1041" y="1418"/>
                  </a:lnTo>
                  <a:cubicBezTo>
                    <a:pt x="1261" y="1418"/>
                    <a:pt x="1387" y="1260"/>
                    <a:pt x="1387" y="1071"/>
                  </a:cubicBezTo>
                  <a:cubicBezTo>
                    <a:pt x="1387" y="882"/>
                    <a:pt x="1261" y="725"/>
                    <a:pt x="1041" y="725"/>
                  </a:cubicBezTo>
                  <a:lnTo>
                    <a:pt x="694" y="725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3"/>
            <p:cNvSpPr/>
            <p:nvPr/>
          </p:nvSpPr>
          <p:spPr>
            <a:xfrm>
              <a:off x="3998225" y="2421550"/>
              <a:ext cx="35475" cy="18125"/>
            </a:xfrm>
            <a:custGeom>
              <a:rect b="b" l="l" r="r" t="t"/>
              <a:pathLst>
                <a:path extrusionOk="0" h="725" w="1419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3"/>
            <p:cNvSpPr/>
            <p:nvPr/>
          </p:nvSpPr>
          <p:spPr>
            <a:xfrm>
              <a:off x="4050225" y="2421550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3"/>
            <p:cNvSpPr/>
            <p:nvPr/>
          </p:nvSpPr>
          <p:spPr>
            <a:xfrm>
              <a:off x="4102200" y="2421550"/>
              <a:ext cx="35475" cy="18125"/>
            </a:xfrm>
            <a:custGeom>
              <a:rect b="b" l="l" r="r" t="t"/>
              <a:pathLst>
                <a:path extrusionOk="0" h="725" w="1419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3"/>
            <p:cNvSpPr/>
            <p:nvPr/>
          </p:nvSpPr>
          <p:spPr>
            <a:xfrm>
              <a:off x="4155750" y="2421550"/>
              <a:ext cx="35475" cy="18125"/>
            </a:xfrm>
            <a:custGeom>
              <a:rect b="b" l="l" r="r" t="t"/>
              <a:pathLst>
                <a:path extrusionOk="0" h="725" w="1419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3"/>
            <p:cNvSpPr/>
            <p:nvPr/>
          </p:nvSpPr>
          <p:spPr>
            <a:xfrm>
              <a:off x="3998225" y="2456975"/>
              <a:ext cx="35475" cy="18150"/>
            </a:xfrm>
            <a:custGeom>
              <a:rect b="b" l="l" r="r" t="t"/>
              <a:pathLst>
                <a:path extrusionOk="0" h="726" w="1419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3"/>
            <p:cNvSpPr/>
            <p:nvPr/>
          </p:nvSpPr>
          <p:spPr>
            <a:xfrm>
              <a:off x="4050225" y="2456975"/>
              <a:ext cx="35450" cy="18150"/>
            </a:xfrm>
            <a:custGeom>
              <a:rect b="b" l="l" r="r" t="t"/>
              <a:pathLst>
                <a:path extrusionOk="0" h="726" w="1418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3"/>
            <p:cNvSpPr/>
            <p:nvPr/>
          </p:nvSpPr>
          <p:spPr>
            <a:xfrm>
              <a:off x="4102200" y="2456975"/>
              <a:ext cx="35475" cy="18150"/>
            </a:xfrm>
            <a:custGeom>
              <a:rect b="b" l="l" r="r" t="t"/>
              <a:pathLst>
                <a:path extrusionOk="0" h="726" w="1419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3"/>
            <p:cNvSpPr/>
            <p:nvPr/>
          </p:nvSpPr>
          <p:spPr>
            <a:xfrm>
              <a:off x="4155750" y="2456975"/>
              <a:ext cx="35475" cy="18150"/>
            </a:xfrm>
            <a:custGeom>
              <a:rect b="b" l="l" r="r" t="t"/>
              <a:pathLst>
                <a:path extrusionOk="0" h="726" w="1419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79"/>
                  </a:cubicBezTo>
                  <a:cubicBezTo>
                    <a:pt x="1418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3"/>
            <p:cNvSpPr/>
            <p:nvPr/>
          </p:nvSpPr>
          <p:spPr>
            <a:xfrm>
              <a:off x="3998225" y="2491650"/>
              <a:ext cx="35475" cy="18125"/>
            </a:xfrm>
            <a:custGeom>
              <a:rect b="b" l="l" r="r" t="t"/>
              <a:pathLst>
                <a:path extrusionOk="0" h="725" w="1419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3"/>
            <p:cNvSpPr/>
            <p:nvPr/>
          </p:nvSpPr>
          <p:spPr>
            <a:xfrm>
              <a:off x="4050225" y="2491650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3"/>
            <p:cNvSpPr/>
            <p:nvPr/>
          </p:nvSpPr>
          <p:spPr>
            <a:xfrm>
              <a:off x="4102200" y="2491650"/>
              <a:ext cx="35475" cy="18125"/>
            </a:xfrm>
            <a:custGeom>
              <a:rect b="b" l="l" r="r" t="t"/>
              <a:pathLst>
                <a:path extrusionOk="0" h="725" w="1419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3"/>
            <p:cNvSpPr/>
            <p:nvPr/>
          </p:nvSpPr>
          <p:spPr>
            <a:xfrm>
              <a:off x="3998225" y="2526300"/>
              <a:ext cx="35475" cy="18125"/>
            </a:xfrm>
            <a:custGeom>
              <a:rect b="b" l="l" r="r" t="t"/>
              <a:pathLst>
                <a:path extrusionOk="0" h="725" w="1419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3"/>
            <p:cNvSpPr/>
            <p:nvPr/>
          </p:nvSpPr>
          <p:spPr>
            <a:xfrm>
              <a:off x="4050225" y="2526300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3"/>
            <p:cNvSpPr/>
            <p:nvPr/>
          </p:nvSpPr>
          <p:spPr>
            <a:xfrm>
              <a:off x="4102200" y="2526300"/>
              <a:ext cx="35475" cy="18125"/>
            </a:xfrm>
            <a:custGeom>
              <a:rect b="b" l="l" r="r" t="t"/>
              <a:pathLst>
                <a:path extrusionOk="0" h="725" w="1419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33"/>
          <p:cNvGrpSpPr/>
          <p:nvPr/>
        </p:nvGrpSpPr>
        <p:grpSpPr>
          <a:xfrm>
            <a:off x="1416837" y="3572901"/>
            <a:ext cx="351286" cy="351286"/>
            <a:chOff x="1049375" y="2680675"/>
            <a:chExt cx="297725" cy="297725"/>
          </a:xfrm>
        </p:grpSpPr>
        <p:sp>
          <p:nvSpPr>
            <p:cNvPr id="248" name="Google Shape;248;p33"/>
            <p:cNvSpPr/>
            <p:nvPr/>
          </p:nvSpPr>
          <p:spPr>
            <a:xfrm>
              <a:off x="1113175" y="2752350"/>
              <a:ext cx="161475" cy="155975"/>
            </a:xfrm>
            <a:custGeom>
              <a:rect b="b" l="l" r="r" t="t"/>
              <a:pathLst>
                <a:path extrusionOk="0" h="6239" w="6459">
                  <a:moveTo>
                    <a:pt x="3403" y="2079"/>
                  </a:moveTo>
                  <a:cubicBezTo>
                    <a:pt x="3781" y="2079"/>
                    <a:pt x="4096" y="2394"/>
                    <a:pt x="4096" y="2773"/>
                  </a:cubicBezTo>
                  <a:cubicBezTo>
                    <a:pt x="4096" y="3182"/>
                    <a:pt x="3781" y="3497"/>
                    <a:pt x="3403" y="3497"/>
                  </a:cubicBezTo>
                  <a:cubicBezTo>
                    <a:pt x="2993" y="3434"/>
                    <a:pt x="2678" y="3119"/>
                    <a:pt x="2678" y="2773"/>
                  </a:cubicBezTo>
                  <a:cubicBezTo>
                    <a:pt x="2678" y="2394"/>
                    <a:pt x="2993" y="2079"/>
                    <a:pt x="3403" y="2079"/>
                  </a:cubicBezTo>
                  <a:close/>
                  <a:moveTo>
                    <a:pt x="3371" y="693"/>
                  </a:moveTo>
                  <a:cubicBezTo>
                    <a:pt x="4694" y="693"/>
                    <a:pt x="5765" y="1796"/>
                    <a:pt x="5765" y="3119"/>
                  </a:cubicBezTo>
                  <a:cubicBezTo>
                    <a:pt x="5765" y="3686"/>
                    <a:pt x="5545" y="4222"/>
                    <a:pt x="5198" y="4663"/>
                  </a:cubicBezTo>
                  <a:cubicBezTo>
                    <a:pt x="5072" y="4442"/>
                    <a:pt x="4915" y="4190"/>
                    <a:pt x="4694" y="4001"/>
                  </a:cubicBezTo>
                  <a:cubicBezTo>
                    <a:pt x="4568" y="3907"/>
                    <a:pt x="4442" y="3812"/>
                    <a:pt x="4348" y="3749"/>
                  </a:cubicBezTo>
                  <a:cubicBezTo>
                    <a:pt x="4568" y="3529"/>
                    <a:pt x="4726" y="3182"/>
                    <a:pt x="4726" y="2804"/>
                  </a:cubicBezTo>
                  <a:cubicBezTo>
                    <a:pt x="4726" y="2079"/>
                    <a:pt x="4096" y="1449"/>
                    <a:pt x="3340" y="1449"/>
                  </a:cubicBezTo>
                  <a:cubicBezTo>
                    <a:pt x="2615" y="1449"/>
                    <a:pt x="1985" y="2079"/>
                    <a:pt x="1985" y="2804"/>
                  </a:cubicBezTo>
                  <a:cubicBezTo>
                    <a:pt x="1985" y="3182"/>
                    <a:pt x="2142" y="3529"/>
                    <a:pt x="2363" y="3749"/>
                  </a:cubicBezTo>
                  <a:lnTo>
                    <a:pt x="2016" y="4001"/>
                  </a:lnTo>
                  <a:cubicBezTo>
                    <a:pt x="1827" y="4190"/>
                    <a:pt x="1607" y="4442"/>
                    <a:pt x="1512" y="4663"/>
                  </a:cubicBezTo>
                  <a:cubicBezTo>
                    <a:pt x="1040" y="4064"/>
                    <a:pt x="882" y="3434"/>
                    <a:pt x="945" y="2773"/>
                  </a:cubicBezTo>
                  <a:cubicBezTo>
                    <a:pt x="1103" y="1670"/>
                    <a:pt x="2111" y="693"/>
                    <a:pt x="3371" y="693"/>
                  </a:cubicBezTo>
                  <a:close/>
                  <a:moveTo>
                    <a:pt x="3371" y="4159"/>
                  </a:moveTo>
                  <a:cubicBezTo>
                    <a:pt x="4001" y="4159"/>
                    <a:pt x="4505" y="4600"/>
                    <a:pt x="4694" y="5135"/>
                  </a:cubicBezTo>
                  <a:cubicBezTo>
                    <a:pt x="4316" y="5387"/>
                    <a:pt x="3875" y="5545"/>
                    <a:pt x="3371" y="5545"/>
                  </a:cubicBezTo>
                  <a:cubicBezTo>
                    <a:pt x="2898" y="5545"/>
                    <a:pt x="2426" y="5387"/>
                    <a:pt x="2016" y="5135"/>
                  </a:cubicBezTo>
                  <a:cubicBezTo>
                    <a:pt x="2174" y="4537"/>
                    <a:pt x="2741" y="4159"/>
                    <a:pt x="3371" y="4159"/>
                  </a:cubicBezTo>
                  <a:close/>
                  <a:moveTo>
                    <a:pt x="3308" y="0"/>
                  </a:moveTo>
                  <a:cubicBezTo>
                    <a:pt x="1701" y="0"/>
                    <a:pt x="441" y="1229"/>
                    <a:pt x="252" y="2710"/>
                  </a:cubicBezTo>
                  <a:cubicBezTo>
                    <a:pt x="0" y="4600"/>
                    <a:pt x="1512" y="6238"/>
                    <a:pt x="3371" y="6238"/>
                  </a:cubicBezTo>
                  <a:cubicBezTo>
                    <a:pt x="5104" y="6238"/>
                    <a:pt x="6459" y="4820"/>
                    <a:pt x="6459" y="3119"/>
                  </a:cubicBezTo>
                  <a:cubicBezTo>
                    <a:pt x="6459" y="1386"/>
                    <a:pt x="5041" y="0"/>
                    <a:pt x="33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3"/>
            <p:cNvSpPr/>
            <p:nvPr/>
          </p:nvSpPr>
          <p:spPr>
            <a:xfrm>
              <a:off x="1049375" y="2680675"/>
              <a:ext cx="297725" cy="297725"/>
            </a:xfrm>
            <a:custGeom>
              <a:rect b="b" l="l" r="r" t="t"/>
              <a:pathLst>
                <a:path extrusionOk="0" h="11909" w="11909">
                  <a:moveTo>
                    <a:pt x="6270" y="1512"/>
                  </a:moveTo>
                  <a:cubicBezTo>
                    <a:pt x="8475" y="1670"/>
                    <a:pt x="10239" y="3434"/>
                    <a:pt x="10397" y="5640"/>
                  </a:cubicBezTo>
                  <a:lnTo>
                    <a:pt x="10082" y="5640"/>
                  </a:lnTo>
                  <a:cubicBezTo>
                    <a:pt x="9893" y="5640"/>
                    <a:pt x="9735" y="5797"/>
                    <a:pt x="9735" y="5986"/>
                  </a:cubicBezTo>
                  <a:cubicBezTo>
                    <a:pt x="9735" y="6207"/>
                    <a:pt x="9893" y="6364"/>
                    <a:pt x="10082" y="6364"/>
                  </a:cubicBezTo>
                  <a:lnTo>
                    <a:pt x="10397" y="6364"/>
                  </a:lnTo>
                  <a:cubicBezTo>
                    <a:pt x="10239" y="8569"/>
                    <a:pt x="8475" y="10334"/>
                    <a:pt x="6270" y="10491"/>
                  </a:cubicBezTo>
                  <a:lnTo>
                    <a:pt x="6270" y="10176"/>
                  </a:lnTo>
                  <a:cubicBezTo>
                    <a:pt x="6270" y="9987"/>
                    <a:pt x="6112" y="9830"/>
                    <a:pt x="5923" y="9830"/>
                  </a:cubicBezTo>
                  <a:cubicBezTo>
                    <a:pt x="5703" y="9830"/>
                    <a:pt x="5545" y="9987"/>
                    <a:pt x="5545" y="10176"/>
                  </a:cubicBezTo>
                  <a:lnTo>
                    <a:pt x="5545" y="10491"/>
                  </a:lnTo>
                  <a:cubicBezTo>
                    <a:pt x="3340" y="10334"/>
                    <a:pt x="1575" y="8569"/>
                    <a:pt x="1418" y="6364"/>
                  </a:cubicBezTo>
                  <a:lnTo>
                    <a:pt x="1733" y="6364"/>
                  </a:lnTo>
                  <a:cubicBezTo>
                    <a:pt x="1922" y="6364"/>
                    <a:pt x="2079" y="6207"/>
                    <a:pt x="2079" y="5986"/>
                  </a:cubicBezTo>
                  <a:cubicBezTo>
                    <a:pt x="2142" y="5797"/>
                    <a:pt x="1985" y="5640"/>
                    <a:pt x="1764" y="5640"/>
                  </a:cubicBezTo>
                  <a:lnTo>
                    <a:pt x="1418" y="5640"/>
                  </a:lnTo>
                  <a:cubicBezTo>
                    <a:pt x="1575" y="3434"/>
                    <a:pt x="3340" y="1670"/>
                    <a:pt x="5545" y="1512"/>
                  </a:cubicBezTo>
                  <a:lnTo>
                    <a:pt x="5545" y="1827"/>
                  </a:lnTo>
                  <a:cubicBezTo>
                    <a:pt x="5545" y="2016"/>
                    <a:pt x="5703" y="2174"/>
                    <a:pt x="5923" y="2174"/>
                  </a:cubicBezTo>
                  <a:cubicBezTo>
                    <a:pt x="6112" y="2174"/>
                    <a:pt x="6270" y="2016"/>
                    <a:pt x="6270" y="1827"/>
                  </a:cubicBezTo>
                  <a:lnTo>
                    <a:pt x="6270" y="1512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47"/>
                  </a:cubicBezTo>
                  <a:lnTo>
                    <a:pt x="5608" y="756"/>
                  </a:lnTo>
                  <a:cubicBezTo>
                    <a:pt x="2993" y="914"/>
                    <a:pt x="914" y="2993"/>
                    <a:pt x="756" y="5608"/>
                  </a:cubicBezTo>
                  <a:lnTo>
                    <a:pt x="347" y="5608"/>
                  </a:lnTo>
                  <a:cubicBezTo>
                    <a:pt x="158" y="5608"/>
                    <a:pt x="0" y="5766"/>
                    <a:pt x="0" y="5955"/>
                  </a:cubicBezTo>
                  <a:cubicBezTo>
                    <a:pt x="0" y="6144"/>
                    <a:pt x="158" y="6301"/>
                    <a:pt x="347" y="6301"/>
                  </a:cubicBezTo>
                  <a:lnTo>
                    <a:pt x="756" y="6301"/>
                  </a:lnTo>
                  <a:cubicBezTo>
                    <a:pt x="914" y="8916"/>
                    <a:pt x="2993" y="10995"/>
                    <a:pt x="5608" y="11153"/>
                  </a:cubicBezTo>
                  <a:lnTo>
                    <a:pt x="5608" y="11562"/>
                  </a:lnTo>
                  <a:cubicBezTo>
                    <a:pt x="5608" y="11751"/>
                    <a:pt x="5766" y="11909"/>
                    <a:pt x="5955" y="11909"/>
                  </a:cubicBezTo>
                  <a:cubicBezTo>
                    <a:pt x="6144" y="11909"/>
                    <a:pt x="6301" y="11751"/>
                    <a:pt x="6301" y="11562"/>
                  </a:cubicBezTo>
                  <a:lnTo>
                    <a:pt x="6301" y="11153"/>
                  </a:lnTo>
                  <a:cubicBezTo>
                    <a:pt x="8916" y="10995"/>
                    <a:pt x="10995" y="8916"/>
                    <a:pt x="11153" y="6301"/>
                  </a:cubicBezTo>
                  <a:lnTo>
                    <a:pt x="11531" y="6301"/>
                  </a:lnTo>
                  <a:cubicBezTo>
                    <a:pt x="11751" y="6301"/>
                    <a:pt x="11909" y="6144"/>
                    <a:pt x="11909" y="5955"/>
                  </a:cubicBezTo>
                  <a:cubicBezTo>
                    <a:pt x="11909" y="5766"/>
                    <a:pt x="11751" y="5608"/>
                    <a:pt x="11531" y="5608"/>
                  </a:cubicBezTo>
                  <a:lnTo>
                    <a:pt x="11153" y="5608"/>
                  </a:lnTo>
                  <a:cubicBezTo>
                    <a:pt x="10995" y="2993"/>
                    <a:pt x="8916" y="914"/>
                    <a:pt x="6301" y="756"/>
                  </a:cubicBezTo>
                  <a:lnTo>
                    <a:pt x="6301" y="347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33"/>
          <p:cNvGrpSpPr/>
          <p:nvPr/>
        </p:nvGrpSpPr>
        <p:grpSpPr>
          <a:xfrm>
            <a:off x="2650369" y="3588435"/>
            <a:ext cx="323587" cy="320242"/>
            <a:chOff x="3282325" y="2035675"/>
            <a:chExt cx="459575" cy="454825"/>
          </a:xfrm>
        </p:grpSpPr>
        <p:sp>
          <p:nvSpPr>
            <p:cNvPr id="251" name="Google Shape;251;p33"/>
            <p:cNvSpPr/>
            <p:nvPr/>
          </p:nvSpPr>
          <p:spPr>
            <a:xfrm>
              <a:off x="3337050" y="2234125"/>
              <a:ext cx="85925" cy="206325"/>
            </a:xfrm>
            <a:custGeom>
              <a:rect b="b" l="l" r="r" t="t"/>
              <a:pathLst>
                <a:path extrusionOk="0" h="8253" w="3437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2" name="Google Shape;252;p33"/>
            <p:cNvSpPr/>
            <p:nvPr/>
          </p:nvSpPr>
          <p:spPr>
            <a:xfrm>
              <a:off x="3451275" y="2175475"/>
              <a:ext cx="84925" cy="264975"/>
            </a:xfrm>
            <a:custGeom>
              <a:rect b="b" l="l" r="r" t="t"/>
              <a:pathLst>
                <a:path extrusionOk="0" h="10599" w="3397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3" name="Google Shape;253;p33"/>
            <p:cNvSpPr/>
            <p:nvPr/>
          </p:nvSpPr>
          <p:spPr>
            <a:xfrm>
              <a:off x="3564500" y="2116825"/>
              <a:ext cx="84950" cy="323625"/>
            </a:xfrm>
            <a:custGeom>
              <a:rect b="b" l="l" r="r" t="t"/>
              <a:pathLst>
                <a:path extrusionOk="0" h="12945" w="3398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4" name="Google Shape;254;p33"/>
            <p:cNvSpPr/>
            <p:nvPr/>
          </p:nvSpPr>
          <p:spPr>
            <a:xfrm>
              <a:off x="3282325" y="2035675"/>
              <a:ext cx="459575" cy="454825"/>
            </a:xfrm>
            <a:custGeom>
              <a:rect b="b" l="l" r="r" t="t"/>
              <a:pathLst>
                <a:path extrusionOk="0" h="18193" w="18383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cxnSp>
        <p:nvCxnSpPr>
          <p:cNvPr id="255" name="Google Shape;255;p33"/>
          <p:cNvCxnSpPr/>
          <p:nvPr/>
        </p:nvCxnSpPr>
        <p:spPr>
          <a:xfrm>
            <a:off x="6757958" y="3572900"/>
            <a:ext cx="0" cy="1057200"/>
          </a:xfrm>
          <a:prstGeom prst="straightConnector1">
            <a:avLst/>
          </a:prstGeom>
          <a:noFill/>
          <a:ln cap="flat" cmpd="sng" w="38100">
            <a:solidFill>
              <a:srgbClr val="4583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33"/>
          <p:cNvSpPr txBox="1"/>
          <p:nvPr/>
        </p:nvSpPr>
        <p:spPr>
          <a:xfrm>
            <a:off x="6833563" y="3559700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45839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06</a:t>
            </a:r>
            <a:endParaRPr sz="2100">
              <a:solidFill>
                <a:srgbClr val="45839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7" name="Google Shape;257;p33"/>
          <p:cNvSpPr txBox="1"/>
          <p:nvPr/>
        </p:nvSpPr>
        <p:spPr>
          <a:xfrm>
            <a:off x="4560025" y="2733575"/>
            <a:ext cx="2263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4537B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Scope creep &amp; changes in requirements</a:t>
            </a:r>
            <a:endParaRPr>
              <a:solidFill>
                <a:srgbClr val="34537B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8" name="Google Shape;258;p33"/>
          <p:cNvSpPr txBox="1"/>
          <p:nvPr/>
        </p:nvSpPr>
        <p:spPr>
          <a:xfrm>
            <a:off x="4560025" y="4000025"/>
            <a:ext cx="2263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4537B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Technical glitches affecting system fidelity</a:t>
            </a:r>
            <a:endParaRPr>
              <a:solidFill>
                <a:srgbClr val="34537B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59" name="Google Shape;259;p33"/>
          <p:cNvSpPr txBox="1"/>
          <p:nvPr/>
        </p:nvSpPr>
        <p:spPr>
          <a:xfrm>
            <a:off x="6833575" y="1469850"/>
            <a:ext cx="22632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4537B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Usage of </a:t>
            </a:r>
            <a:r>
              <a:rPr lang="en">
                <a:solidFill>
                  <a:srgbClr val="34537B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first time build resources</a:t>
            </a:r>
            <a:endParaRPr>
              <a:solidFill>
                <a:srgbClr val="34537B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6833563" y="3957938"/>
            <a:ext cx="18732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4537B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Unforeseen risks</a:t>
            </a:r>
            <a:endParaRPr>
              <a:solidFill>
                <a:srgbClr val="34537B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1" name="Google Shape;26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>
            <p:ph type="title"/>
          </p:nvPr>
        </p:nvSpPr>
        <p:spPr>
          <a:xfrm>
            <a:off x="300025" y="334500"/>
            <a:ext cx="82296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Sensitivity Analysis</a:t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C4587"/>
                </a:solidFill>
              </a:rPr>
              <a:t>Tornado Approach </a:t>
            </a:r>
            <a:endParaRPr sz="1800">
              <a:solidFill>
                <a:srgbClr val="1C4587"/>
              </a:solidFill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20338" y="1188038"/>
            <a:ext cx="1306011" cy="807303"/>
          </a:xfrm>
          <a:custGeom>
            <a:rect b="b" l="l" r="r" t="t"/>
            <a:pathLst>
              <a:path extrusionOk="0" h="18420" w="32311">
                <a:moveTo>
                  <a:pt x="0" y="0"/>
                </a:moveTo>
                <a:lnTo>
                  <a:pt x="7964" y="9210"/>
                </a:lnTo>
                <a:lnTo>
                  <a:pt x="0" y="18420"/>
                </a:lnTo>
                <a:lnTo>
                  <a:pt x="24347" y="18420"/>
                </a:lnTo>
                <a:lnTo>
                  <a:pt x="32311" y="9210"/>
                </a:lnTo>
                <a:lnTo>
                  <a:pt x="24347" y="0"/>
                </a:lnTo>
                <a:close/>
              </a:path>
            </a:pathLst>
          </a:custGeom>
          <a:solidFill>
            <a:srgbClr val="5B77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</a:t>
            </a:r>
            <a:r>
              <a:rPr lang="en">
                <a:solidFill>
                  <a:schemeClr val="lt1"/>
                </a:solidFill>
              </a:rPr>
              <a:t>   </a:t>
            </a:r>
            <a:r>
              <a:rPr b="1" lang="en">
                <a:solidFill>
                  <a:schemeClr val="lt1"/>
                </a:solidFill>
              </a:rPr>
              <a:t>1</a:t>
            </a:r>
            <a:r>
              <a:rPr lang="en"/>
              <a:t>         </a:t>
            </a:r>
            <a:endParaRPr/>
          </a:p>
        </p:txBody>
      </p:sp>
      <p:sp>
        <p:nvSpPr>
          <p:cNvPr id="268" name="Google Shape;268;p34"/>
          <p:cNvSpPr txBox="1"/>
          <p:nvPr/>
        </p:nvSpPr>
        <p:spPr>
          <a:xfrm>
            <a:off x="-297909" y="901341"/>
            <a:ext cx="1812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DETAILS</a:t>
            </a:r>
            <a:endParaRPr sz="18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69" name="Google Shape;269;p34"/>
          <p:cNvSpPr txBox="1"/>
          <p:nvPr/>
        </p:nvSpPr>
        <p:spPr>
          <a:xfrm>
            <a:off x="3" y="3054888"/>
            <a:ext cx="134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CRITERIA</a:t>
            </a:r>
            <a:endParaRPr sz="18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70" name="Google Shape;270;p34"/>
          <p:cNvSpPr/>
          <p:nvPr/>
        </p:nvSpPr>
        <p:spPr>
          <a:xfrm>
            <a:off x="53775" y="2249312"/>
            <a:ext cx="1239165" cy="807303"/>
          </a:xfrm>
          <a:custGeom>
            <a:rect b="b" l="l" r="r" t="t"/>
            <a:pathLst>
              <a:path extrusionOk="0" h="18420" w="32312">
                <a:moveTo>
                  <a:pt x="1" y="0"/>
                </a:moveTo>
                <a:lnTo>
                  <a:pt x="7964" y="9210"/>
                </a:lnTo>
                <a:lnTo>
                  <a:pt x="1" y="18420"/>
                </a:lnTo>
                <a:lnTo>
                  <a:pt x="24378" y="18420"/>
                </a:lnTo>
                <a:lnTo>
                  <a:pt x="32311" y="9210"/>
                </a:lnTo>
                <a:lnTo>
                  <a:pt x="2437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</a:t>
            </a:r>
            <a:r>
              <a:rPr lang="en">
                <a:solidFill>
                  <a:schemeClr val="lt1"/>
                </a:solidFill>
              </a:rPr>
              <a:t> 2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71" name="Google Shape;271;p34"/>
          <p:cNvGrpSpPr/>
          <p:nvPr/>
        </p:nvGrpSpPr>
        <p:grpSpPr>
          <a:xfrm>
            <a:off x="6415669" y="2106655"/>
            <a:ext cx="427469" cy="375751"/>
            <a:chOff x="2081650" y="2050750"/>
            <a:chExt cx="483125" cy="424625"/>
          </a:xfrm>
        </p:grpSpPr>
        <p:sp>
          <p:nvSpPr>
            <p:cNvPr id="272" name="Google Shape;272;p34"/>
            <p:cNvSpPr/>
            <p:nvPr/>
          </p:nvSpPr>
          <p:spPr>
            <a:xfrm>
              <a:off x="2081650" y="2050750"/>
              <a:ext cx="483125" cy="424625"/>
            </a:xfrm>
            <a:custGeom>
              <a:rect b="b" l="l" r="r" t="t"/>
              <a:pathLst>
                <a:path extrusionOk="0" h="16985" w="19325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3" name="Google Shape;273;p34"/>
            <p:cNvSpPr/>
            <p:nvPr/>
          </p:nvSpPr>
          <p:spPr>
            <a:xfrm>
              <a:off x="2136375" y="2292025"/>
              <a:ext cx="36400" cy="41975"/>
            </a:xfrm>
            <a:custGeom>
              <a:rect b="b" l="l" r="r" t="t"/>
              <a:pathLst>
                <a:path extrusionOk="0" h="1679" w="1456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4" name="Google Shape;274;p34"/>
            <p:cNvSpPr/>
            <p:nvPr/>
          </p:nvSpPr>
          <p:spPr>
            <a:xfrm>
              <a:off x="2296850" y="2220800"/>
              <a:ext cx="46075" cy="51650"/>
            </a:xfrm>
            <a:custGeom>
              <a:rect b="b" l="l" r="r" t="t"/>
              <a:pathLst>
                <a:path extrusionOk="0" h="2066" w="1843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2158650" y="2216775"/>
              <a:ext cx="47275" cy="51425"/>
            </a:xfrm>
            <a:custGeom>
              <a:rect b="b" l="l" r="r" t="t"/>
              <a:pathLst>
                <a:path extrusionOk="0" h="2057" w="1891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6" name="Google Shape;276;p34"/>
            <p:cNvSpPr/>
            <p:nvPr/>
          </p:nvSpPr>
          <p:spPr>
            <a:xfrm>
              <a:off x="2426475" y="2255725"/>
              <a:ext cx="55875" cy="46900"/>
            </a:xfrm>
            <a:custGeom>
              <a:rect b="b" l="l" r="r" t="t"/>
              <a:pathLst>
                <a:path extrusionOk="0" h="1876" w="2235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7" name="Google Shape;277;p34"/>
            <p:cNvSpPr/>
            <p:nvPr/>
          </p:nvSpPr>
          <p:spPr>
            <a:xfrm>
              <a:off x="2473050" y="2192325"/>
              <a:ext cx="37000" cy="41500"/>
            </a:xfrm>
            <a:custGeom>
              <a:rect b="b" l="l" r="r" t="t"/>
              <a:pathLst>
                <a:path extrusionOk="0" h="1660" w="148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8" name="Google Shape;278;p34"/>
          <p:cNvGrpSpPr/>
          <p:nvPr/>
        </p:nvGrpSpPr>
        <p:grpSpPr>
          <a:xfrm>
            <a:off x="7725675" y="2463084"/>
            <a:ext cx="428022" cy="427517"/>
            <a:chOff x="5053900" y="2021500"/>
            <a:chExt cx="483750" cy="483125"/>
          </a:xfrm>
        </p:grpSpPr>
        <p:sp>
          <p:nvSpPr>
            <p:cNvPr id="279" name="Google Shape;279;p34"/>
            <p:cNvSpPr/>
            <p:nvPr/>
          </p:nvSpPr>
          <p:spPr>
            <a:xfrm>
              <a:off x="5281350" y="2078100"/>
              <a:ext cx="127375" cy="127350"/>
            </a:xfrm>
            <a:custGeom>
              <a:rect b="b" l="l" r="r" t="t"/>
              <a:pathLst>
                <a:path extrusionOk="0" h="5094" w="5095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0" name="Google Shape;280;p34"/>
            <p:cNvSpPr/>
            <p:nvPr/>
          </p:nvSpPr>
          <p:spPr>
            <a:xfrm>
              <a:off x="5118000" y="2021500"/>
              <a:ext cx="368700" cy="483125"/>
            </a:xfrm>
            <a:custGeom>
              <a:rect b="b" l="l" r="r" t="t"/>
              <a:pathLst>
                <a:path extrusionOk="0" h="19325" w="14748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1" name="Google Shape;281;p34"/>
            <p:cNvSpPr/>
            <p:nvPr/>
          </p:nvSpPr>
          <p:spPr>
            <a:xfrm>
              <a:off x="50539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5056850" y="2096550"/>
              <a:ext cx="50750" cy="48025"/>
            </a:xfrm>
            <a:custGeom>
              <a:rect b="b" l="l" r="r" t="t"/>
              <a:pathLst>
                <a:path extrusionOk="0" h="1921" w="203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5056400" y="2266400"/>
              <a:ext cx="51200" cy="48350"/>
            </a:xfrm>
            <a:custGeom>
              <a:rect b="b" l="l" r="r" t="t"/>
              <a:pathLst>
                <a:path extrusionOk="0" h="1934" w="2048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54804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5" name="Google Shape;285;p34"/>
            <p:cNvSpPr/>
            <p:nvPr/>
          </p:nvSpPr>
          <p:spPr>
            <a:xfrm>
              <a:off x="5479800" y="209655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6" name="Google Shape;286;p34"/>
            <p:cNvSpPr/>
            <p:nvPr/>
          </p:nvSpPr>
          <p:spPr>
            <a:xfrm>
              <a:off x="5483350" y="226640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87" name="Google Shape;287;p34"/>
          <p:cNvSpPr/>
          <p:nvPr/>
        </p:nvSpPr>
        <p:spPr>
          <a:xfrm>
            <a:off x="1514999" y="1206493"/>
            <a:ext cx="846000" cy="770400"/>
          </a:xfrm>
          <a:prstGeom prst="rect">
            <a:avLst/>
          </a:prstGeom>
          <a:solidFill>
            <a:srgbClr val="435D7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i="0" sz="22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288" name="Google Shape;288;p34"/>
          <p:cNvGrpSpPr/>
          <p:nvPr/>
        </p:nvGrpSpPr>
        <p:grpSpPr>
          <a:xfrm>
            <a:off x="1727796" y="1454589"/>
            <a:ext cx="348961" cy="274188"/>
            <a:chOff x="1487200" y="2021475"/>
            <a:chExt cx="483125" cy="483150"/>
          </a:xfrm>
        </p:grpSpPr>
        <p:sp>
          <p:nvSpPr>
            <p:cNvPr id="289" name="Google Shape;289;p34"/>
            <p:cNvSpPr/>
            <p:nvPr/>
          </p:nvSpPr>
          <p:spPr>
            <a:xfrm>
              <a:off x="1487200" y="2021475"/>
              <a:ext cx="483125" cy="483150"/>
            </a:xfrm>
            <a:custGeom>
              <a:rect b="b" l="l" r="r" t="t"/>
              <a:pathLst>
                <a:path extrusionOk="0" h="19326" w="19325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0" name="Google Shape;290;p34"/>
            <p:cNvSpPr/>
            <p:nvPr/>
          </p:nvSpPr>
          <p:spPr>
            <a:xfrm>
              <a:off x="1573100" y="2078100"/>
              <a:ext cx="84875" cy="284000"/>
            </a:xfrm>
            <a:custGeom>
              <a:rect b="b" l="l" r="r" t="t"/>
              <a:pathLst>
                <a:path extrusionOk="0" h="11360" w="3395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1" name="Google Shape;291;p34"/>
            <p:cNvSpPr/>
            <p:nvPr/>
          </p:nvSpPr>
          <p:spPr>
            <a:xfrm>
              <a:off x="1686325" y="2078100"/>
              <a:ext cx="84875" cy="284000"/>
            </a:xfrm>
            <a:custGeom>
              <a:rect b="b" l="l" r="r" t="t"/>
              <a:pathLst>
                <a:path extrusionOk="0" h="11360" w="3395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2" name="Google Shape;292;p34"/>
            <p:cNvSpPr/>
            <p:nvPr/>
          </p:nvSpPr>
          <p:spPr>
            <a:xfrm>
              <a:off x="1799550" y="2078100"/>
              <a:ext cx="84875" cy="284000"/>
            </a:xfrm>
            <a:custGeom>
              <a:rect b="b" l="l" r="r" t="t"/>
              <a:pathLst>
                <a:path extrusionOk="0" h="11360" w="3395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93" name="Google Shape;293;p34"/>
          <p:cNvSpPr/>
          <p:nvPr/>
        </p:nvSpPr>
        <p:spPr>
          <a:xfrm>
            <a:off x="1479274" y="2186540"/>
            <a:ext cx="846000" cy="77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1746125" y="2486639"/>
            <a:ext cx="312292" cy="274180"/>
          </a:xfrm>
          <a:custGeom>
            <a:rect b="b" l="l" r="r" t="t"/>
            <a:pathLst>
              <a:path extrusionOk="0" h="16985" w="19325">
                <a:moveTo>
                  <a:pt x="5662" y="1402"/>
                </a:moveTo>
                <a:lnTo>
                  <a:pt x="5662" y="13770"/>
                </a:lnTo>
                <a:lnTo>
                  <a:pt x="1133" y="15581"/>
                </a:lnTo>
                <a:lnTo>
                  <a:pt x="1133" y="3214"/>
                </a:lnTo>
                <a:lnTo>
                  <a:pt x="5662" y="1402"/>
                </a:lnTo>
                <a:close/>
                <a:moveTo>
                  <a:pt x="18192" y="1402"/>
                </a:moveTo>
                <a:lnTo>
                  <a:pt x="18192" y="13770"/>
                </a:lnTo>
                <a:lnTo>
                  <a:pt x="13663" y="15581"/>
                </a:lnTo>
                <a:lnTo>
                  <a:pt x="13663" y="3214"/>
                </a:lnTo>
                <a:lnTo>
                  <a:pt x="18192" y="1402"/>
                </a:lnTo>
                <a:close/>
                <a:moveTo>
                  <a:pt x="6794" y="1348"/>
                </a:moveTo>
                <a:lnTo>
                  <a:pt x="12531" y="3241"/>
                </a:lnTo>
                <a:lnTo>
                  <a:pt x="12531" y="9464"/>
                </a:lnTo>
                <a:lnTo>
                  <a:pt x="12510" y="9461"/>
                </a:lnTo>
                <a:cubicBezTo>
                  <a:pt x="12205" y="9437"/>
                  <a:pt x="11903" y="9364"/>
                  <a:pt x="11619" y="9244"/>
                </a:cubicBezTo>
                <a:cubicBezTo>
                  <a:pt x="11548" y="9214"/>
                  <a:pt x="11474" y="9200"/>
                  <a:pt x="11401" y="9200"/>
                </a:cubicBezTo>
                <a:cubicBezTo>
                  <a:pt x="11181" y="9200"/>
                  <a:pt x="10970" y="9330"/>
                  <a:pt x="10879" y="9546"/>
                </a:cubicBezTo>
                <a:cubicBezTo>
                  <a:pt x="10759" y="9832"/>
                  <a:pt x="10891" y="10165"/>
                  <a:pt x="11178" y="10288"/>
                </a:cubicBezTo>
                <a:cubicBezTo>
                  <a:pt x="11574" y="10454"/>
                  <a:pt x="11994" y="10557"/>
                  <a:pt x="12422" y="10590"/>
                </a:cubicBezTo>
                <a:lnTo>
                  <a:pt x="12468" y="10590"/>
                </a:lnTo>
                <a:cubicBezTo>
                  <a:pt x="12489" y="10590"/>
                  <a:pt x="12510" y="10587"/>
                  <a:pt x="12531" y="10584"/>
                </a:cubicBezTo>
                <a:lnTo>
                  <a:pt x="12531" y="15633"/>
                </a:lnTo>
                <a:lnTo>
                  <a:pt x="6794" y="13746"/>
                </a:lnTo>
                <a:lnTo>
                  <a:pt x="6794" y="6774"/>
                </a:lnTo>
                <a:cubicBezTo>
                  <a:pt x="6951" y="6777"/>
                  <a:pt x="7105" y="6795"/>
                  <a:pt x="7259" y="6822"/>
                </a:cubicBezTo>
                <a:cubicBezTo>
                  <a:pt x="7295" y="6828"/>
                  <a:pt x="7331" y="6834"/>
                  <a:pt x="7368" y="6834"/>
                </a:cubicBezTo>
                <a:cubicBezTo>
                  <a:pt x="7658" y="6831"/>
                  <a:pt x="7902" y="6611"/>
                  <a:pt x="7929" y="6321"/>
                </a:cubicBezTo>
                <a:cubicBezTo>
                  <a:pt x="7957" y="6028"/>
                  <a:pt x="7760" y="5765"/>
                  <a:pt x="7473" y="5711"/>
                </a:cubicBezTo>
                <a:cubicBezTo>
                  <a:pt x="7250" y="5669"/>
                  <a:pt x="7020" y="5644"/>
                  <a:pt x="6794" y="5641"/>
                </a:cubicBezTo>
                <a:lnTo>
                  <a:pt x="6794" y="1348"/>
                </a:lnTo>
                <a:close/>
                <a:moveTo>
                  <a:pt x="18757" y="0"/>
                </a:moveTo>
                <a:cubicBezTo>
                  <a:pt x="18687" y="0"/>
                  <a:pt x="18616" y="13"/>
                  <a:pt x="18549" y="40"/>
                </a:cubicBezTo>
                <a:lnTo>
                  <a:pt x="13077" y="2229"/>
                </a:lnTo>
                <a:lnTo>
                  <a:pt x="6405" y="28"/>
                </a:lnTo>
                <a:cubicBezTo>
                  <a:pt x="6395" y="25"/>
                  <a:pt x="6386" y="25"/>
                  <a:pt x="6380" y="22"/>
                </a:cubicBezTo>
                <a:cubicBezTo>
                  <a:pt x="6371" y="19"/>
                  <a:pt x="6359" y="16"/>
                  <a:pt x="6347" y="13"/>
                </a:cubicBezTo>
                <a:lnTo>
                  <a:pt x="6311" y="7"/>
                </a:lnTo>
                <a:cubicBezTo>
                  <a:pt x="6302" y="7"/>
                  <a:pt x="6290" y="4"/>
                  <a:pt x="6281" y="4"/>
                </a:cubicBezTo>
                <a:lnTo>
                  <a:pt x="6211" y="4"/>
                </a:lnTo>
                <a:cubicBezTo>
                  <a:pt x="6199" y="4"/>
                  <a:pt x="6187" y="4"/>
                  <a:pt x="6172" y="7"/>
                </a:cubicBezTo>
                <a:cubicBezTo>
                  <a:pt x="6166" y="9"/>
                  <a:pt x="6161" y="9"/>
                  <a:pt x="6157" y="9"/>
                </a:cubicBezTo>
                <a:cubicBezTo>
                  <a:pt x="6152" y="9"/>
                  <a:pt x="6148" y="9"/>
                  <a:pt x="6142" y="10"/>
                </a:cubicBezTo>
                <a:cubicBezTo>
                  <a:pt x="6133" y="13"/>
                  <a:pt x="6118" y="13"/>
                  <a:pt x="6106" y="16"/>
                </a:cubicBezTo>
                <a:lnTo>
                  <a:pt x="6075" y="22"/>
                </a:lnTo>
                <a:cubicBezTo>
                  <a:pt x="6063" y="28"/>
                  <a:pt x="6048" y="31"/>
                  <a:pt x="6036" y="37"/>
                </a:cubicBezTo>
                <a:cubicBezTo>
                  <a:pt x="6027" y="40"/>
                  <a:pt x="6021" y="40"/>
                  <a:pt x="6015" y="43"/>
                </a:cubicBezTo>
                <a:lnTo>
                  <a:pt x="354" y="2308"/>
                </a:lnTo>
                <a:cubicBezTo>
                  <a:pt x="139" y="2396"/>
                  <a:pt x="0" y="2601"/>
                  <a:pt x="0" y="2830"/>
                </a:cubicBezTo>
                <a:lnTo>
                  <a:pt x="0" y="16418"/>
                </a:lnTo>
                <a:cubicBezTo>
                  <a:pt x="0" y="16744"/>
                  <a:pt x="267" y="16984"/>
                  <a:pt x="566" y="16984"/>
                </a:cubicBezTo>
                <a:cubicBezTo>
                  <a:pt x="635" y="16984"/>
                  <a:pt x="706" y="16971"/>
                  <a:pt x="776" y="16943"/>
                </a:cubicBezTo>
                <a:lnTo>
                  <a:pt x="6248" y="14754"/>
                </a:lnTo>
                <a:lnTo>
                  <a:pt x="12917" y="16952"/>
                </a:lnTo>
                <a:cubicBezTo>
                  <a:pt x="12933" y="16958"/>
                  <a:pt x="12951" y="16964"/>
                  <a:pt x="12966" y="16967"/>
                </a:cubicBezTo>
                <a:cubicBezTo>
                  <a:pt x="13008" y="16976"/>
                  <a:pt x="13050" y="16983"/>
                  <a:pt x="13096" y="16983"/>
                </a:cubicBezTo>
                <a:lnTo>
                  <a:pt x="13099" y="16983"/>
                </a:lnTo>
                <a:cubicBezTo>
                  <a:pt x="13156" y="16983"/>
                  <a:pt x="13213" y="16973"/>
                  <a:pt x="13271" y="16955"/>
                </a:cubicBezTo>
                <a:cubicBezTo>
                  <a:pt x="13283" y="16952"/>
                  <a:pt x="13295" y="16946"/>
                  <a:pt x="13307" y="16940"/>
                </a:cubicBezTo>
                <a:lnTo>
                  <a:pt x="18965" y="14676"/>
                </a:lnTo>
                <a:cubicBezTo>
                  <a:pt x="19183" y="14591"/>
                  <a:pt x="19325" y="14386"/>
                  <a:pt x="19325" y="14153"/>
                </a:cubicBezTo>
                <a:lnTo>
                  <a:pt x="19325" y="566"/>
                </a:lnTo>
                <a:cubicBezTo>
                  <a:pt x="19325" y="379"/>
                  <a:pt x="19231" y="203"/>
                  <a:pt x="19077" y="98"/>
                </a:cubicBezTo>
                <a:cubicBezTo>
                  <a:pt x="18981" y="33"/>
                  <a:pt x="18869" y="0"/>
                  <a:pt x="187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295" name="Google Shape;295;p34"/>
          <p:cNvSpPr/>
          <p:nvPr/>
        </p:nvSpPr>
        <p:spPr>
          <a:xfrm>
            <a:off x="1435611" y="3329013"/>
            <a:ext cx="846000" cy="7704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6" name="Google Shape;296;p34"/>
          <p:cNvGrpSpPr/>
          <p:nvPr/>
        </p:nvGrpSpPr>
        <p:grpSpPr>
          <a:xfrm>
            <a:off x="1661173" y="3518689"/>
            <a:ext cx="394858" cy="391083"/>
            <a:chOff x="-59889100" y="2671925"/>
            <a:chExt cx="319000" cy="315950"/>
          </a:xfrm>
        </p:grpSpPr>
        <p:sp>
          <p:nvSpPr>
            <p:cNvPr id="297" name="Google Shape;297;p34"/>
            <p:cNvSpPr/>
            <p:nvPr/>
          </p:nvSpPr>
          <p:spPr>
            <a:xfrm>
              <a:off x="-59889100" y="2672000"/>
              <a:ext cx="149675" cy="256025"/>
            </a:xfrm>
            <a:custGeom>
              <a:rect b="b" l="l" r="r" t="t"/>
              <a:pathLst>
                <a:path extrusionOk="0" h="10241" w="5987">
                  <a:moveTo>
                    <a:pt x="5073" y="946"/>
                  </a:moveTo>
                  <a:lnTo>
                    <a:pt x="5073" y="2647"/>
                  </a:lnTo>
                  <a:lnTo>
                    <a:pt x="5104" y="2647"/>
                  </a:lnTo>
                  <a:cubicBezTo>
                    <a:pt x="3623" y="3151"/>
                    <a:pt x="2489" y="4569"/>
                    <a:pt x="2489" y="6302"/>
                  </a:cubicBezTo>
                  <a:cubicBezTo>
                    <a:pt x="2489" y="6900"/>
                    <a:pt x="2647" y="7499"/>
                    <a:pt x="2867" y="8034"/>
                  </a:cubicBezTo>
                  <a:lnTo>
                    <a:pt x="1639" y="9263"/>
                  </a:lnTo>
                  <a:cubicBezTo>
                    <a:pt x="1103" y="8381"/>
                    <a:pt x="788" y="7373"/>
                    <a:pt x="788" y="6302"/>
                  </a:cubicBezTo>
                  <a:cubicBezTo>
                    <a:pt x="788" y="3750"/>
                    <a:pt x="2584" y="1513"/>
                    <a:pt x="5073" y="946"/>
                  </a:cubicBezTo>
                  <a:close/>
                  <a:moveTo>
                    <a:pt x="5482" y="1"/>
                  </a:moveTo>
                  <a:cubicBezTo>
                    <a:pt x="2395" y="442"/>
                    <a:pt x="0" y="3088"/>
                    <a:pt x="0" y="6270"/>
                  </a:cubicBezTo>
                  <a:cubicBezTo>
                    <a:pt x="0" y="7688"/>
                    <a:pt x="441" y="8979"/>
                    <a:pt x="1292" y="10082"/>
                  </a:cubicBezTo>
                  <a:cubicBezTo>
                    <a:pt x="1377" y="10184"/>
                    <a:pt x="1500" y="10241"/>
                    <a:pt x="1624" y="10241"/>
                  </a:cubicBezTo>
                  <a:cubicBezTo>
                    <a:pt x="1729" y="10241"/>
                    <a:pt x="1835" y="10200"/>
                    <a:pt x="1922" y="10114"/>
                  </a:cubicBezTo>
                  <a:lnTo>
                    <a:pt x="3718" y="8349"/>
                  </a:lnTo>
                  <a:cubicBezTo>
                    <a:pt x="3812" y="8223"/>
                    <a:pt x="3844" y="8003"/>
                    <a:pt x="3781" y="7845"/>
                  </a:cubicBezTo>
                  <a:cubicBezTo>
                    <a:pt x="3497" y="7373"/>
                    <a:pt x="3340" y="6806"/>
                    <a:pt x="3340" y="6270"/>
                  </a:cubicBezTo>
                  <a:cubicBezTo>
                    <a:pt x="3340" y="4884"/>
                    <a:pt x="4285" y="3655"/>
                    <a:pt x="5671" y="3309"/>
                  </a:cubicBezTo>
                  <a:cubicBezTo>
                    <a:pt x="5860" y="3277"/>
                    <a:pt x="5986" y="3120"/>
                    <a:pt x="5986" y="2899"/>
                  </a:cubicBezTo>
                  <a:lnTo>
                    <a:pt x="5986" y="379"/>
                  </a:lnTo>
                  <a:cubicBezTo>
                    <a:pt x="5955" y="190"/>
                    <a:pt x="5703" y="1"/>
                    <a:pt x="54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4"/>
            <p:cNvSpPr/>
            <p:nvPr/>
          </p:nvSpPr>
          <p:spPr>
            <a:xfrm>
              <a:off x="-59830825" y="2892525"/>
              <a:ext cx="201650" cy="95350"/>
            </a:xfrm>
            <a:custGeom>
              <a:rect b="b" l="l" r="r" t="t"/>
              <a:pathLst>
                <a:path extrusionOk="0" h="3814" w="8066">
                  <a:moveTo>
                    <a:pt x="5735" y="946"/>
                  </a:moveTo>
                  <a:lnTo>
                    <a:pt x="6963" y="2175"/>
                  </a:lnTo>
                  <a:cubicBezTo>
                    <a:pt x="6113" y="2710"/>
                    <a:pt x="5073" y="2994"/>
                    <a:pt x="4065" y="2994"/>
                  </a:cubicBezTo>
                  <a:cubicBezTo>
                    <a:pt x="3025" y="2994"/>
                    <a:pt x="2017" y="2710"/>
                    <a:pt x="1135" y="2175"/>
                  </a:cubicBezTo>
                  <a:lnTo>
                    <a:pt x="2364" y="946"/>
                  </a:lnTo>
                  <a:cubicBezTo>
                    <a:pt x="2868" y="1198"/>
                    <a:pt x="3466" y="1356"/>
                    <a:pt x="4065" y="1356"/>
                  </a:cubicBezTo>
                  <a:cubicBezTo>
                    <a:pt x="4600" y="1356"/>
                    <a:pt x="5199" y="1198"/>
                    <a:pt x="5735" y="946"/>
                  </a:cubicBezTo>
                  <a:close/>
                  <a:moveTo>
                    <a:pt x="5758" y="1"/>
                  </a:moveTo>
                  <a:cubicBezTo>
                    <a:pt x="5693" y="1"/>
                    <a:pt x="5630" y="11"/>
                    <a:pt x="5577" y="32"/>
                  </a:cubicBezTo>
                  <a:cubicBezTo>
                    <a:pt x="5105" y="316"/>
                    <a:pt x="4569" y="474"/>
                    <a:pt x="4002" y="474"/>
                  </a:cubicBezTo>
                  <a:cubicBezTo>
                    <a:pt x="3956" y="476"/>
                    <a:pt x="3911" y="478"/>
                    <a:pt x="3865" y="478"/>
                  </a:cubicBezTo>
                  <a:cubicBezTo>
                    <a:pt x="3376" y="478"/>
                    <a:pt x="2890" y="326"/>
                    <a:pt x="2458" y="95"/>
                  </a:cubicBezTo>
                  <a:cubicBezTo>
                    <a:pt x="2389" y="54"/>
                    <a:pt x="2315" y="31"/>
                    <a:pt x="2239" y="31"/>
                  </a:cubicBezTo>
                  <a:cubicBezTo>
                    <a:pt x="2142" y="31"/>
                    <a:pt x="2043" y="70"/>
                    <a:pt x="1954" y="158"/>
                  </a:cubicBezTo>
                  <a:lnTo>
                    <a:pt x="190" y="1923"/>
                  </a:lnTo>
                  <a:cubicBezTo>
                    <a:pt x="1" y="2143"/>
                    <a:pt x="32" y="2395"/>
                    <a:pt x="221" y="2553"/>
                  </a:cubicBezTo>
                  <a:cubicBezTo>
                    <a:pt x="1324" y="3403"/>
                    <a:pt x="2616" y="3813"/>
                    <a:pt x="4002" y="3813"/>
                  </a:cubicBezTo>
                  <a:cubicBezTo>
                    <a:pt x="5388" y="3813"/>
                    <a:pt x="6711" y="3403"/>
                    <a:pt x="7814" y="2521"/>
                  </a:cubicBezTo>
                  <a:cubicBezTo>
                    <a:pt x="8035" y="2364"/>
                    <a:pt x="8066" y="2080"/>
                    <a:pt x="7877" y="1891"/>
                  </a:cubicBezTo>
                  <a:lnTo>
                    <a:pt x="6113" y="127"/>
                  </a:lnTo>
                  <a:cubicBezTo>
                    <a:pt x="6029" y="43"/>
                    <a:pt x="5889" y="1"/>
                    <a:pt x="57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4"/>
            <p:cNvSpPr/>
            <p:nvPr/>
          </p:nvSpPr>
          <p:spPr>
            <a:xfrm>
              <a:off x="-59719775" y="2671925"/>
              <a:ext cx="149675" cy="256425"/>
            </a:xfrm>
            <a:custGeom>
              <a:rect b="b" l="l" r="r" t="t"/>
              <a:pathLst>
                <a:path extrusionOk="0" h="10257" w="5987">
                  <a:moveTo>
                    <a:pt x="820" y="917"/>
                  </a:moveTo>
                  <a:cubicBezTo>
                    <a:pt x="3309" y="1453"/>
                    <a:pt x="5105" y="3690"/>
                    <a:pt x="5105" y="6273"/>
                  </a:cubicBezTo>
                  <a:cubicBezTo>
                    <a:pt x="5073" y="7344"/>
                    <a:pt x="4790" y="8352"/>
                    <a:pt x="4254" y="9235"/>
                  </a:cubicBezTo>
                  <a:lnTo>
                    <a:pt x="3025" y="8006"/>
                  </a:lnTo>
                  <a:cubicBezTo>
                    <a:pt x="3309" y="7502"/>
                    <a:pt x="3435" y="6903"/>
                    <a:pt x="3435" y="6305"/>
                  </a:cubicBezTo>
                  <a:cubicBezTo>
                    <a:pt x="3435" y="4572"/>
                    <a:pt x="2332" y="3154"/>
                    <a:pt x="820" y="2650"/>
                  </a:cubicBezTo>
                  <a:lnTo>
                    <a:pt x="820" y="917"/>
                  </a:lnTo>
                  <a:close/>
                  <a:moveTo>
                    <a:pt x="419" y="0"/>
                  </a:moveTo>
                  <a:cubicBezTo>
                    <a:pt x="190" y="0"/>
                    <a:pt x="1" y="180"/>
                    <a:pt x="1" y="413"/>
                  </a:cubicBezTo>
                  <a:lnTo>
                    <a:pt x="1" y="2934"/>
                  </a:lnTo>
                  <a:cubicBezTo>
                    <a:pt x="1" y="3123"/>
                    <a:pt x="127" y="3280"/>
                    <a:pt x="316" y="3312"/>
                  </a:cubicBezTo>
                  <a:cubicBezTo>
                    <a:pt x="1639" y="3658"/>
                    <a:pt x="2647" y="4855"/>
                    <a:pt x="2647" y="6273"/>
                  </a:cubicBezTo>
                  <a:cubicBezTo>
                    <a:pt x="2647" y="6809"/>
                    <a:pt x="2490" y="7376"/>
                    <a:pt x="2206" y="7848"/>
                  </a:cubicBezTo>
                  <a:cubicBezTo>
                    <a:pt x="2080" y="8006"/>
                    <a:pt x="2112" y="8195"/>
                    <a:pt x="2269" y="8352"/>
                  </a:cubicBezTo>
                  <a:lnTo>
                    <a:pt x="4065" y="10117"/>
                  </a:lnTo>
                  <a:cubicBezTo>
                    <a:pt x="4149" y="10214"/>
                    <a:pt x="4251" y="10257"/>
                    <a:pt x="4353" y="10257"/>
                  </a:cubicBezTo>
                  <a:cubicBezTo>
                    <a:pt x="4481" y="10257"/>
                    <a:pt x="4608" y="10190"/>
                    <a:pt x="4695" y="10085"/>
                  </a:cubicBezTo>
                  <a:cubicBezTo>
                    <a:pt x="5514" y="8982"/>
                    <a:pt x="5987" y="7659"/>
                    <a:pt x="5987" y="6273"/>
                  </a:cubicBezTo>
                  <a:cubicBezTo>
                    <a:pt x="5892" y="3123"/>
                    <a:pt x="3529" y="445"/>
                    <a:pt x="474" y="4"/>
                  </a:cubicBezTo>
                  <a:cubicBezTo>
                    <a:pt x="455" y="1"/>
                    <a:pt x="437" y="0"/>
                    <a:pt x="4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4"/>
            <p:cNvSpPr/>
            <p:nvPr/>
          </p:nvSpPr>
          <p:spPr>
            <a:xfrm>
              <a:off x="-59762300" y="2757075"/>
              <a:ext cx="63025" cy="145725"/>
            </a:xfrm>
            <a:custGeom>
              <a:rect b="b" l="l" r="r" t="t"/>
              <a:pathLst>
                <a:path extrusionOk="0" h="5829" w="2521">
                  <a:moveTo>
                    <a:pt x="1261" y="0"/>
                  </a:moveTo>
                  <a:cubicBezTo>
                    <a:pt x="1040" y="0"/>
                    <a:pt x="820" y="189"/>
                    <a:pt x="820" y="378"/>
                  </a:cubicBezTo>
                  <a:lnTo>
                    <a:pt x="820" y="662"/>
                  </a:lnTo>
                  <a:cubicBezTo>
                    <a:pt x="347" y="819"/>
                    <a:pt x="1" y="1292"/>
                    <a:pt x="1" y="1827"/>
                  </a:cubicBezTo>
                  <a:cubicBezTo>
                    <a:pt x="1" y="2521"/>
                    <a:pt x="568" y="2899"/>
                    <a:pt x="977" y="3214"/>
                  </a:cubicBezTo>
                  <a:cubicBezTo>
                    <a:pt x="1292" y="3466"/>
                    <a:pt x="1670" y="3686"/>
                    <a:pt x="1670" y="3938"/>
                  </a:cubicBezTo>
                  <a:cubicBezTo>
                    <a:pt x="1670" y="4159"/>
                    <a:pt x="1450" y="4348"/>
                    <a:pt x="1261" y="4348"/>
                  </a:cubicBezTo>
                  <a:cubicBezTo>
                    <a:pt x="1072" y="4348"/>
                    <a:pt x="820" y="4159"/>
                    <a:pt x="820" y="3938"/>
                  </a:cubicBezTo>
                  <a:cubicBezTo>
                    <a:pt x="820" y="3686"/>
                    <a:pt x="631" y="3497"/>
                    <a:pt x="442" y="3497"/>
                  </a:cubicBezTo>
                  <a:cubicBezTo>
                    <a:pt x="253" y="3497"/>
                    <a:pt x="32" y="3686"/>
                    <a:pt x="32" y="3938"/>
                  </a:cubicBezTo>
                  <a:cubicBezTo>
                    <a:pt x="32" y="4474"/>
                    <a:pt x="410" y="4915"/>
                    <a:pt x="883" y="5104"/>
                  </a:cubicBezTo>
                  <a:lnTo>
                    <a:pt x="883" y="5387"/>
                  </a:lnTo>
                  <a:cubicBezTo>
                    <a:pt x="883" y="5608"/>
                    <a:pt x="1072" y="5829"/>
                    <a:pt x="1292" y="5829"/>
                  </a:cubicBezTo>
                  <a:cubicBezTo>
                    <a:pt x="1544" y="5829"/>
                    <a:pt x="1702" y="5608"/>
                    <a:pt x="1702" y="5387"/>
                  </a:cubicBezTo>
                  <a:lnTo>
                    <a:pt x="1702" y="5104"/>
                  </a:lnTo>
                  <a:cubicBezTo>
                    <a:pt x="2175" y="4946"/>
                    <a:pt x="2521" y="4474"/>
                    <a:pt x="2521" y="3938"/>
                  </a:cubicBezTo>
                  <a:cubicBezTo>
                    <a:pt x="2521" y="3245"/>
                    <a:pt x="1985" y="2867"/>
                    <a:pt x="1544" y="2552"/>
                  </a:cubicBezTo>
                  <a:cubicBezTo>
                    <a:pt x="1229" y="2300"/>
                    <a:pt x="883" y="2079"/>
                    <a:pt x="883" y="1827"/>
                  </a:cubicBezTo>
                  <a:cubicBezTo>
                    <a:pt x="883" y="1607"/>
                    <a:pt x="1072" y="1418"/>
                    <a:pt x="1292" y="1418"/>
                  </a:cubicBezTo>
                  <a:cubicBezTo>
                    <a:pt x="1544" y="1418"/>
                    <a:pt x="1702" y="1607"/>
                    <a:pt x="1702" y="1827"/>
                  </a:cubicBezTo>
                  <a:cubicBezTo>
                    <a:pt x="1702" y="2079"/>
                    <a:pt x="1891" y="2268"/>
                    <a:pt x="2143" y="2268"/>
                  </a:cubicBezTo>
                  <a:cubicBezTo>
                    <a:pt x="2364" y="2268"/>
                    <a:pt x="2521" y="2079"/>
                    <a:pt x="2521" y="1827"/>
                  </a:cubicBezTo>
                  <a:cubicBezTo>
                    <a:pt x="2521" y="1292"/>
                    <a:pt x="2175" y="851"/>
                    <a:pt x="1702" y="662"/>
                  </a:cubicBezTo>
                  <a:lnTo>
                    <a:pt x="1702" y="378"/>
                  </a:lnTo>
                  <a:cubicBezTo>
                    <a:pt x="1702" y="189"/>
                    <a:pt x="1513" y="0"/>
                    <a:pt x="1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" name="Google Shape;301;p34"/>
          <p:cNvSpPr/>
          <p:nvPr/>
        </p:nvSpPr>
        <p:spPr>
          <a:xfrm>
            <a:off x="53774" y="3310575"/>
            <a:ext cx="1239187" cy="807303"/>
          </a:xfrm>
          <a:custGeom>
            <a:rect b="b" l="l" r="r" t="t"/>
            <a:pathLst>
              <a:path extrusionOk="0" h="18420" w="32281">
                <a:moveTo>
                  <a:pt x="1" y="0"/>
                </a:moveTo>
                <a:lnTo>
                  <a:pt x="7934" y="9210"/>
                </a:lnTo>
                <a:lnTo>
                  <a:pt x="1" y="18420"/>
                </a:lnTo>
                <a:lnTo>
                  <a:pt x="24348" y="18420"/>
                </a:lnTo>
                <a:lnTo>
                  <a:pt x="32281" y="9210"/>
                </a:lnTo>
                <a:lnTo>
                  <a:pt x="2434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</a:t>
            </a:r>
            <a:r>
              <a:rPr b="1" lang="en">
                <a:solidFill>
                  <a:schemeClr val="lt1"/>
                </a:solidFill>
              </a:rPr>
              <a:t> 3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02" name="Google Shape;302;p34"/>
          <p:cNvSpPr/>
          <p:nvPr/>
        </p:nvSpPr>
        <p:spPr>
          <a:xfrm>
            <a:off x="2478188" y="1226725"/>
            <a:ext cx="2119152" cy="807325"/>
          </a:xfrm>
          <a:custGeom>
            <a:rect b="b" l="l" r="r" t="t"/>
            <a:pathLst>
              <a:path extrusionOk="0" h="1142" w="2085">
                <a:moveTo>
                  <a:pt x="2085" y="0"/>
                </a:moveTo>
                <a:lnTo>
                  <a:pt x="0" y="0"/>
                </a:lnTo>
                <a:lnTo>
                  <a:pt x="0" y="798"/>
                </a:lnTo>
                <a:lnTo>
                  <a:pt x="1591" y="798"/>
                </a:lnTo>
                <a:lnTo>
                  <a:pt x="1763" y="1142"/>
                </a:lnTo>
                <a:lnTo>
                  <a:pt x="1935" y="798"/>
                </a:lnTo>
                <a:lnTo>
                  <a:pt x="2085" y="798"/>
                </a:lnTo>
                <a:lnTo>
                  <a:pt x="2085" y="0"/>
                </a:lnTo>
                <a:close/>
              </a:path>
            </a:pathLst>
          </a:custGeom>
          <a:solidFill>
            <a:srgbClr val="435D7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Identify parameters that impacts cost</a:t>
            </a:r>
            <a:endParaRPr b="1" sz="13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282F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4"/>
          <p:cNvSpPr/>
          <p:nvPr/>
        </p:nvSpPr>
        <p:spPr>
          <a:xfrm>
            <a:off x="2511599" y="2256463"/>
            <a:ext cx="2119152" cy="884701"/>
          </a:xfrm>
          <a:custGeom>
            <a:rect b="b" l="l" r="r" t="t"/>
            <a:pathLst>
              <a:path extrusionOk="0" h="1146" w="2085">
                <a:moveTo>
                  <a:pt x="1956" y="0"/>
                </a:moveTo>
                <a:lnTo>
                  <a:pt x="1763" y="385"/>
                </a:lnTo>
                <a:lnTo>
                  <a:pt x="1571" y="0"/>
                </a:lnTo>
                <a:lnTo>
                  <a:pt x="0" y="0"/>
                </a:lnTo>
                <a:lnTo>
                  <a:pt x="0" y="798"/>
                </a:lnTo>
                <a:lnTo>
                  <a:pt x="1590" y="798"/>
                </a:lnTo>
                <a:lnTo>
                  <a:pt x="1764" y="1146"/>
                </a:lnTo>
                <a:lnTo>
                  <a:pt x="1938" y="798"/>
                </a:lnTo>
                <a:lnTo>
                  <a:pt x="2085" y="798"/>
                </a:lnTo>
                <a:lnTo>
                  <a:pt x="2085" y="0"/>
                </a:lnTo>
                <a:lnTo>
                  <a:pt x="1956" y="0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</a:t>
            </a:r>
            <a:r>
              <a:rPr b="1" lang="en" sz="13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efine range of values </a:t>
            </a:r>
            <a:endParaRPr b="1" sz="13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for parameters</a:t>
            </a:r>
            <a:endParaRPr sz="13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4" name="Google Shape;304;p34"/>
          <p:cNvSpPr/>
          <p:nvPr/>
        </p:nvSpPr>
        <p:spPr>
          <a:xfrm>
            <a:off x="2478200" y="3363600"/>
            <a:ext cx="2119152" cy="807300"/>
          </a:xfrm>
          <a:custGeom>
            <a:rect b="b" l="l" r="r" t="t"/>
            <a:pathLst>
              <a:path extrusionOk="0" h="1146" w="2085">
                <a:moveTo>
                  <a:pt x="1956" y="0"/>
                </a:moveTo>
                <a:lnTo>
                  <a:pt x="1763" y="385"/>
                </a:lnTo>
                <a:lnTo>
                  <a:pt x="1571" y="0"/>
                </a:lnTo>
                <a:lnTo>
                  <a:pt x="0" y="0"/>
                </a:lnTo>
                <a:lnTo>
                  <a:pt x="0" y="798"/>
                </a:lnTo>
                <a:lnTo>
                  <a:pt x="1590" y="798"/>
                </a:lnTo>
                <a:lnTo>
                  <a:pt x="1764" y="1146"/>
                </a:lnTo>
                <a:lnTo>
                  <a:pt x="1938" y="798"/>
                </a:lnTo>
                <a:lnTo>
                  <a:pt x="2085" y="798"/>
                </a:lnTo>
                <a:lnTo>
                  <a:pt x="2085" y="0"/>
                </a:lnTo>
                <a:lnTo>
                  <a:pt x="1956" y="0"/>
                </a:lnTo>
                <a:close/>
              </a:path>
            </a:pathLst>
          </a:custGeom>
          <a:solidFill>
            <a:schemeClr val="accent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Evaluate impact on </a:t>
            </a:r>
            <a:endParaRPr b="1" sz="13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</a:t>
            </a:r>
            <a:endParaRPr i="0" sz="1900" u="none" cap="none" strike="noStrike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5" name="Google Shape;305;p34"/>
          <p:cNvSpPr txBox="1"/>
          <p:nvPr/>
        </p:nvSpPr>
        <p:spPr>
          <a:xfrm>
            <a:off x="-233097" y="1978129"/>
            <a:ext cx="1812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METHOD</a:t>
            </a:r>
            <a:endParaRPr sz="18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cxnSp>
        <p:nvCxnSpPr>
          <p:cNvPr id="306" name="Google Shape;306;p34"/>
          <p:cNvCxnSpPr/>
          <p:nvPr/>
        </p:nvCxnSpPr>
        <p:spPr>
          <a:xfrm flipH="1">
            <a:off x="4714545" y="1346175"/>
            <a:ext cx="17100" cy="2771700"/>
          </a:xfrm>
          <a:prstGeom prst="straightConnector1">
            <a:avLst/>
          </a:prstGeom>
          <a:noFill/>
          <a:ln cap="flat" cmpd="sng" w="38100">
            <a:solidFill>
              <a:srgbClr val="CBDC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pic>
        <p:nvPicPr>
          <p:cNvPr id="308" name="Google Shape;308;p34"/>
          <p:cNvPicPr preferRelativeResize="0"/>
          <p:nvPr/>
        </p:nvPicPr>
        <p:blipFill rotWithShape="1">
          <a:blip r:embed="rId3">
            <a:alphaModFix/>
          </a:blip>
          <a:srcRect b="0" l="-1031" r="-3146" t="0"/>
          <a:stretch/>
        </p:blipFill>
        <p:spPr>
          <a:xfrm>
            <a:off x="4682050" y="1192763"/>
            <a:ext cx="4423424" cy="29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4"/>
          <p:cNvSpPr/>
          <p:nvPr/>
        </p:nvSpPr>
        <p:spPr>
          <a:xfrm>
            <a:off x="5774325" y="877188"/>
            <a:ext cx="148475" cy="148800"/>
          </a:xfrm>
          <a:prstGeom prst="flowChartProcess">
            <a:avLst/>
          </a:prstGeom>
          <a:solidFill>
            <a:srgbClr val="4949E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34"/>
          <p:cNvSpPr txBox="1"/>
          <p:nvPr/>
        </p:nvSpPr>
        <p:spPr>
          <a:xfrm>
            <a:off x="5983375" y="750288"/>
            <a:ext cx="2573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on Cost Estimate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 txBox="1"/>
          <p:nvPr>
            <p:ph type="title"/>
          </p:nvPr>
        </p:nvSpPr>
        <p:spPr>
          <a:xfrm>
            <a:off x="64225" y="273925"/>
            <a:ext cx="82296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GPS Estimation Risk Matrix</a:t>
            </a:r>
            <a:endParaRPr/>
          </a:p>
        </p:txBody>
      </p:sp>
      <p:sp>
        <p:nvSpPr>
          <p:cNvPr id="316" name="Google Shape;316;p35"/>
          <p:cNvSpPr txBox="1"/>
          <p:nvPr/>
        </p:nvSpPr>
        <p:spPr>
          <a:xfrm>
            <a:off x="457200" y="4361150"/>
            <a:ext cx="82296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refer the link for the detailed risk matrix </a:t>
            </a:r>
            <a:r>
              <a:rPr lang="en" u="sng">
                <a:solidFill>
                  <a:schemeClr val="hlink"/>
                </a:solidFill>
                <a:hlinkClick r:id="rId3"/>
              </a:rPr>
              <a:t>GPS Risk Register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7" name="Google Shape;31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98470" y="0"/>
            <a:ext cx="9805046" cy="436115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324" name="Google Shape;324;p36"/>
          <p:cNvSpPr/>
          <p:nvPr/>
        </p:nvSpPr>
        <p:spPr>
          <a:xfrm rot="-5400000">
            <a:off x="967955" y="-967931"/>
            <a:ext cx="5143500" cy="7079375"/>
          </a:xfrm>
          <a:prstGeom prst="flowChartOffpageConnector">
            <a:avLst/>
          </a:pr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6"/>
          <p:cNvSpPr txBox="1"/>
          <p:nvPr>
            <p:ph type="title"/>
          </p:nvPr>
        </p:nvSpPr>
        <p:spPr>
          <a:xfrm>
            <a:off x="697425" y="1393175"/>
            <a:ext cx="82296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How would you protect the inaccuracy of this estimate?</a:t>
            </a:r>
            <a:endParaRPr sz="3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7"/>
          <p:cNvSpPr txBox="1"/>
          <p:nvPr>
            <p:ph type="title"/>
          </p:nvPr>
        </p:nvSpPr>
        <p:spPr>
          <a:xfrm>
            <a:off x="457200" y="411025"/>
            <a:ext cx="8229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are the sources of the </a:t>
            </a:r>
            <a:r>
              <a:rPr lang="en"/>
              <a:t>inaccuracies</a:t>
            </a:r>
            <a:r>
              <a:rPr lang="en"/>
              <a:t>?</a:t>
            </a:r>
            <a:endParaRPr/>
          </a:p>
        </p:txBody>
      </p:sp>
      <p:sp>
        <p:nvSpPr>
          <p:cNvPr id="331" name="Google Shape;331;p37"/>
          <p:cNvSpPr/>
          <p:nvPr/>
        </p:nvSpPr>
        <p:spPr>
          <a:xfrm>
            <a:off x="481100" y="1334675"/>
            <a:ext cx="1938000" cy="77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7"/>
          <p:cNvSpPr/>
          <p:nvPr/>
        </p:nvSpPr>
        <p:spPr>
          <a:xfrm>
            <a:off x="2773775" y="1346775"/>
            <a:ext cx="4747175" cy="1102324"/>
          </a:xfrm>
          <a:custGeom>
            <a:rect b="b" l="l" r="r" t="t"/>
            <a:pathLst>
              <a:path extrusionOk="0" h="1142" w="2085">
                <a:moveTo>
                  <a:pt x="2085" y="0"/>
                </a:moveTo>
                <a:lnTo>
                  <a:pt x="0" y="0"/>
                </a:lnTo>
                <a:lnTo>
                  <a:pt x="0" y="798"/>
                </a:lnTo>
                <a:lnTo>
                  <a:pt x="1591" y="798"/>
                </a:lnTo>
                <a:lnTo>
                  <a:pt x="1763" y="1142"/>
                </a:lnTo>
                <a:lnTo>
                  <a:pt x="1935" y="798"/>
                </a:lnTo>
                <a:lnTo>
                  <a:pt x="2085" y="798"/>
                </a:lnTo>
                <a:lnTo>
                  <a:pt x="2085" y="0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82F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7"/>
          <p:cNvSpPr txBox="1"/>
          <p:nvPr/>
        </p:nvSpPr>
        <p:spPr>
          <a:xfrm>
            <a:off x="662948" y="1436375"/>
            <a:ext cx="15744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pen Sans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KNOWLEDGE GAPS</a:t>
            </a:r>
            <a:endParaRPr i="0" sz="17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34" name="Google Shape;334;p37"/>
          <p:cNvSpPr txBox="1"/>
          <p:nvPr/>
        </p:nvSpPr>
        <p:spPr>
          <a:xfrm>
            <a:off x="2896800" y="1400406"/>
            <a:ext cx="38835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 some cases, the </a:t>
            </a: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components, assembly, and integrations required </a:t>
            </a: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are a first build for the organization. 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7"/>
          <p:cNvSpPr/>
          <p:nvPr/>
        </p:nvSpPr>
        <p:spPr>
          <a:xfrm>
            <a:off x="7808924" y="1368068"/>
            <a:ext cx="846000" cy="77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i="0" sz="22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36" name="Google Shape;336;p37"/>
          <p:cNvSpPr/>
          <p:nvPr/>
        </p:nvSpPr>
        <p:spPr>
          <a:xfrm>
            <a:off x="2796900" y="2457750"/>
            <a:ext cx="4651124" cy="1106174"/>
          </a:xfrm>
          <a:custGeom>
            <a:rect b="b" l="l" r="r" t="t"/>
            <a:pathLst>
              <a:path extrusionOk="0" h="1146" w="2085">
                <a:moveTo>
                  <a:pt x="1956" y="0"/>
                </a:moveTo>
                <a:lnTo>
                  <a:pt x="1763" y="385"/>
                </a:lnTo>
                <a:lnTo>
                  <a:pt x="1571" y="0"/>
                </a:lnTo>
                <a:lnTo>
                  <a:pt x="0" y="0"/>
                </a:lnTo>
                <a:lnTo>
                  <a:pt x="0" y="798"/>
                </a:lnTo>
                <a:lnTo>
                  <a:pt x="1590" y="798"/>
                </a:lnTo>
                <a:lnTo>
                  <a:pt x="1764" y="1146"/>
                </a:lnTo>
                <a:lnTo>
                  <a:pt x="1938" y="798"/>
                </a:lnTo>
                <a:lnTo>
                  <a:pt x="2085" y="798"/>
                </a:lnTo>
                <a:lnTo>
                  <a:pt x="2085" y="0"/>
                </a:lnTo>
                <a:lnTo>
                  <a:pt x="1956" y="0"/>
                </a:lnTo>
                <a:close/>
              </a:path>
            </a:pathLst>
          </a:custGeom>
          <a:solidFill>
            <a:schemeClr val="accent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82F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7"/>
          <p:cNvSpPr/>
          <p:nvPr/>
        </p:nvSpPr>
        <p:spPr>
          <a:xfrm>
            <a:off x="481076" y="2449300"/>
            <a:ext cx="1938000" cy="77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7"/>
          <p:cNvSpPr txBox="1"/>
          <p:nvPr/>
        </p:nvSpPr>
        <p:spPr>
          <a:xfrm>
            <a:off x="2896789" y="2567954"/>
            <a:ext cx="3201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cost of raw materials, tooling, and equipment is always fluctuating. 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7"/>
          <p:cNvSpPr/>
          <p:nvPr/>
        </p:nvSpPr>
        <p:spPr>
          <a:xfrm>
            <a:off x="7808949" y="2457753"/>
            <a:ext cx="846000" cy="77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7"/>
          <p:cNvSpPr/>
          <p:nvPr/>
        </p:nvSpPr>
        <p:spPr>
          <a:xfrm>
            <a:off x="2796895" y="3572573"/>
            <a:ext cx="4747175" cy="1106177"/>
          </a:xfrm>
          <a:custGeom>
            <a:rect b="b" l="l" r="r" t="t"/>
            <a:pathLst>
              <a:path extrusionOk="0" h="1146" w="2085">
                <a:moveTo>
                  <a:pt x="1956" y="0"/>
                </a:moveTo>
                <a:lnTo>
                  <a:pt x="1763" y="385"/>
                </a:lnTo>
                <a:lnTo>
                  <a:pt x="1571" y="0"/>
                </a:lnTo>
                <a:lnTo>
                  <a:pt x="0" y="0"/>
                </a:lnTo>
                <a:lnTo>
                  <a:pt x="0" y="798"/>
                </a:lnTo>
                <a:lnTo>
                  <a:pt x="1590" y="798"/>
                </a:lnTo>
                <a:lnTo>
                  <a:pt x="1764" y="1146"/>
                </a:lnTo>
                <a:lnTo>
                  <a:pt x="1938" y="798"/>
                </a:lnTo>
                <a:lnTo>
                  <a:pt x="2085" y="798"/>
                </a:lnTo>
                <a:lnTo>
                  <a:pt x="2085" y="0"/>
                </a:lnTo>
                <a:lnTo>
                  <a:pt x="1956" y="0"/>
                </a:lnTo>
                <a:close/>
              </a:path>
            </a:pathLst>
          </a:custGeom>
          <a:solidFill>
            <a:schemeClr val="accent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2F39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82F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7"/>
          <p:cNvSpPr/>
          <p:nvPr/>
        </p:nvSpPr>
        <p:spPr>
          <a:xfrm>
            <a:off x="481101" y="3563918"/>
            <a:ext cx="1938000" cy="77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7"/>
          <p:cNvSpPr txBox="1"/>
          <p:nvPr/>
        </p:nvSpPr>
        <p:spPr>
          <a:xfrm>
            <a:off x="2895139" y="3731890"/>
            <a:ext cx="3201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Design changes are almost inevitable with a first time build which could affect cost and schedule. 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37"/>
          <p:cNvSpPr/>
          <p:nvPr/>
        </p:nvSpPr>
        <p:spPr>
          <a:xfrm>
            <a:off x="7817074" y="3474963"/>
            <a:ext cx="846000" cy="77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28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7"/>
          <p:cNvSpPr txBox="1"/>
          <p:nvPr/>
        </p:nvSpPr>
        <p:spPr>
          <a:xfrm>
            <a:off x="844407" y="2550991"/>
            <a:ext cx="12114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pen Sans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MATERIAL COST</a:t>
            </a:r>
            <a:endParaRPr i="0" sz="17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45" name="Google Shape;345;p37"/>
          <p:cNvSpPr txBox="1"/>
          <p:nvPr/>
        </p:nvSpPr>
        <p:spPr>
          <a:xfrm>
            <a:off x="844457" y="3652882"/>
            <a:ext cx="12114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pen Sans"/>
              <a:buNone/>
            </a:pPr>
            <a:r>
              <a:rPr lang="en"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DESIGN CHANGES</a:t>
            </a:r>
            <a:endParaRPr i="0" sz="17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46" name="Google Shape;346;p37"/>
          <p:cNvSpPr txBox="1"/>
          <p:nvPr/>
        </p:nvSpPr>
        <p:spPr>
          <a:xfrm>
            <a:off x="844457" y="3999991"/>
            <a:ext cx="12114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pen Sans"/>
              <a:buNone/>
            </a:pPr>
            <a:r>
              <a:t/>
            </a:r>
            <a:endParaRPr i="0" sz="1700" u="none" cap="none" strike="noStrike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347" name="Google Shape;347;p37"/>
          <p:cNvGrpSpPr/>
          <p:nvPr/>
        </p:nvGrpSpPr>
        <p:grpSpPr>
          <a:xfrm>
            <a:off x="8057376" y="1657290"/>
            <a:ext cx="365399" cy="191966"/>
            <a:chOff x="2080675" y="352325"/>
            <a:chExt cx="485000" cy="254800"/>
          </a:xfrm>
        </p:grpSpPr>
        <p:sp>
          <p:nvSpPr>
            <p:cNvPr id="348" name="Google Shape;348;p37"/>
            <p:cNvSpPr/>
            <p:nvPr/>
          </p:nvSpPr>
          <p:spPr>
            <a:xfrm>
              <a:off x="2080675" y="352325"/>
              <a:ext cx="485000" cy="254800"/>
            </a:xfrm>
            <a:custGeom>
              <a:rect b="b" l="l" r="r" t="t"/>
              <a:pathLst>
                <a:path extrusionOk="0" h="10192" w="19400">
                  <a:moveTo>
                    <a:pt x="5514" y="2183"/>
                  </a:moveTo>
                  <a:cubicBezTo>
                    <a:pt x="4291" y="3932"/>
                    <a:pt x="4291" y="6254"/>
                    <a:pt x="5514" y="8002"/>
                  </a:cubicBezTo>
                  <a:cubicBezTo>
                    <a:pt x="4858" y="7685"/>
                    <a:pt x="4230" y="7320"/>
                    <a:pt x="3632" y="6909"/>
                  </a:cubicBezTo>
                  <a:cubicBezTo>
                    <a:pt x="2841" y="6368"/>
                    <a:pt x="2099" y="5762"/>
                    <a:pt x="1410" y="5097"/>
                  </a:cubicBezTo>
                  <a:cubicBezTo>
                    <a:pt x="2071" y="4454"/>
                    <a:pt x="3572" y="3126"/>
                    <a:pt x="5514" y="2183"/>
                  </a:cubicBezTo>
                  <a:close/>
                  <a:moveTo>
                    <a:pt x="13865" y="2171"/>
                  </a:moveTo>
                  <a:cubicBezTo>
                    <a:pt x="14527" y="2491"/>
                    <a:pt x="15167" y="2866"/>
                    <a:pt x="15774" y="3283"/>
                  </a:cubicBezTo>
                  <a:cubicBezTo>
                    <a:pt x="16562" y="3823"/>
                    <a:pt x="17304" y="4430"/>
                    <a:pt x="17996" y="5094"/>
                  </a:cubicBezTo>
                  <a:cubicBezTo>
                    <a:pt x="17307" y="5759"/>
                    <a:pt x="16565" y="6365"/>
                    <a:pt x="15774" y="6909"/>
                  </a:cubicBezTo>
                  <a:cubicBezTo>
                    <a:pt x="15167" y="7326"/>
                    <a:pt x="14530" y="7697"/>
                    <a:pt x="13865" y="8017"/>
                  </a:cubicBezTo>
                  <a:cubicBezTo>
                    <a:pt x="15097" y="6263"/>
                    <a:pt x="15097" y="3926"/>
                    <a:pt x="13865" y="2171"/>
                  </a:cubicBezTo>
                  <a:close/>
                  <a:moveTo>
                    <a:pt x="9801" y="1133"/>
                  </a:moveTo>
                  <a:cubicBezTo>
                    <a:pt x="11948" y="1190"/>
                    <a:pt x="13657" y="2947"/>
                    <a:pt x="13657" y="5091"/>
                  </a:cubicBezTo>
                  <a:cubicBezTo>
                    <a:pt x="13657" y="7238"/>
                    <a:pt x="11948" y="8995"/>
                    <a:pt x="9801" y="9053"/>
                  </a:cubicBezTo>
                  <a:lnTo>
                    <a:pt x="9566" y="9053"/>
                  </a:lnTo>
                  <a:cubicBezTo>
                    <a:pt x="7431" y="8983"/>
                    <a:pt x="5734" y="7232"/>
                    <a:pt x="5728" y="5094"/>
                  </a:cubicBezTo>
                  <a:cubicBezTo>
                    <a:pt x="5731" y="2947"/>
                    <a:pt x="7440" y="1190"/>
                    <a:pt x="9587" y="1133"/>
                  </a:cubicBezTo>
                  <a:close/>
                  <a:moveTo>
                    <a:pt x="9557" y="0"/>
                  </a:moveTo>
                  <a:cubicBezTo>
                    <a:pt x="7440" y="37"/>
                    <a:pt x="5166" y="852"/>
                    <a:pt x="2965" y="2362"/>
                  </a:cubicBezTo>
                  <a:cubicBezTo>
                    <a:pt x="1283" y="3518"/>
                    <a:pt x="239" y="4665"/>
                    <a:pt x="196" y="4714"/>
                  </a:cubicBezTo>
                  <a:cubicBezTo>
                    <a:pt x="0" y="4928"/>
                    <a:pt x="0" y="5257"/>
                    <a:pt x="196" y="5472"/>
                  </a:cubicBezTo>
                  <a:cubicBezTo>
                    <a:pt x="239" y="5523"/>
                    <a:pt x="1283" y="6670"/>
                    <a:pt x="2965" y="7827"/>
                  </a:cubicBezTo>
                  <a:cubicBezTo>
                    <a:pt x="5166" y="9337"/>
                    <a:pt x="7440" y="10149"/>
                    <a:pt x="9557" y="10188"/>
                  </a:cubicBezTo>
                  <a:cubicBezTo>
                    <a:pt x="9602" y="10188"/>
                    <a:pt x="9647" y="10191"/>
                    <a:pt x="9692" y="10191"/>
                  </a:cubicBezTo>
                  <a:lnTo>
                    <a:pt x="9717" y="10191"/>
                  </a:lnTo>
                  <a:cubicBezTo>
                    <a:pt x="11869" y="10185"/>
                    <a:pt x="14194" y="9367"/>
                    <a:pt x="16435" y="7827"/>
                  </a:cubicBezTo>
                  <a:cubicBezTo>
                    <a:pt x="18120" y="6670"/>
                    <a:pt x="19161" y="5523"/>
                    <a:pt x="19207" y="5475"/>
                  </a:cubicBezTo>
                  <a:cubicBezTo>
                    <a:pt x="19400" y="5257"/>
                    <a:pt x="19400" y="4931"/>
                    <a:pt x="19207" y="4714"/>
                  </a:cubicBezTo>
                  <a:cubicBezTo>
                    <a:pt x="19161" y="4665"/>
                    <a:pt x="18120" y="3521"/>
                    <a:pt x="16435" y="2365"/>
                  </a:cubicBezTo>
                  <a:cubicBezTo>
                    <a:pt x="14191" y="822"/>
                    <a:pt x="11869" y="6"/>
                    <a:pt x="9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49" name="Google Shape;349;p37"/>
            <p:cNvSpPr/>
            <p:nvPr/>
          </p:nvSpPr>
          <p:spPr>
            <a:xfrm>
              <a:off x="2246650" y="408900"/>
              <a:ext cx="147075" cy="141600"/>
            </a:xfrm>
            <a:custGeom>
              <a:rect b="b" l="l" r="r" t="t"/>
              <a:pathLst>
                <a:path extrusionOk="0" h="5664" w="5883">
                  <a:moveTo>
                    <a:pt x="3054" y="1132"/>
                  </a:moveTo>
                  <a:cubicBezTo>
                    <a:pt x="3495" y="1132"/>
                    <a:pt x="3930" y="1304"/>
                    <a:pt x="4255" y="1630"/>
                  </a:cubicBezTo>
                  <a:cubicBezTo>
                    <a:pt x="4738" y="2116"/>
                    <a:pt x="4886" y="2846"/>
                    <a:pt x="4624" y="3480"/>
                  </a:cubicBezTo>
                  <a:cubicBezTo>
                    <a:pt x="4358" y="4115"/>
                    <a:pt x="3739" y="4531"/>
                    <a:pt x="3053" y="4531"/>
                  </a:cubicBezTo>
                  <a:cubicBezTo>
                    <a:pt x="2114" y="4528"/>
                    <a:pt x="1357" y="3770"/>
                    <a:pt x="1353" y="2831"/>
                  </a:cubicBezTo>
                  <a:cubicBezTo>
                    <a:pt x="1353" y="2143"/>
                    <a:pt x="1767" y="1524"/>
                    <a:pt x="2404" y="1261"/>
                  </a:cubicBezTo>
                  <a:cubicBezTo>
                    <a:pt x="2614" y="1174"/>
                    <a:pt x="2835" y="1132"/>
                    <a:pt x="3054" y="1132"/>
                  </a:cubicBezTo>
                  <a:close/>
                  <a:moveTo>
                    <a:pt x="3053" y="1"/>
                  </a:moveTo>
                  <a:cubicBezTo>
                    <a:pt x="2316" y="1"/>
                    <a:pt x="1593" y="288"/>
                    <a:pt x="1052" y="829"/>
                  </a:cubicBezTo>
                  <a:cubicBezTo>
                    <a:pt x="242" y="1639"/>
                    <a:pt x="1" y="2855"/>
                    <a:pt x="439" y="3915"/>
                  </a:cubicBezTo>
                  <a:cubicBezTo>
                    <a:pt x="876" y="4972"/>
                    <a:pt x="1909" y="5663"/>
                    <a:pt x="3053" y="5663"/>
                  </a:cubicBezTo>
                  <a:cubicBezTo>
                    <a:pt x="4614" y="5660"/>
                    <a:pt x="5883" y="4395"/>
                    <a:pt x="5883" y="2831"/>
                  </a:cubicBezTo>
                  <a:cubicBezTo>
                    <a:pt x="5883" y="1687"/>
                    <a:pt x="5194" y="654"/>
                    <a:pt x="4137" y="216"/>
                  </a:cubicBezTo>
                  <a:cubicBezTo>
                    <a:pt x="3786" y="71"/>
                    <a:pt x="3418" y="1"/>
                    <a:pt x="30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0" name="Google Shape;350;p37"/>
          <p:cNvGrpSpPr/>
          <p:nvPr/>
        </p:nvGrpSpPr>
        <p:grpSpPr>
          <a:xfrm>
            <a:off x="8034523" y="2647414"/>
            <a:ext cx="394858" cy="391083"/>
            <a:chOff x="-59889100" y="2671925"/>
            <a:chExt cx="319000" cy="315950"/>
          </a:xfrm>
        </p:grpSpPr>
        <p:sp>
          <p:nvSpPr>
            <p:cNvPr id="351" name="Google Shape;351;p37"/>
            <p:cNvSpPr/>
            <p:nvPr/>
          </p:nvSpPr>
          <p:spPr>
            <a:xfrm>
              <a:off x="-59889100" y="2672000"/>
              <a:ext cx="149675" cy="256025"/>
            </a:xfrm>
            <a:custGeom>
              <a:rect b="b" l="l" r="r" t="t"/>
              <a:pathLst>
                <a:path extrusionOk="0" h="10241" w="5987">
                  <a:moveTo>
                    <a:pt x="5073" y="946"/>
                  </a:moveTo>
                  <a:lnTo>
                    <a:pt x="5073" y="2647"/>
                  </a:lnTo>
                  <a:lnTo>
                    <a:pt x="5104" y="2647"/>
                  </a:lnTo>
                  <a:cubicBezTo>
                    <a:pt x="3623" y="3151"/>
                    <a:pt x="2489" y="4569"/>
                    <a:pt x="2489" y="6302"/>
                  </a:cubicBezTo>
                  <a:cubicBezTo>
                    <a:pt x="2489" y="6900"/>
                    <a:pt x="2647" y="7499"/>
                    <a:pt x="2867" y="8034"/>
                  </a:cubicBezTo>
                  <a:lnTo>
                    <a:pt x="1639" y="9263"/>
                  </a:lnTo>
                  <a:cubicBezTo>
                    <a:pt x="1103" y="8381"/>
                    <a:pt x="788" y="7373"/>
                    <a:pt x="788" y="6302"/>
                  </a:cubicBezTo>
                  <a:cubicBezTo>
                    <a:pt x="788" y="3750"/>
                    <a:pt x="2584" y="1513"/>
                    <a:pt x="5073" y="946"/>
                  </a:cubicBezTo>
                  <a:close/>
                  <a:moveTo>
                    <a:pt x="5482" y="1"/>
                  </a:moveTo>
                  <a:cubicBezTo>
                    <a:pt x="2395" y="442"/>
                    <a:pt x="0" y="3088"/>
                    <a:pt x="0" y="6270"/>
                  </a:cubicBezTo>
                  <a:cubicBezTo>
                    <a:pt x="0" y="7688"/>
                    <a:pt x="441" y="8979"/>
                    <a:pt x="1292" y="10082"/>
                  </a:cubicBezTo>
                  <a:cubicBezTo>
                    <a:pt x="1377" y="10184"/>
                    <a:pt x="1500" y="10241"/>
                    <a:pt x="1624" y="10241"/>
                  </a:cubicBezTo>
                  <a:cubicBezTo>
                    <a:pt x="1729" y="10241"/>
                    <a:pt x="1835" y="10200"/>
                    <a:pt x="1922" y="10114"/>
                  </a:cubicBezTo>
                  <a:lnTo>
                    <a:pt x="3718" y="8349"/>
                  </a:lnTo>
                  <a:cubicBezTo>
                    <a:pt x="3812" y="8223"/>
                    <a:pt x="3844" y="8003"/>
                    <a:pt x="3781" y="7845"/>
                  </a:cubicBezTo>
                  <a:cubicBezTo>
                    <a:pt x="3497" y="7373"/>
                    <a:pt x="3340" y="6806"/>
                    <a:pt x="3340" y="6270"/>
                  </a:cubicBezTo>
                  <a:cubicBezTo>
                    <a:pt x="3340" y="4884"/>
                    <a:pt x="4285" y="3655"/>
                    <a:pt x="5671" y="3309"/>
                  </a:cubicBezTo>
                  <a:cubicBezTo>
                    <a:pt x="5860" y="3277"/>
                    <a:pt x="5986" y="3120"/>
                    <a:pt x="5986" y="2899"/>
                  </a:cubicBezTo>
                  <a:lnTo>
                    <a:pt x="5986" y="379"/>
                  </a:lnTo>
                  <a:cubicBezTo>
                    <a:pt x="5955" y="190"/>
                    <a:pt x="5703" y="1"/>
                    <a:pt x="54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-59830825" y="2892525"/>
              <a:ext cx="201650" cy="95350"/>
            </a:xfrm>
            <a:custGeom>
              <a:rect b="b" l="l" r="r" t="t"/>
              <a:pathLst>
                <a:path extrusionOk="0" h="3814" w="8066">
                  <a:moveTo>
                    <a:pt x="5735" y="946"/>
                  </a:moveTo>
                  <a:lnTo>
                    <a:pt x="6963" y="2175"/>
                  </a:lnTo>
                  <a:cubicBezTo>
                    <a:pt x="6113" y="2710"/>
                    <a:pt x="5073" y="2994"/>
                    <a:pt x="4065" y="2994"/>
                  </a:cubicBezTo>
                  <a:cubicBezTo>
                    <a:pt x="3025" y="2994"/>
                    <a:pt x="2017" y="2710"/>
                    <a:pt x="1135" y="2175"/>
                  </a:cubicBezTo>
                  <a:lnTo>
                    <a:pt x="2364" y="946"/>
                  </a:lnTo>
                  <a:cubicBezTo>
                    <a:pt x="2868" y="1198"/>
                    <a:pt x="3466" y="1356"/>
                    <a:pt x="4065" y="1356"/>
                  </a:cubicBezTo>
                  <a:cubicBezTo>
                    <a:pt x="4600" y="1356"/>
                    <a:pt x="5199" y="1198"/>
                    <a:pt x="5735" y="946"/>
                  </a:cubicBezTo>
                  <a:close/>
                  <a:moveTo>
                    <a:pt x="5758" y="1"/>
                  </a:moveTo>
                  <a:cubicBezTo>
                    <a:pt x="5693" y="1"/>
                    <a:pt x="5630" y="11"/>
                    <a:pt x="5577" y="32"/>
                  </a:cubicBezTo>
                  <a:cubicBezTo>
                    <a:pt x="5105" y="316"/>
                    <a:pt x="4569" y="474"/>
                    <a:pt x="4002" y="474"/>
                  </a:cubicBezTo>
                  <a:cubicBezTo>
                    <a:pt x="3956" y="476"/>
                    <a:pt x="3911" y="478"/>
                    <a:pt x="3865" y="478"/>
                  </a:cubicBezTo>
                  <a:cubicBezTo>
                    <a:pt x="3376" y="478"/>
                    <a:pt x="2890" y="326"/>
                    <a:pt x="2458" y="95"/>
                  </a:cubicBezTo>
                  <a:cubicBezTo>
                    <a:pt x="2389" y="54"/>
                    <a:pt x="2315" y="31"/>
                    <a:pt x="2239" y="31"/>
                  </a:cubicBezTo>
                  <a:cubicBezTo>
                    <a:pt x="2142" y="31"/>
                    <a:pt x="2043" y="70"/>
                    <a:pt x="1954" y="158"/>
                  </a:cubicBezTo>
                  <a:lnTo>
                    <a:pt x="190" y="1923"/>
                  </a:lnTo>
                  <a:cubicBezTo>
                    <a:pt x="1" y="2143"/>
                    <a:pt x="32" y="2395"/>
                    <a:pt x="221" y="2553"/>
                  </a:cubicBezTo>
                  <a:cubicBezTo>
                    <a:pt x="1324" y="3403"/>
                    <a:pt x="2616" y="3813"/>
                    <a:pt x="4002" y="3813"/>
                  </a:cubicBezTo>
                  <a:cubicBezTo>
                    <a:pt x="5388" y="3813"/>
                    <a:pt x="6711" y="3403"/>
                    <a:pt x="7814" y="2521"/>
                  </a:cubicBezTo>
                  <a:cubicBezTo>
                    <a:pt x="8035" y="2364"/>
                    <a:pt x="8066" y="2080"/>
                    <a:pt x="7877" y="1891"/>
                  </a:cubicBezTo>
                  <a:lnTo>
                    <a:pt x="6113" y="127"/>
                  </a:lnTo>
                  <a:cubicBezTo>
                    <a:pt x="6029" y="43"/>
                    <a:pt x="5889" y="1"/>
                    <a:pt x="57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-59719775" y="2671925"/>
              <a:ext cx="149675" cy="256425"/>
            </a:xfrm>
            <a:custGeom>
              <a:rect b="b" l="l" r="r" t="t"/>
              <a:pathLst>
                <a:path extrusionOk="0" h="10257" w="5987">
                  <a:moveTo>
                    <a:pt x="820" y="917"/>
                  </a:moveTo>
                  <a:cubicBezTo>
                    <a:pt x="3309" y="1453"/>
                    <a:pt x="5105" y="3690"/>
                    <a:pt x="5105" y="6273"/>
                  </a:cubicBezTo>
                  <a:cubicBezTo>
                    <a:pt x="5073" y="7344"/>
                    <a:pt x="4790" y="8352"/>
                    <a:pt x="4254" y="9235"/>
                  </a:cubicBezTo>
                  <a:lnTo>
                    <a:pt x="3025" y="8006"/>
                  </a:lnTo>
                  <a:cubicBezTo>
                    <a:pt x="3309" y="7502"/>
                    <a:pt x="3435" y="6903"/>
                    <a:pt x="3435" y="6305"/>
                  </a:cubicBezTo>
                  <a:cubicBezTo>
                    <a:pt x="3435" y="4572"/>
                    <a:pt x="2332" y="3154"/>
                    <a:pt x="820" y="2650"/>
                  </a:cubicBezTo>
                  <a:lnTo>
                    <a:pt x="820" y="917"/>
                  </a:lnTo>
                  <a:close/>
                  <a:moveTo>
                    <a:pt x="419" y="0"/>
                  </a:moveTo>
                  <a:cubicBezTo>
                    <a:pt x="190" y="0"/>
                    <a:pt x="1" y="180"/>
                    <a:pt x="1" y="413"/>
                  </a:cubicBezTo>
                  <a:lnTo>
                    <a:pt x="1" y="2934"/>
                  </a:lnTo>
                  <a:cubicBezTo>
                    <a:pt x="1" y="3123"/>
                    <a:pt x="127" y="3280"/>
                    <a:pt x="316" y="3312"/>
                  </a:cubicBezTo>
                  <a:cubicBezTo>
                    <a:pt x="1639" y="3658"/>
                    <a:pt x="2647" y="4855"/>
                    <a:pt x="2647" y="6273"/>
                  </a:cubicBezTo>
                  <a:cubicBezTo>
                    <a:pt x="2647" y="6809"/>
                    <a:pt x="2490" y="7376"/>
                    <a:pt x="2206" y="7848"/>
                  </a:cubicBezTo>
                  <a:cubicBezTo>
                    <a:pt x="2080" y="8006"/>
                    <a:pt x="2112" y="8195"/>
                    <a:pt x="2269" y="8352"/>
                  </a:cubicBezTo>
                  <a:lnTo>
                    <a:pt x="4065" y="10117"/>
                  </a:lnTo>
                  <a:cubicBezTo>
                    <a:pt x="4149" y="10214"/>
                    <a:pt x="4251" y="10257"/>
                    <a:pt x="4353" y="10257"/>
                  </a:cubicBezTo>
                  <a:cubicBezTo>
                    <a:pt x="4481" y="10257"/>
                    <a:pt x="4608" y="10190"/>
                    <a:pt x="4695" y="10085"/>
                  </a:cubicBezTo>
                  <a:cubicBezTo>
                    <a:pt x="5514" y="8982"/>
                    <a:pt x="5987" y="7659"/>
                    <a:pt x="5987" y="6273"/>
                  </a:cubicBezTo>
                  <a:cubicBezTo>
                    <a:pt x="5892" y="3123"/>
                    <a:pt x="3529" y="445"/>
                    <a:pt x="474" y="4"/>
                  </a:cubicBezTo>
                  <a:cubicBezTo>
                    <a:pt x="455" y="1"/>
                    <a:pt x="437" y="0"/>
                    <a:pt x="4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-59762300" y="2757075"/>
              <a:ext cx="63025" cy="145725"/>
            </a:xfrm>
            <a:custGeom>
              <a:rect b="b" l="l" r="r" t="t"/>
              <a:pathLst>
                <a:path extrusionOk="0" h="5829" w="2521">
                  <a:moveTo>
                    <a:pt x="1261" y="0"/>
                  </a:moveTo>
                  <a:cubicBezTo>
                    <a:pt x="1040" y="0"/>
                    <a:pt x="820" y="189"/>
                    <a:pt x="820" y="378"/>
                  </a:cubicBezTo>
                  <a:lnTo>
                    <a:pt x="820" y="662"/>
                  </a:lnTo>
                  <a:cubicBezTo>
                    <a:pt x="347" y="819"/>
                    <a:pt x="1" y="1292"/>
                    <a:pt x="1" y="1827"/>
                  </a:cubicBezTo>
                  <a:cubicBezTo>
                    <a:pt x="1" y="2521"/>
                    <a:pt x="568" y="2899"/>
                    <a:pt x="977" y="3214"/>
                  </a:cubicBezTo>
                  <a:cubicBezTo>
                    <a:pt x="1292" y="3466"/>
                    <a:pt x="1670" y="3686"/>
                    <a:pt x="1670" y="3938"/>
                  </a:cubicBezTo>
                  <a:cubicBezTo>
                    <a:pt x="1670" y="4159"/>
                    <a:pt x="1450" y="4348"/>
                    <a:pt x="1261" y="4348"/>
                  </a:cubicBezTo>
                  <a:cubicBezTo>
                    <a:pt x="1072" y="4348"/>
                    <a:pt x="820" y="4159"/>
                    <a:pt x="820" y="3938"/>
                  </a:cubicBezTo>
                  <a:cubicBezTo>
                    <a:pt x="820" y="3686"/>
                    <a:pt x="631" y="3497"/>
                    <a:pt x="442" y="3497"/>
                  </a:cubicBezTo>
                  <a:cubicBezTo>
                    <a:pt x="253" y="3497"/>
                    <a:pt x="32" y="3686"/>
                    <a:pt x="32" y="3938"/>
                  </a:cubicBezTo>
                  <a:cubicBezTo>
                    <a:pt x="32" y="4474"/>
                    <a:pt x="410" y="4915"/>
                    <a:pt x="883" y="5104"/>
                  </a:cubicBezTo>
                  <a:lnTo>
                    <a:pt x="883" y="5387"/>
                  </a:lnTo>
                  <a:cubicBezTo>
                    <a:pt x="883" y="5608"/>
                    <a:pt x="1072" y="5829"/>
                    <a:pt x="1292" y="5829"/>
                  </a:cubicBezTo>
                  <a:cubicBezTo>
                    <a:pt x="1544" y="5829"/>
                    <a:pt x="1702" y="5608"/>
                    <a:pt x="1702" y="5387"/>
                  </a:cubicBezTo>
                  <a:lnTo>
                    <a:pt x="1702" y="5104"/>
                  </a:lnTo>
                  <a:cubicBezTo>
                    <a:pt x="2175" y="4946"/>
                    <a:pt x="2521" y="4474"/>
                    <a:pt x="2521" y="3938"/>
                  </a:cubicBezTo>
                  <a:cubicBezTo>
                    <a:pt x="2521" y="3245"/>
                    <a:pt x="1985" y="2867"/>
                    <a:pt x="1544" y="2552"/>
                  </a:cubicBezTo>
                  <a:cubicBezTo>
                    <a:pt x="1229" y="2300"/>
                    <a:pt x="883" y="2079"/>
                    <a:pt x="883" y="1827"/>
                  </a:cubicBezTo>
                  <a:cubicBezTo>
                    <a:pt x="883" y="1607"/>
                    <a:pt x="1072" y="1418"/>
                    <a:pt x="1292" y="1418"/>
                  </a:cubicBezTo>
                  <a:cubicBezTo>
                    <a:pt x="1544" y="1418"/>
                    <a:pt x="1702" y="1607"/>
                    <a:pt x="1702" y="1827"/>
                  </a:cubicBezTo>
                  <a:cubicBezTo>
                    <a:pt x="1702" y="2079"/>
                    <a:pt x="1891" y="2268"/>
                    <a:pt x="2143" y="2268"/>
                  </a:cubicBezTo>
                  <a:cubicBezTo>
                    <a:pt x="2364" y="2268"/>
                    <a:pt x="2521" y="2079"/>
                    <a:pt x="2521" y="1827"/>
                  </a:cubicBezTo>
                  <a:cubicBezTo>
                    <a:pt x="2521" y="1292"/>
                    <a:pt x="2175" y="851"/>
                    <a:pt x="1702" y="662"/>
                  </a:cubicBezTo>
                  <a:lnTo>
                    <a:pt x="1702" y="378"/>
                  </a:lnTo>
                  <a:cubicBezTo>
                    <a:pt x="1702" y="189"/>
                    <a:pt x="1513" y="0"/>
                    <a:pt x="1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" name="Google Shape;355;p37"/>
          <p:cNvGrpSpPr/>
          <p:nvPr/>
        </p:nvGrpSpPr>
        <p:grpSpPr>
          <a:xfrm>
            <a:off x="8056286" y="3731909"/>
            <a:ext cx="367584" cy="364043"/>
            <a:chOff x="3860250" y="1427025"/>
            <a:chExt cx="487900" cy="483200"/>
          </a:xfrm>
        </p:grpSpPr>
        <p:sp>
          <p:nvSpPr>
            <p:cNvPr id="356" name="Google Shape;356;p37"/>
            <p:cNvSpPr/>
            <p:nvPr/>
          </p:nvSpPr>
          <p:spPr>
            <a:xfrm>
              <a:off x="3875800" y="1427025"/>
              <a:ext cx="472350" cy="468650"/>
            </a:xfrm>
            <a:custGeom>
              <a:rect b="b" l="l" r="r" t="t"/>
              <a:pathLst>
                <a:path extrusionOk="0" h="18746" w="18894">
                  <a:moveTo>
                    <a:pt x="15874" y="1821"/>
                  </a:moveTo>
                  <a:lnTo>
                    <a:pt x="6498" y="9403"/>
                  </a:lnTo>
                  <a:lnTo>
                    <a:pt x="1918" y="5629"/>
                  </a:lnTo>
                  <a:lnTo>
                    <a:pt x="15874" y="1821"/>
                  </a:lnTo>
                  <a:close/>
                  <a:moveTo>
                    <a:pt x="14524" y="4370"/>
                  </a:moveTo>
                  <a:lnTo>
                    <a:pt x="8425" y="11912"/>
                  </a:lnTo>
                  <a:lnTo>
                    <a:pt x="6257" y="12634"/>
                  </a:lnTo>
                  <a:lnTo>
                    <a:pt x="6981" y="10469"/>
                  </a:lnTo>
                  <a:lnTo>
                    <a:pt x="14524" y="4370"/>
                  </a:lnTo>
                  <a:close/>
                  <a:moveTo>
                    <a:pt x="17072" y="3020"/>
                  </a:moveTo>
                  <a:lnTo>
                    <a:pt x="13265" y="16976"/>
                  </a:lnTo>
                  <a:lnTo>
                    <a:pt x="9491" y="12392"/>
                  </a:lnTo>
                  <a:lnTo>
                    <a:pt x="17072" y="3020"/>
                  </a:lnTo>
                  <a:close/>
                  <a:moveTo>
                    <a:pt x="18298" y="0"/>
                  </a:moveTo>
                  <a:cubicBezTo>
                    <a:pt x="18286" y="0"/>
                    <a:pt x="18274" y="0"/>
                    <a:pt x="18262" y="3"/>
                  </a:cubicBezTo>
                  <a:lnTo>
                    <a:pt x="18253" y="3"/>
                  </a:lnTo>
                  <a:cubicBezTo>
                    <a:pt x="18238" y="6"/>
                    <a:pt x="18223" y="6"/>
                    <a:pt x="18211" y="12"/>
                  </a:cubicBezTo>
                  <a:lnTo>
                    <a:pt x="18193" y="15"/>
                  </a:lnTo>
                  <a:lnTo>
                    <a:pt x="18178" y="18"/>
                  </a:lnTo>
                  <a:lnTo>
                    <a:pt x="562" y="4822"/>
                  </a:lnTo>
                  <a:cubicBezTo>
                    <a:pt x="121" y="4943"/>
                    <a:pt x="0" y="5511"/>
                    <a:pt x="351" y="5804"/>
                  </a:cubicBezTo>
                  <a:lnTo>
                    <a:pt x="5834" y="10321"/>
                  </a:lnTo>
                  <a:lnTo>
                    <a:pt x="4826" y="13349"/>
                  </a:lnTo>
                  <a:cubicBezTo>
                    <a:pt x="4696" y="13732"/>
                    <a:pt x="4991" y="14098"/>
                    <a:pt x="5359" y="14098"/>
                  </a:cubicBezTo>
                  <a:cubicBezTo>
                    <a:pt x="5418" y="14098"/>
                    <a:pt x="5479" y="14089"/>
                    <a:pt x="5541" y="14068"/>
                  </a:cubicBezTo>
                  <a:lnTo>
                    <a:pt x="8570" y="13060"/>
                  </a:lnTo>
                  <a:lnTo>
                    <a:pt x="13087" y="18540"/>
                  </a:lnTo>
                  <a:cubicBezTo>
                    <a:pt x="13195" y="18670"/>
                    <a:pt x="13355" y="18745"/>
                    <a:pt x="13525" y="18745"/>
                  </a:cubicBezTo>
                  <a:cubicBezTo>
                    <a:pt x="13564" y="18745"/>
                    <a:pt x="13603" y="18742"/>
                    <a:pt x="13642" y="18733"/>
                  </a:cubicBezTo>
                  <a:cubicBezTo>
                    <a:pt x="13848" y="18691"/>
                    <a:pt x="14014" y="18534"/>
                    <a:pt x="14071" y="18328"/>
                  </a:cubicBezTo>
                  <a:lnTo>
                    <a:pt x="18875" y="716"/>
                  </a:lnTo>
                  <a:cubicBezTo>
                    <a:pt x="18875" y="710"/>
                    <a:pt x="18875" y="704"/>
                    <a:pt x="18878" y="698"/>
                  </a:cubicBezTo>
                  <a:lnTo>
                    <a:pt x="18881" y="683"/>
                  </a:lnTo>
                  <a:cubicBezTo>
                    <a:pt x="18884" y="668"/>
                    <a:pt x="18887" y="653"/>
                    <a:pt x="18890" y="637"/>
                  </a:cubicBezTo>
                  <a:cubicBezTo>
                    <a:pt x="18890" y="637"/>
                    <a:pt x="18890" y="634"/>
                    <a:pt x="18890" y="631"/>
                  </a:cubicBezTo>
                  <a:cubicBezTo>
                    <a:pt x="18890" y="619"/>
                    <a:pt x="18890" y="604"/>
                    <a:pt x="18893" y="592"/>
                  </a:cubicBezTo>
                  <a:lnTo>
                    <a:pt x="18893" y="580"/>
                  </a:lnTo>
                  <a:cubicBezTo>
                    <a:pt x="18893" y="568"/>
                    <a:pt x="18893" y="553"/>
                    <a:pt x="18893" y="541"/>
                  </a:cubicBezTo>
                  <a:cubicBezTo>
                    <a:pt x="18893" y="538"/>
                    <a:pt x="18893" y="535"/>
                    <a:pt x="18893" y="532"/>
                  </a:cubicBezTo>
                  <a:cubicBezTo>
                    <a:pt x="18893" y="517"/>
                    <a:pt x="18890" y="502"/>
                    <a:pt x="18890" y="487"/>
                  </a:cubicBezTo>
                  <a:cubicBezTo>
                    <a:pt x="18890" y="483"/>
                    <a:pt x="18890" y="480"/>
                    <a:pt x="18887" y="477"/>
                  </a:cubicBezTo>
                  <a:cubicBezTo>
                    <a:pt x="18887" y="465"/>
                    <a:pt x="18884" y="453"/>
                    <a:pt x="18881" y="441"/>
                  </a:cubicBezTo>
                  <a:lnTo>
                    <a:pt x="18878" y="429"/>
                  </a:lnTo>
                  <a:cubicBezTo>
                    <a:pt x="18875" y="417"/>
                    <a:pt x="18872" y="402"/>
                    <a:pt x="18866" y="390"/>
                  </a:cubicBezTo>
                  <a:cubicBezTo>
                    <a:pt x="18866" y="387"/>
                    <a:pt x="18866" y="384"/>
                    <a:pt x="18863" y="381"/>
                  </a:cubicBezTo>
                  <a:cubicBezTo>
                    <a:pt x="18860" y="369"/>
                    <a:pt x="18854" y="354"/>
                    <a:pt x="18848" y="345"/>
                  </a:cubicBezTo>
                  <a:cubicBezTo>
                    <a:pt x="18848" y="339"/>
                    <a:pt x="18845" y="333"/>
                    <a:pt x="18842" y="329"/>
                  </a:cubicBezTo>
                  <a:cubicBezTo>
                    <a:pt x="18839" y="323"/>
                    <a:pt x="18833" y="308"/>
                    <a:pt x="18830" y="299"/>
                  </a:cubicBezTo>
                  <a:cubicBezTo>
                    <a:pt x="18824" y="290"/>
                    <a:pt x="18824" y="290"/>
                    <a:pt x="18821" y="287"/>
                  </a:cubicBezTo>
                  <a:cubicBezTo>
                    <a:pt x="18815" y="275"/>
                    <a:pt x="18806" y="263"/>
                    <a:pt x="18797" y="248"/>
                  </a:cubicBezTo>
                  <a:lnTo>
                    <a:pt x="18790" y="239"/>
                  </a:lnTo>
                  <a:cubicBezTo>
                    <a:pt x="18784" y="230"/>
                    <a:pt x="18775" y="221"/>
                    <a:pt x="18769" y="212"/>
                  </a:cubicBezTo>
                  <a:cubicBezTo>
                    <a:pt x="18760" y="203"/>
                    <a:pt x="18763" y="203"/>
                    <a:pt x="18760" y="200"/>
                  </a:cubicBezTo>
                  <a:cubicBezTo>
                    <a:pt x="18751" y="188"/>
                    <a:pt x="18739" y="176"/>
                    <a:pt x="18727" y="163"/>
                  </a:cubicBezTo>
                  <a:cubicBezTo>
                    <a:pt x="18718" y="154"/>
                    <a:pt x="18706" y="142"/>
                    <a:pt x="18694" y="133"/>
                  </a:cubicBezTo>
                  <a:lnTo>
                    <a:pt x="18682" y="124"/>
                  </a:lnTo>
                  <a:cubicBezTo>
                    <a:pt x="18673" y="115"/>
                    <a:pt x="18664" y="109"/>
                    <a:pt x="18655" y="103"/>
                  </a:cubicBezTo>
                  <a:lnTo>
                    <a:pt x="18643" y="94"/>
                  </a:lnTo>
                  <a:cubicBezTo>
                    <a:pt x="18630" y="88"/>
                    <a:pt x="18618" y="79"/>
                    <a:pt x="18606" y="73"/>
                  </a:cubicBezTo>
                  <a:lnTo>
                    <a:pt x="18591" y="64"/>
                  </a:lnTo>
                  <a:lnTo>
                    <a:pt x="18564" y="52"/>
                  </a:lnTo>
                  <a:lnTo>
                    <a:pt x="18549" y="43"/>
                  </a:lnTo>
                  <a:cubicBezTo>
                    <a:pt x="18537" y="40"/>
                    <a:pt x="18522" y="34"/>
                    <a:pt x="18510" y="28"/>
                  </a:cubicBezTo>
                  <a:lnTo>
                    <a:pt x="18501" y="28"/>
                  </a:lnTo>
                  <a:cubicBezTo>
                    <a:pt x="18489" y="22"/>
                    <a:pt x="18476" y="18"/>
                    <a:pt x="18464" y="15"/>
                  </a:cubicBezTo>
                  <a:lnTo>
                    <a:pt x="18449" y="12"/>
                  </a:lnTo>
                  <a:lnTo>
                    <a:pt x="18416" y="6"/>
                  </a:lnTo>
                  <a:lnTo>
                    <a:pt x="18404" y="3"/>
                  </a:lnTo>
                  <a:cubicBezTo>
                    <a:pt x="18389" y="3"/>
                    <a:pt x="18374" y="0"/>
                    <a:pt x="183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3860250" y="1861675"/>
              <a:ext cx="54675" cy="48550"/>
            </a:xfrm>
            <a:custGeom>
              <a:rect b="b" l="l" r="r" t="t"/>
              <a:pathLst>
                <a:path extrusionOk="0" h="1942" w="2187">
                  <a:moveTo>
                    <a:pt x="1563" y="1"/>
                  </a:moveTo>
                  <a:cubicBezTo>
                    <a:pt x="1416" y="1"/>
                    <a:pt x="1268" y="58"/>
                    <a:pt x="1157" y="172"/>
                  </a:cubicBezTo>
                  <a:lnTo>
                    <a:pt x="357" y="976"/>
                  </a:lnTo>
                  <a:cubicBezTo>
                    <a:pt x="0" y="1332"/>
                    <a:pt x="254" y="1942"/>
                    <a:pt x="758" y="1942"/>
                  </a:cubicBezTo>
                  <a:cubicBezTo>
                    <a:pt x="906" y="1942"/>
                    <a:pt x="1051" y="1882"/>
                    <a:pt x="1157" y="1776"/>
                  </a:cubicBezTo>
                  <a:lnTo>
                    <a:pt x="1957" y="973"/>
                  </a:lnTo>
                  <a:cubicBezTo>
                    <a:pt x="2184" y="755"/>
                    <a:pt x="2187" y="390"/>
                    <a:pt x="1963" y="166"/>
                  </a:cubicBezTo>
                  <a:cubicBezTo>
                    <a:pt x="1853" y="56"/>
                    <a:pt x="1708" y="1"/>
                    <a:pt x="1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3923425" y="1801775"/>
              <a:ext cx="51350" cy="48550"/>
            </a:xfrm>
            <a:custGeom>
              <a:rect b="b" l="l" r="r" t="t"/>
              <a:pathLst>
                <a:path extrusionOk="0" h="1942" w="2054">
                  <a:moveTo>
                    <a:pt x="1430" y="0"/>
                  </a:moveTo>
                  <a:cubicBezTo>
                    <a:pt x="1286" y="0"/>
                    <a:pt x="1141" y="56"/>
                    <a:pt x="1030" y="168"/>
                  </a:cubicBezTo>
                  <a:lnTo>
                    <a:pt x="230" y="968"/>
                  </a:lnTo>
                  <a:cubicBezTo>
                    <a:pt x="4" y="1189"/>
                    <a:pt x="1" y="1551"/>
                    <a:pt x="224" y="1774"/>
                  </a:cubicBezTo>
                  <a:cubicBezTo>
                    <a:pt x="334" y="1886"/>
                    <a:pt x="478" y="1941"/>
                    <a:pt x="623" y="1941"/>
                  </a:cubicBezTo>
                  <a:cubicBezTo>
                    <a:pt x="771" y="1941"/>
                    <a:pt x="919" y="1883"/>
                    <a:pt x="1030" y="1768"/>
                  </a:cubicBezTo>
                  <a:lnTo>
                    <a:pt x="1831" y="968"/>
                  </a:lnTo>
                  <a:cubicBezTo>
                    <a:pt x="2054" y="745"/>
                    <a:pt x="2051" y="388"/>
                    <a:pt x="1831" y="168"/>
                  </a:cubicBezTo>
                  <a:cubicBezTo>
                    <a:pt x="1720" y="56"/>
                    <a:pt x="1575" y="0"/>
                    <a:pt x="14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59" name="Google Shape;359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457200" y="411025"/>
            <a:ext cx="8229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do we protect the inaccuracies of the estimate?</a:t>
            </a:r>
            <a:endParaRPr/>
          </a:p>
        </p:txBody>
      </p:sp>
      <p:graphicFrame>
        <p:nvGraphicFramePr>
          <p:cNvPr id="365" name="Google Shape;365;p38"/>
          <p:cNvGraphicFramePr/>
          <p:nvPr/>
        </p:nvGraphicFramePr>
        <p:xfrm>
          <a:off x="802575" y="120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{F01BA93C-2169-4B38-BACA-5810F1A31930}</a:tableStyleId>
              </a:tblPr>
              <a:tblGrid>
                <a:gridCol w="1807450"/>
                <a:gridCol w="1868225"/>
                <a:gridCol w="1780450"/>
                <a:gridCol w="2139725"/>
              </a:tblGrid>
              <a:tr h="75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KNOWLEDGE GAP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MATERIAL COSTS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Fira Sans Extra Condensed Medium"/>
                          <a:ea typeface="Fira Sans Extra Condensed Medium"/>
                          <a:cs typeface="Fira Sans Extra Condensed Medium"/>
                          <a:sym typeface="Fira Sans Extra Condensed Medium"/>
                        </a:rPr>
                        <a:t>DESIGN CHANGES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75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Fira Sans Condensed Medium"/>
                          <a:ea typeface="Fira Sans Condensed Medium"/>
                          <a:cs typeface="Fira Sans Condensed Medium"/>
                          <a:sym typeface="Fira Sans Condensed Medium"/>
                        </a:rPr>
                        <a:t>STRATEGY 1</a:t>
                      </a:r>
                      <a:endParaRPr sz="1700">
                        <a:latin typeface="Fira Sans Condensed Medium"/>
                        <a:ea typeface="Fira Sans Condensed Medium"/>
                        <a:cs typeface="Fira Sans Condensed Medium"/>
                        <a:sym typeface="Fira Sans Condensed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Consult with SME’s both in and out of the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organization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if necessary.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Include a reserve fund to account for fluctuations in raw materials, equipment, etc.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Propose a plan for revisiting and adjusting the estimate at key project milestones as more information becomes available.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Fira Sans Condensed Medium"/>
                          <a:ea typeface="Fira Sans Condensed Medium"/>
                          <a:cs typeface="Fira Sans Condensed Medium"/>
                          <a:sym typeface="Fira Sans Condensed Medium"/>
                        </a:rPr>
                        <a:t>STRATEGY 2</a:t>
                      </a:r>
                      <a:endParaRPr sz="1700">
                        <a:latin typeface="Fira Sans Condensed Medium"/>
                        <a:ea typeface="Fira Sans Condensed Medium"/>
                        <a:cs typeface="Fira Sans Condensed Medium"/>
                        <a:sym typeface="Fira Sans Condensed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Assumptions will drive the estimate, thus, document all assumptions made to make decisions easier downstream.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Gather quotes, begin to build supplier relations, develop a wide supply base.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Design an MVP / prototype if possible and use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parametric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modeling to scale cost or factor changes in.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6" name="Google Shape;366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372" name="Google Shape;372;p39"/>
          <p:cNvSpPr/>
          <p:nvPr/>
        </p:nvSpPr>
        <p:spPr>
          <a:xfrm rot="-5400000">
            <a:off x="967955" y="-967931"/>
            <a:ext cx="5143500" cy="7079375"/>
          </a:xfrm>
          <a:prstGeom prst="flowChartOffpageConnector">
            <a:avLst/>
          </a:pr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9"/>
          <p:cNvSpPr txBox="1"/>
          <p:nvPr>
            <p:ph type="title"/>
          </p:nvPr>
        </p:nvSpPr>
        <p:spPr>
          <a:xfrm>
            <a:off x="697425" y="1393175"/>
            <a:ext cx="82296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What alternatives would you offer?</a:t>
            </a:r>
            <a:endParaRPr sz="32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 txBox="1"/>
          <p:nvPr>
            <p:ph type="title"/>
          </p:nvPr>
        </p:nvSpPr>
        <p:spPr>
          <a:xfrm>
            <a:off x="457200" y="411025"/>
            <a:ext cx="8229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ALTERNATIVES</a:t>
            </a:r>
            <a:endParaRPr/>
          </a:p>
        </p:txBody>
      </p:sp>
      <p:sp>
        <p:nvSpPr>
          <p:cNvPr id="379" name="Google Shape;379;p40"/>
          <p:cNvSpPr/>
          <p:nvPr/>
        </p:nvSpPr>
        <p:spPr>
          <a:xfrm>
            <a:off x="1164763" y="2922642"/>
            <a:ext cx="3406484" cy="1710287"/>
          </a:xfrm>
          <a:custGeom>
            <a:rect b="b" l="l" r="r" t="t"/>
            <a:pathLst>
              <a:path extrusionOk="0" h="4886534" w="9732811">
                <a:moveTo>
                  <a:pt x="0" y="0"/>
                </a:moveTo>
                <a:lnTo>
                  <a:pt x="2512787" y="0"/>
                </a:lnTo>
                <a:lnTo>
                  <a:pt x="2512787" y="1"/>
                </a:lnTo>
                <a:lnTo>
                  <a:pt x="7620648" y="1"/>
                </a:lnTo>
                <a:cubicBezTo>
                  <a:pt x="7620648" y="1165320"/>
                  <a:pt x="8566162" y="2111888"/>
                  <a:pt x="9732811" y="2111888"/>
                </a:cubicBezTo>
                <a:lnTo>
                  <a:pt x="9732811" y="4886534"/>
                </a:lnTo>
                <a:cubicBezTo>
                  <a:pt x="7997064" y="4886534"/>
                  <a:pt x="6474323" y="3980626"/>
                  <a:pt x="5607670" y="2616073"/>
                </a:cubicBezTo>
                <a:lnTo>
                  <a:pt x="2501212" y="2616073"/>
                </a:lnTo>
                <a:lnTo>
                  <a:pt x="2501212" y="2615397"/>
                </a:lnTo>
                <a:lnTo>
                  <a:pt x="0" y="261539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80" name="Google Shape;380;p40"/>
          <p:cNvSpPr/>
          <p:nvPr/>
        </p:nvSpPr>
        <p:spPr>
          <a:xfrm>
            <a:off x="4572468" y="2922642"/>
            <a:ext cx="3406769" cy="1710287"/>
          </a:xfrm>
          <a:custGeom>
            <a:rect b="b" l="l" r="r" t="t"/>
            <a:pathLst>
              <a:path extrusionOk="0" h="4886534" w="9733627">
                <a:moveTo>
                  <a:pt x="7220841" y="0"/>
                </a:moveTo>
                <a:lnTo>
                  <a:pt x="9733627" y="0"/>
                </a:lnTo>
                <a:lnTo>
                  <a:pt x="9733627" y="2615397"/>
                </a:lnTo>
                <a:lnTo>
                  <a:pt x="7231601" y="2615397"/>
                </a:lnTo>
                <a:lnTo>
                  <a:pt x="7231601" y="2616073"/>
                </a:lnTo>
                <a:lnTo>
                  <a:pt x="4125257" y="2616073"/>
                </a:lnTo>
                <a:cubicBezTo>
                  <a:pt x="3258409" y="3980626"/>
                  <a:pt x="1735324" y="4886534"/>
                  <a:pt x="0" y="4886534"/>
                </a:cubicBezTo>
                <a:lnTo>
                  <a:pt x="0" y="2111888"/>
                </a:lnTo>
                <a:cubicBezTo>
                  <a:pt x="1166099" y="2111888"/>
                  <a:pt x="2111826" y="1165320"/>
                  <a:pt x="2111826" y="1"/>
                </a:cubicBezTo>
                <a:lnTo>
                  <a:pt x="722084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81" name="Google Shape;381;p40"/>
          <p:cNvSpPr/>
          <p:nvPr/>
        </p:nvSpPr>
        <p:spPr>
          <a:xfrm>
            <a:off x="4572468" y="1212050"/>
            <a:ext cx="3406769" cy="1710571"/>
          </a:xfrm>
          <a:custGeom>
            <a:rect b="b" l="l" r="r" t="t"/>
            <a:pathLst>
              <a:path extrusionOk="0" h="4887347" w="9733627">
                <a:moveTo>
                  <a:pt x="0" y="0"/>
                </a:moveTo>
                <a:cubicBezTo>
                  <a:pt x="1735324" y="0"/>
                  <a:pt x="3258409" y="905757"/>
                  <a:pt x="4125257" y="2269272"/>
                </a:cubicBezTo>
                <a:lnTo>
                  <a:pt x="7231601" y="2269272"/>
                </a:lnTo>
                <a:lnTo>
                  <a:pt x="7231601" y="2271950"/>
                </a:lnTo>
                <a:lnTo>
                  <a:pt x="9733627" y="2271950"/>
                </a:lnTo>
                <a:lnTo>
                  <a:pt x="9733627" y="4887347"/>
                </a:lnTo>
                <a:lnTo>
                  <a:pt x="7220841" y="4887347"/>
                </a:lnTo>
                <a:lnTo>
                  <a:pt x="7220841" y="4886536"/>
                </a:lnTo>
                <a:lnTo>
                  <a:pt x="2111826" y="4886536"/>
                </a:lnTo>
                <a:cubicBezTo>
                  <a:pt x="2111826" y="3719784"/>
                  <a:pt x="1166099" y="2774187"/>
                  <a:pt x="0" y="277418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82" name="Google Shape;382;p40"/>
          <p:cNvSpPr/>
          <p:nvPr/>
        </p:nvSpPr>
        <p:spPr>
          <a:xfrm>
            <a:off x="1164763" y="1212050"/>
            <a:ext cx="3406484" cy="1710571"/>
          </a:xfrm>
          <a:custGeom>
            <a:rect b="b" l="l" r="r" t="t"/>
            <a:pathLst>
              <a:path extrusionOk="0" h="4887347" w="9732811">
                <a:moveTo>
                  <a:pt x="9732811" y="0"/>
                </a:moveTo>
                <a:lnTo>
                  <a:pt x="9732811" y="2774187"/>
                </a:lnTo>
                <a:cubicBezTo>
                  <a:pt x="8566162" y="2774187"/>
                  <a:pt x="7620648" y="3719784"/>
                  <a:pt x="7620648" y="4886536"/>
                </a:cubicBezTo>
                <a:lnTo>
                  <a:pt x="2512787" y="4886536"/>
                </a:lnTo>
                <a:lnTo>
                  <a:pt x="2512787" y="4887347"/>
                </a:lnTo>
                <a:lnTo>
                  <a:pt x="0" y="4887347"/>
                </a:lnTo>
                <a:lnTo>
                  <a:pt x="0" y="2271950"/>
                </a:lnTo>
                <a:lnTo>
                  <a:pt x="2501212" y="2271950"/>
                </a:lnTo>
                <a:lnTo>
                  <a:pt x="2501212" y="2269272"/>
                </a:lnTo>
                <a:lnTo>
                  <a:pt x="5607670" y="2269272"/>
                </a:lnTo>
                <a:cubicBezTo>
                  <a:pt x="6474323" y="905757"/>
                  <a:pt x="7997064" y="0"/>
                  <a:pt x="97328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83" name="Google Shape;383;p40"/>
          <p:cNvSpPr txBox="1"/>
          <p:nvPr/>
        </p:nvSpPr>
        <p:spPr>
          <a:xfrm>
            <a:off x="1307026" y="2008225"/>
            <a:ext cx="2038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Expert Consultation</a:t>
            </a:r>
            <a:endParaRPr sz="22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84" name="Google Shape;384;p40"/>
          <p:cNvSpPr txBox="1"/>
          <p:nvPr/>
        </p:nvSpPr>
        <p:spPr>
          <a:xfrm>
            <a:off x="5798600" y="2008225"/>
            <a:ext cx="203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Phased </a:t>
            </a:r>
            <a:endParaRPr sz="22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Approach</a:t>
            </a:r>
            <a:endParaRPr sz="22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85" name="Google Shape;385;p40"/>
          <p:cNvSpPr txBox="1"/>
          <p:nvPr/>
        </p:nvSpPr>
        <p:spPr>
          <a:xfrm>
            <a:off x="1307026" y="2922721"/>
            <a:ext cx="2038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Pricing </a:t>
            </a:r>
            <a:endParaRPr sz="22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Flexibility</a:t>
            </a:r>
            <a:endParaRPr sz="22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86" name="Google Shape;386;p40"/>
          <p:cNvSpPr txBox="1"/>
          <p:nvPr/>
        </p:nvSpPr>
        <p:spPr>
          <a:xfrm>
            <a:off x="5798775" y="2922721"/>
            <a:ext cx="203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Joint Risk Management</a:t>
            </a:r>
            <a:endParaRPr sz="22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387" name="Google Shape;387;p40"/>
          <p:cNvGrpSpPr/>
          <p:nvPr/>
        </p:nvGrpSpPr>
        <p:grpSpPr>
          <a:xfrm>
            <a:off x="3802022" y="1768624"/>
            <a:ext cx="373236" cy="239597"/>
            <a:chOff x="5411225" y="2726350"/>
            <a:chExt cx="296950" cy="190625"/>
          </a:xfrm>
        </p:grpSpPr>
        <p:sp>
          <p:nvSpPr>
            <p:cNvPr id="388" name="Google Shape;388;p40"/>
            <p:cNvSpPr/>
            <p:nvPr/>
          </p:nvSpPr>
          <p:spPr>
            <a:xfrm>
              <a:off x="5534100" y="2794875"/>
              <a:ext cx="52000" cy="51225"/>
            </a:xfrm>
            <a:custGeom>
              <a:rect b="b" l="l" r="r" t="t"/>
              <a:pathLst>
                <a:path extrusionOk="0" h="2049" w="2080">
                  <a:moveTo>
                    <a:pt x="1009" y="662"/>
                  </a:moveTo>
                  <a:cubicBezTo>
                    <a:pt x="1229" y="662"/>
                    <a:pt x="1387" y="851"/>
                    <a:pt x="1387" y="1040"/>
                  </a:cubicBezTo>
                  <a:cubicBezTo>
                    <a:pt x="1387" y="1229"/>
                    <a:pt x="1229" y="1387"/>
                    <a:pt x="1009" y="1387"/>
                  </a:cubicBezTo>
                  <a:cubicBezTo>
                    <a:pt x="819" y="1387"/>
                    <a:pt x="662" y="1229"/>
                    <a:pt x="662" y="1040"/>
                  </a:cubicBezTo>
                  <a:cubicBezTo>
                    <a:pt x="662" y="851"/>
                    <a:pt x="819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09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80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0"/>
            <p:cNvSpPr/>
            <p:nvPr/>
          </p:nvSpPr>
          <p:spPr>
            <a:xfrm>
              <a:off x="5411225" y="2726350"/>
              <a:ext cx="296950" cy="190625"/>
            </a:xfrm>
            <a:custGeom>
              <a:rect b="b" l="l" r="r" t="t"/>
              <a:pathLst>
                <a:path extrusionOk="0" h="7625" w="11878">
                  <a:moveTo>
                    <a:pt x="5924" y="662"/>
                  </a:moveTo>
                  <a:cubicBezTo>
                    <a:pt x="7404" y="662"/>
                    <a:pt x="8759" y="1576"/>
                    <a:pt x="9641" y="2332"/>
                  </a:cubicBezTo>
                  <a:cubicBezTo>
                    <a:pt x="9736" y="2395"/>
                    <a:pt x="9830" y="2489"/>
                    <a:pt x="9925" y="2584"/>
                  </a:cubicBezTo>
                  <a:cubicBezTo>
                    <a:pt x="8696" y="2080"/>
                    <a:pt x="7278" y="1733"/>
                    <a:pt x="5924" y="1733"/>
                  </a:cubicBezTo>
                  <a:cubicBezTo>
                    <a:pt x="4569" y="1733"/>
                    <a:pt x="3183" y="2080"/>
                    <a:pt x="1954" y="2584"/>
                  </a:cubicBezTo>
                  <a:cubicBezTo>
                    <a:pt x="2048" y="2521"/>
                    <a:pt x="2111" y="2458"/>
                    <a:pt x="2206" y="2395"/>
                  </a:cubicBezTo>
                  <a:cubicBezTo>
                    <a:pt x="3151" y="1544"/>
                    <a:pt x="4474" y="662"/>
                    <a:pt x="5924" y="662"/>
                  </a:cubicBezTo>
                  <a:close/>
                  <a:moveTo>
                    <a:pt x="5924" y="2426"/>
                  </a:moveTo>
                  <a:cubicBezTo>
                    <a:pt x="6333" y="2426"/>
                    <a:pt x="6711" y="2489"/>
                    <a:pt x="7089" y="2521"/>
                  </a:cubicBezTo>
                  <a:cubicBezTo>
                    <a:pt x="7467" y="2836"/>
                    <a:pt x="7656" y="3308"/>
                    <a:pt x="7656" y="3813"/>
                  </a:cubicBezTo>
                  <a:cubicBezTo>
                    <a:pt x="7656" y="4758"/>
                    <a:pt x="6869" y="5545"/>
                    <a:pt x="5924" y="5545"/>
                  </a:cubicBezTo>
                  <a:cubicBezTo>
                    <a:pt x="4978" y="5545"/>
                    <a:pt x="4191" y="4758"/>
                    <a:pt x="4191" y="3813"/>
                  </a:cubicBezTo>
                  <a:cubicBezTo>
                    <a:pt x="4191" y="3308"/>
                    <a:pt x="4411" y="2836"/>
                    <a:pt x="4789" y="2521"/>
                  </a:cubicBezTo>
                  <a:cubicBezTo>
                    <a:pt x="5136" y="2489"/>
                    <a:pt x="5545" y="2426"/>
                    <a:pt x="5924" y="2426"/>
                  </a:cubicBezTo>
                  <a:close/>
                  <a:moveTo>
                    <a:pt x="3781" y="2710"/>
                  </a:moveTo>
                  <a:lnTo>
                    <a:pt x="3781" y="2710"/>
                  </a:lnTo>
                  <a:cubicBezTo>
                    <a:pt x="3624" y="3056"/>
                    <a:pt x="3498" y="3434"/>
                    <a:pt x="3498" y="3813"/>
                  </a:cubicBezTo>
                  <a:cubicBezTo>
                    <a:pt x="3498" y="5167"/>
                    <a:pt x="4600" y="6270"/>
                    <a:pt x="5924" y="6270"/>
                  </a:cubicBezTo>
                  <a:cubicBezTo>
                    <a:pt x="7278" y="6270"/>
                    <a:pt x="8381" y="5167"/>
                    <a:pt x="8381" y="3813"/>
                  </a:cubicBezTo>
                  <a:cubicBezTo>
                    <a:pt x="8381" y="3434"/>
                    <a:pt x="8286" y="3056"/>
                    <a:pt x="8097" y="2710"/>
                  </a:cubicBezTo>
                  <a:lnTo>
                    <a:pt x="8097" y="2710"/>
                  </a:lnTo>
                  <a:cubicBezTo>
                    <a:pt x="9137" y="2993"/>
                    <a:pt x="10145" y="3434"/>
                    <a:pt x="11027" y="3907"/>
                  </a:cubicBezTo>
                  <a:cubicBezTo>
                    <a:pt x="10744" y="4222"/>
                    <a:pt x="10240" y="4789"/>
                    <a:pt x="9547" y="5356"/>
                  </a:cubicBezTo>
                  <a:cubicBezTo>
                    <a:pt x="8601" y="6144"/>
                    <a:pt x="7310" y="6932"/>
                    <a:pt x="5924" y="6932"/>
                  </a:cubicBezTo>
                  <a:cubicBezTo>
                    <a:pt x="4474" y="6932"/>
                    <a:pt x="3088" y="6018"/>
                    <a:pt x="2237" y="5262"/>
                  </a:cubicBezTo>
                  <a:cubicBezTo>
                    <a:pt x="1607" y="4726"/>
                    <a:pt x="1135" y="4222"/>
                    <a:pt x="851" y="3907"/>
                  </a:cubicBezTo>
                  <a:cubicBezTo>
                    <a:pt x="1733" y="3371"/>
                    <a:pt x="2710" y="2962"/>
                    <a:pt x="3781" y="2710"/>
                  </a:cubicBezTo>
                  <a:close/>
                  <a:moveTo>
                    <a:pt x="5924" y="0"/>
                  </a:moveTo>
                  <a:cubicBezTo>
                    <a:pt x="4411" y="0"/>
                    <a:pt x="2931" y="820"/>
                    <a:pt x="1765" y="1796"/>
                  </a:cubicBezTo>
                  <a:cubicBezTo>
                    <a:pt x="725" y="2678"/>
                    <a:pt x="95" y="3592"/>
                    <a:pt x="64" y="3624"/>
                  </a:cubicBezTo>
                  <a:cubicBezTo>
                    <a:pt x="1" y="3750"/>
                    <a:pt x="1" y="3907"/>
                    <a:pt x="64" y="4002"/>
                  </a:cubicBezTo>
                  <a:cubicBezTo>
                    <a:pt x="95" y="4065"/>
                    <a:pt x="725" y="4915"/>
                    <a:pt x="1765" y="5829"/>
                  </a:cubicBezTo>
                  <a:cubicBezTo>
                    <a:pt x="2931" y="6805"/>
                    <a:pt x="4348" y="7625"/>
                    <a:pt x="5924" y="7625"/>
                  </a:cubicBezTo>
                  <a:cubicBezTo>
                    <a:pt x="7436" y="7625"/>
                    <a:pt x="8759" y="6900"/>
                    <a:pt x="9925" y="5955"/>
                  </a:cubicBezTo>
                  <a:cubicBezTo>
                    <a:pt x="10712" y="5325"/>
                    <a:pt x="11374" y="4600"/>
                    <a:pt x="11815" y="4002"/>
                  </a:cubicBezTo>
                  <a:cubicBezTo>
                    <a:pt x="11878" y="3907"/>
                    <a:pt x="11878" y="3750"/>
                    <a:pt x="11815" y="3624"/>
                  </a:cubicBezTo>
                  <a:cubicBezTo>
                    <a:pt x="11752" y="3592"/>
                    <a:pt x="11122" y="2710"/>
                    <a:pt x="10114" y="1796"/>
                  </a:cubicBezTo>
                  <a:cubicBezTo>
                    <a:pt x="8916" y="820"/>
                    <a:pt x="7499" y="0"/>
                    <a:pt x="59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0" name="Google Shape;390;p40"/>
          <p:cNvGrpSpPr/>
          <p:nvPr/>
        </p:nvGrpSpPr>
        <p:grpSpPr>
          <a:xfrm>
            <a:off x="4975709" y="1705288"/>
            <a:ext cx="366269" cy="366269"/>
            <a:chOff x="-61783350" y="2297100"/>
            <a:chExt cx="316650" cy="316650"/>
          </a:xfrm>
        </p:grpSpPr>
        <p:sp>
          <p:nvSpPr>
            <p:cNvPr id="391" name="Google Shape;391;p40"/>
            <p:cNvSpPr/>
            <p:nvPr/>
          </p:nvSpPr>
          <p:spPr>
            <a:xfrm>
              <a:off x="-61783350" y="2297100"/>
              <a:ext cx="316650" cy="316650"/>
            </a:xfrm>
            <a:custGeom>
              <a:rect b="b" l="l" r="r" t="t"/>
              <a:pathLst>
                <a:path extrusionOk="0" h="12666" w="12666">
                  <a:moveTo>
                    <a:pt x="379" y="0"/>
                  </a:moveTo>
                  <a:cubicBezTo>
                    <a:pt x="158" y="0"/>
                    <a:pt x="1" y="189"/>
                    <a:pt x="1" y="441"/>
                  </a:cubicBezTo>
                  <a:lnTo>
                    <a:pt x="1" y="12287"/>
                  </a:lnTo>
                  <a:cubicBezTo>
                    <a:pt x="1" y="12508"/>
                    <a:pt x="190" y="12665"/>
                    <a:pt x="379" y="12665"/>
                  </a:cubicBezTo>
                  <a:lnTo>
                    <a:pt x="12256" y="12665"/>
                  </a:lnTo>
                  <a:cubicBezTo>
                    <a:pt x="12477" y="12665"/>
                    <a:pt x="12666" y="12476"/>
                    <a:pt x="12666" y="12287"/>
                  </a:cubicBezTo>
                  <a:cubicBezTo>
                    <a:pt x="12634" y="12098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41"/>
                  </a:lnTo>
                  <a:cubicBezTo>
                    <a:pt x="820" y="189"/>
                    <a:pt x="631" y="0"/>
                    <a:pt x="3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0"/>
            <p:cNvSpPr/>
            <p:nvPr/>
          </p:nvSpPr>
          <p:spPr>
            <a:xfrm>
              <a:off x="-61742375" y="2387675"/>
              <a:ext cx="275675" cy="151250"/>
            </a:xfrm>
            <a:custGeom>
              <a:rect b="b" l="l" r="r" t="t"/>
              <a:pathLst>
                <a:path extrusionOk="0" h="6050" w="11027">
                  <a:moveTo>
                    <a:pt x="9767" y="788"/>
                  </a:moveTo>
                  <a:cubicBezTo>
                    <a:pt x="10019" y="788"/>
                    <a:pt x="10208" y="977"/>
                    <a:pt x="10208" y="1229"/>
                  </a:cubicBezTo>
                  <a:cubicBezTo>
                    <a:pt x="10176" y="1450"/>
                    <a:pt x="10019" y="1639"/>
                    <a:pt x="9767" y="1639"/>
                  </a:cubicBezTo>
                  <a:cubicBezTo>
                    <a:pt x="9546" y="1639"/>
                    <a:pt x="9389" y="1450"/>
                    <a:pt x="9389" y="1229"/>
                  </a:cubicBezTo>
                  <a:cubicBezTo>
                    <a:pt x="9389" y="977"/>
                    <a:pt x="9578" y="788"/>
                    <a:pt x="9767" y="788"/>
                  </a:cubicBezTo>
                  <a:close/>
                  <a:moveTo>
                    <a:pt x="4001" y="1607"/>
                  </a:moveTo>
                  <a:cubicBezTo>
                    <a:pt x="4222" y="1607"/>
                    <a:pt x="4379" y="1796"/>
                    <a:pt x="4379" y="2048"/>
                  </a:cubicBezTo>
                  <a:cubicBezTo>
                    <a:pt x="4379" y="2269"/>
                    <a:pt x="4222" y="2489"/>
                    <a:pt x="4001" y="2489"/>
                  </a:cubicBezTo>
                  <a:cubicBezTo>
                    <a:pt x="3749" y="2489"/>
                    <a:pt x="3560" y="2269"/>
                    <a:pt x="3560" y="2048"/>
                  </a:cubicBezTo>
                  <a:cubicBezTo>
                    <a:pt x="3560" y="1796"/>
                    <a:pt x="3749" y="1607"/>
                    <a:pt x="4001" y="1607"/>
                  </a:cubicBezTo>
                  <a:close/>
                  <a:moveTo>
                    <a:pt x="6459" y="4128"/>
                  </a:moveTo>
                  <a:cubicBezTo>
                    <a:pt x="6679" y="4128"/>
                    <a:pt x="6900" y="4317"/>
                    <a:pt x="6900" y="4569"/>
                  </a:cubicBezTo>
                  <a:cubicBezTo>
                    <a:pt x="6868" y="4758"/>
                    <a:pt x="6711" y="4947"/>
                    <a:pt x="6459" y="4947"/>
                  </a:cubicBezTo>
                  <a:cubicBezTo>
                    <a:pt x="6238" y="4947"/>
                    <a:pt x="6081" y="4758"/>
                    <a:pt x="6081" y="4569"/>
                  </a:cubicBezTo>
                  <a:cubicBezTo>
                    <a:pt x="6081" y="4317"/>
                    <a:pt x="6270" y="4128"/>
                    <a:pt x="6459" y="4128"/>
                  </a:cubicBezTo>
                  <a:close/>
                  <a:moveTo>
                    <a:pt x="1229" y="4380"/>
                  </a:moveTo>
                  <a:cubicBezTo>
                    <a:pt x="1481" y="4380"/>
                    <a:pt x="1638" y="4569"/>
                    <a:pt x="1638" y="4789"/>
                  </a:cubicBezTo>
                  <a:cubicBezTo>
                    <a:pt x="1638" y="5041"/>
                    <a:pt x="1481" y="5230"/>
                    <a:pt x="1229" y="5230"/>
                  </a:cubicBezTo>
                  <a:cubicBezTo>
                    <a:pt x="1008" y="5230"/>
                    <a:pt x="788" y="5041"/>
                    <a:pt x="788" y="4789"/>
                  </a:cubicBezTo>
                  <a:cubicBezTo>
                    <a:pt x="788" y="4569"/>
                    <a:pt x="1008" y="4380"/>
                    <a:pt x="1229" y="4380"/>
                  </a:cubicBezTo>
                  <a:close/>
                  <a:moveTo>
                    <a:pt x="9767" y="0"/>
                  </a:moveTo>
                  <a:cubicBezTo>
                    <a:pt x="9105" y="0"/>
                    <a:pt x="8570" y="536"/>
                    <a:pt x="8570" y="1229"/>
                  </a:cubicBezTo>
                  <a:cubicBezTo>
                    <a:pt x="8570" y="1418"/>
                    <a:pt x="8601" y="1576"/>
                    <a:pt x="8664" y="1765"/>
                  </a:cubicBezTo>
                  <a:lnTo>
                    <a:pt x="7026" y="3434"/>
                  </a:lnTo>
                  <a:cubicBezTo>
                    <a:pt x="6868" y="3340"/>
                    <a:pt x="6679" y="3308"/>
                    <a:pt x="6459" y="3308"/>
                  </a:cubicBezTo>
                  <a:cubicBezTo>
                    <a:pt x="6270" y="3308"/>
                    <a:pt x="6112" y="3340"/>
                    <a:pt x="5923" y="3434"/>
                  </a:cubicBezTo>
                  <a:lnTo>
                    <a:pt x="5104" y="2584"/>
                  </a:lnTo>
                  <a:cubicBezTo>
                    <a:pt x="5167" y="2426"/>
                    <a:pt x="5199" y="2237"/>
                    <a:pt x="5199" y="2048"/>
                  </a:cubicBezTo>
                  <a:cubicBezTo>
                    <a:pt x="5199" y="1387"/>
                    <a:pt x="4663" y="788"/>
                    <a:pt x="4001" y="788"/>
                  </a:cubicBezTo>
                  <a:cubicBezTo>
                    <a:pt x="3308" y="788"/>
                    <a:pt x="2773" y="1324"/>
                    <a:pt x="2773" y="2048"/>
                  </a:cubicBezTo>
                  <a:cubicBezTo>
                    <a:pt x="2773" y="2237"/>
                    <a:pt x="2804" y="2395"/>
                    <a:pt x="2899" y="2584"/>
                  </a:cubicBezTo>
                  <a:lnTo>
                    <a:pt x="1796" y="3686"/>
                  </a:lnTo>
                  <a:cubicBezTo>
                    <a:pt x="1638" y="3623"/>
                    <a:pt x="1418" y="3592"/>
                    <a:pt x="1229" y="3592"/>
                  </a:cubicBezTo>
                  <a:cubicBezTo>
                    <a:pt x="567" y="3592"/>
                    <a:pt x="0" y="4128"/>
                    <a:pt x="0" y="4852"/>
                  </a:cubicBezTo>
                  <a:cubicBezTo>
                    <a:pt x="0" y="5514"/>
                    <a:pt x="567" y="6049"/>
                    <a:pt x="1229" y="6049"/>
                  </a:cubicBezTo>
                  <a:cubicBezTo>
                    <a:pt x="1890" y="6049"/>
                    <a:pt x="2458" y="5514"/>
                    <a:pt x="2458" y="4852"/>
                  </a:cubicBezTo>
                  <a:cubicBezTo>
                    <a:pt x="2458" y="4632"/>
                    <a:pt x="2426" y="4474"/>
                    <a:pt x="2332" y="4285"/>
                  </a:cubicBezTo>
                  <a:lnTo>
                    <a:pt x="3434" y="3182"/>
                  </a:lnTo>
                  <a:cubicBezTo>
                    <a:pt x="3592" y="3245"/>
                    <a:pt x="3781" y="3308"/>
                    <a:pt x="4001" y="3308"/>
                  </a:cubicBezTo>
                  <a:cubicBezTo>
                    <a:pt x="4190" y="3308"/>
                    <a:pt x="4348" y="3277"/>
                    <a:pt x="4537" y="3182"/>
                  </a:cubicBezTo>
                  <a:lnTo>
                    <a:pt x="5356" y="4001"/>
                  </a:lnTo>
                  <a:cubicBezTo>
                    <a:pt x="5293" y="4159"/>
                    <a:pt x="5262" y="4348"/>
                    <a:pt x="5262" y="4569"/>
                  </a:cubicBezTo>
                  <a:cubicBezTo>
                    <a:pt x="5262" y="5230"/>
                    <a:pt x="5797" y="5766"/>
                    <a:pt x="6459" y="5766"/>
                  </a:cubicBezTo>
                  <a:cubicBezTo>
                    <a:pt x="7152" y="5766"/>
                    <a:pt x="7687" y="5230"/>
                    <a:pt x="7687" y="4569"/>
                  </a:cubicBezTo>
                  <a:cubicBezTo>
                    <a:pt x="7687" y="4348"/>
                    <a:pt x="7656" y="4191"/>
                    <a:pt x="7561" y="4001"/>
                  </a:cubicBezTo>
                  <a:lnTo>
                    <a:pt x="9231" y="2363"/>
                  </a:lnTo>
                  <a:cubicBezTo>
                    <a:pt x="9389" y="2426"/>
                    <a:pt x="9578" y="2489"/>
                    <a:pt x="9767" y="2489"/>
                  </a:cubicBezTo>
                  <a:cubicBezTo>
                    <a:pt x="10460" y="2489"/>
                    <a:pt x="11027" y="1922"/>
                    <a:pt x="11027" y="1229"/>
                  </a:cubicBezTo>
                  <a:cubicBezTo>
                    <a:pt x="10995" y="536"/>
                    <a:pt x="10460" y="0"/>
                    <a:pt x="97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40"/>
          <p:cNvGrpSpPr/>
          <p:nvPr/>
        </p:nvGrpSpPr>
        <p:grpSpPr>
          <a:xfrm>
            <a:off x="3807515" y="3837127"/>
            <a:ext cx="351315" cy="348513"/>
            <a:chOff x="6167350" y="2672800"/>
            <a:chExt cx="297750" cy="295375"/>
          </a:xfrm>
        </p:grpSpPr>
        <p:sp>
          <p:nvSpPr>
            <p:cNvPr id="394" name="Google Shape;394;p40"/>
            <p:cNvSpPr/>
            <p:nvPr/>
          </p:nvSpPr>
          <p:spPr>
            <a:xfrm>
              <a:off x="6167350" y="2672800"/>
              <a:ext cx="226850" cy="295375"/>
            </a:xfrm>
            <a:custGeom>
              <a:rect b="b" l="l" r="r" t="t"/>
              <a:pathLst>
                <a:path extrusionOk="0" h="11815" w="9074">
                  <a:moveTo>
                    <a:pt x="4537" y="725"/>
                  </a:moveTo>
                  <a:cubicBezTo>
                    <a:pt x="4758" y="725"/>
                    <a:pt x="4915" y="882"/>
                    <a:pt x="4915" y="1071"/>
                  </a:cubicBezTo>
                  <a:cubicBezTo>
                    <a:pt x="4915" y="1260"/>
                    <a:pt x="5073" y="1418"/>
                    <a:pt x="5262" y="1418"/>
                  </a:cubicBezTo>
                  <a:lnTo>
                    <a:pt x="5955" y="1418"/>
                  </a:lnTo>
                  <a:cubicBezTo>
                    <a:pt x="6175" y="1418"/>
                    <a:pt x="6333" y="1575"/>
                    <a:pt x="6333" y="1796"/>
                  </a:cubicBezTo>
                  <a:cubicBezTo>
                    <a:pt x="6333" y="1985"/>
                    <a:pt x="6175" y="2142"/>
                    <a:pt x="5955" y="2142"/>
                  </a:cubicBezTo>
                  <a:lnTo>
                    <a:pt x="3119" y="2142"/>
                  </a:lnTo>
                  <a:cubicBezTo>
                    <a:pt x="2930" y="2142"/>
                    <a:pt x="2773" y="1985"/>
                    <a:pt x="2773" y="1796"/>
                  </a:cubicBezTo>
                  <a:cubicBezTo>
                    <a:pt x="2773" y="1575"/>
                    <a:pt x="2930" y="1418"/>
                    <a:pt x="3151" y="1418"/>
                  </a:cubicBezTo>
                  <a:lnTo>
                    <a:pt x="3844" y="1418"/>
                  </a:lnTo>
                  <a:cubicBezTo>
                    <a:pt x="4033" y="1418"/>
                    <a:pt x="4191" y="1260"/>
                    <a:pt x="4191" y="1071"/>
                  </a:cubicBezTo>
                  <a:cubicBezTo>
                    <a:pt x="4191" y="882"/>
                    <a:pt x="4348" y="725"/>
                    <a:pt x="4537" y="725"/>
                  </a:cubicBezTo>
                  <a:close/>
                  <a:moveTo>
                    <a:pt x="8066" y="2111"/>
                  </a:moveTo>
                  <a:cubicBezTo>
                    <a:pt x="8255" y="2111"/>
                    <a:pt x="8412" y="2268"/>
                    <a:pt x="8412" y="2458"/>
                  </a:cubicBezTo>
                  <a:lnTo>
                    <a:pt x="8412" y="10806"/>
                  </a:lnTo>
                  <a:lnTo>
                    <a:pt x="8381" y="10806"/>
                  </a:lnTo>
                  <a:cubicBezTo>
                    <a:pt x="8381" y="10995"/>
                    <a:pt x="8223" y="11153"/>
                    <a:pt x="8034" y="11153"/>
                  </a:cubicBezTo>
                  <a:lnTo>
                    <a:pt x="1040" y="11153"/>
                  </a:lnTo>
                  <a:cubicBezTo>
                    <a:pt x="851" y="11153"/>
                    <a:pt x="693" y="10995"/>
                    <a:pt x="693" y="10806"/>
                  </a:cubicBezTo>
                  <a:lnTo>
                    <a:pt x="693" y="2458"/>
                  </a:lnTo>
                  <a:cubicBezTo>
                    <a:pt x="693" y="2268"/>
                    <a:pt x="851" y="2111"/>
                    <a:pt x="1040" y="2111"/>
                  </a:cubicBezTo>
                  <a:lnTo>
                    <a:pt x="2143" y="2111"/>
                  </a:lnTo>
                  <a:cubicBezTo>
                    <a:pt x="2300" y="2489"/>
                    <a:pt x="2647" y="2804"/>
                    <a:pt x="3119" y="2804"/>
                  </a:cubicBezTo>
                  <a:lnTo>
                    <a:pt x="5986" y="2804"/>
                  </a:lnTo>
                  <a:cubicBezTo>
                    <a:pt x="6396" y="2804"/>
                    <a:pt x="6805" y="2521"/>
                    <a:pt x="6963" y="2111"/>
                  </a:cubicBezTo>
                  <a:close/>
                  <a:moveTo>
                    <a:pt x="4506" y="0"/>
                  </a:moveTo>
                  <a:cubicBezTo>
                    <a:pt x="4096" y="0"/>
                    <a:pt x="3686" y="284"/>
                    <a:pt x="3529" y="725"/>
                  </a:cubicBezTo>
                  <a:lnTo>
                    <a:pt x="3088" y="725"/>
                  </a:lnTo>
                  <a:cubicBezTo>
                    <a:pt x="2678" y="725"/>
                    <a:pt x="2269" y="1008"/>
                    <a:pt x="2111" y="1418"/>
                  </a:cubicBezTo>
                  <a:lnTo>
                    <a:pt x="1009" y="1418"/>
                  </a:lnTo>
                  <a:cubicBezTo>
                    <a:pt x="410" y="1418"/>
                    <a:pt x="0" y="1890"/>
                    <a:pt x="0" y="2458"/>
                  </a:cubicBezTo>
                  <a:lnTo>
                    <a:pt x="0" y="10806"/>
                  </a:lnTo>
                  <a:cubicBezTo>
                    <a:pt x="0" y="11405"/>
                    <a:pt x="473" y="11814"/>
                    <a:pt x="1009" y="11814"/>
                  </a:cubicBezTo>
                  <a:lnTo>
                    <a:pt x="7971" y="11814"/>
                  </a:lnTo>
                  <a:cubicBezTo>
                    <a:pt x="8570" y="11814"/>
                    <a:pt x="9011" y="11342"/>
                    <a:pt x="9011" y="10806"/>
                  </a:cubicBezTo>
                  <a:lnTo>
                    <a:pt x="9011" y="2458"/>
                  </a:lnTo>
                  <a:cubicBezTo>
                    <a:pt x="9074" y="1859"/>
                    <a:pt x="8601" y="1418"/>
                    <a:pt x="8034" y="1418"/>
                  </a:cubicBezTo>
                  <a:lnTo>
                    <a:pt x="6931" y="1418"/>
                  </a:lnTo>
                  <a:cubicBezTo>
                    <a:pt x="6774" y="1040"/>
                    <a:pt x="6396" y="725"/>
                    <a:pt x="5923" y="725"/>
                  </a:cubicBezTo>
                  <a:lnTo>
                    <a:pt x="5545" y="725"/>
                  </a:lnTo>
                  <a:cubicBezTo>
                    <a:pt x="5514" y="567"/>
                    <a:pt x="5388" y="441"/>
                    <a:pt x="5262" y="315"/>
                  </a:cubicBezTo>
                  <a:cubicBezTo>
                    <a:pt x="5073" y="126"/>
                    <a:pt x="4789" y="0"/>
                    <a:pt x="45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0"/>
            <p:cNvSpPr/>
            <p:nvPr/>
          </p:nvSpPr>
          <p:spPr>
            <a:xfrm>
              <a:off x="6201225" y="2762575"/>
              <a:ext cx="52775" cy="49650"/>
            </a:xfrm>
            <a:custGeom>
              <a:rect b="b" l="l" r="r" t="t"/>
              <a:pathLst>
                <a:path extrusionOk="0" h="1986" w="2111">
                  <a:moveTo>
                    <a:pt x="406" y="1"/>
                  </a:moveTo>
                  <a:cubicBezTo>
                    <a:pt x="315" y="1"/>
                    <a:pt x="221" y="32"/>
                    <a:pt x="158" y="95"/>
                  </a:cubicBezTo>
                  <a:cubicBezTo>
                    <a:pt x="63" y="190"/>
                    <a:pt x="63" y="442"/>
                    <a:pt x="158" y="568"/>
                  </a:cubicBezTo>
                  <a:lnTo>
                    <a:pt x="599" y="977"/>
                  </a:lnTo>
                  <a:lnTo>
                    <a:pt x="158" y="1418"/>
                  </a:lnTo>
                  <a:cubicBezTo>
                    <a:pt x="0" y="1544"/>
                    <a:pt x="0" y="1733"/>
                    <a:pt x="158" y="1891"/>
                  </a:cubicBezTo>
                  <a:cubicBezTo>
                    <a:pt x="221" y="1954"/>
                    <a:pt x="315" y="1985"/>
                    <a:pt x="406" y="1985"/>
                  </a:cubicBezTo>
                  <a:cubicBezTo>
                    <a:pt x="496" y="1985"/>
                    <a:pt x="583" y="1954"/>
                    <a:pt x="630" y="1891"/>
                  </a:cubicBezTo>
                  <a:lnTo>
                    <a:pt x="1071" y="1450"/>
                  </a:lnTo>
                  <a:lnTo>
                    <a:pt x="1512" y="1891"/>
                  </a:lnTo>
                  <a:cubicBezTo>
                    <a:pt x="1575" y="1954"/>
                    <a:pt x="1662" y="1985"/>
                    <a:pt x="1749" y="1985"/>
                  </a:cubicBezTo>
                  <a:cubicBezTo>
                    <a:pt x="1835" y="1985"/>
                    <a:pt x="1922" y="1954"/>
                    <a:pt x="1985" y="1891"/>
                  </a:cubicBezTo>
                  <a:cubicBezTo>
                    <a:pt x="2111" y="1765"/>
                    <a:pt x="2111" y="1544"/>
                    <a:pt x="1985" y="1418"/>
                  </a:cubicBezTo>
                  <a:lnTo>
                    <a:pt x="1544" y="977"/>
                  </a:lnTo>
                  <a:lnTo>
                    <a:pt x="1985" y="568"/>
                  </a:lnTo>
                  <a:cubicBezTo>
                    <a:pt x="2111" y="442"/>
                    <a:pt x="2111" y="190"/>
                    <a:pt x="1985" y="95"/>
                  </a:cubicBezTo>
                  <a:cubicBezTo>
                    <a:pt x="1922" y="32"/>
                    <a:pt x="1835" y="1"/>
                    <a:pt x="1749" y="1"/>
                  </a:cubicBezTo>
                  <a:cubicBezTo>
                    <a:pt x="1662" y="1"/>
                    <a:pt x="1575" y="32"/>
                    <a:pt x="1512" y="95"/>
                  </a:cubicBezTo>
                  <a:lnTo>
                    <a:pt x="1071" y="505"/>
                  </a:lnTo>
                  <a:lnTo>
                    <a:pt x="630" y="95"/>
                  </a:lnTo>
                  <a:cubicBezTo>
                    <a:pt x="583" y="32"/>
                    <a:pt x="496" y="1"/>
                    <a:pt x="4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0"/>
            <p:cNvSpPr/>
            <p:nvPr/>
          </p:nvSpPr>
          <p:spPr>
            <a:xfrm>
              <a:off x="6308325" y="2882300"/>
              <a:ext cx="51225" cy="49650"/>
            </a:xfrm>
            <a:custGeom>
              <a:rect b="b" l="l" r="r" t="t"/>
              <a:pathLst>
                <a:path extrusionOk="0" h="1986" w="2049">
                  <a:moveTo>
                    <a:pt x="363" y="0"/>
                  </a:moveTo>
                  <a:cubicBezTo>
                    <a:pt x="276" y="0"/>
                    <a:pt x="190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lnTo>
                    <a:pt x="568" y="1009"/>
                  </a:lnTo>
                  <a:lnTo>
                    <a:pt x="127" y="1450"/>
                  </a:lnTo>
                  <a:cubicBezTo>
                    <a:pt x="1" y="1544"/>
                    <a:pt x="1" y="1796"/>
                    <a:pt x="127" y="1891"/>
                  </a:cubicBezTo>
                  <a:cubicBezTo>
                    <a:pt x="190" y="1954"/>
                    <a:pt x="276" y="1985"/>
                    <a:pt x="363" y="1985"/>
                  </a:cubicBezTo>
                  <a:cubicBezTo>
                    <a:pt x="450" y="1985"/>
                    <a:pt x="536" y="1954"/>
                    <a:pt x="599" y="1891"/>
                  </a:cubicBezTo>
                  <a:lnTo>
                    <a:pt x="1040" y="1481"/>
                  </a:lnTo>
                  <a:lnTo>
                    <a:pt x="1481" y="1891"/>
                  </a:lnTo>
                  <a:cubicBezTo>
                    <a:pt x="1529" y="1954"/>
                    <a:pt x="1615" y="1985"/>
                    <a:pt x="1706" y="1985"/>
                  </a:cubicBezTo>
                  <a:cubicBezTo>
                    <a:pt x="1797" y="1985"/>
                    <a:pt x="1891" y="1954"/>
                    <a:pt x="1954" y="1891"/>
                  </a:cubicBezTo>
                  <a:cubicBezTo>
                    <a:pt x="2049" y="1796"/>
                    <a:pt x="2049" y="1544"/>
                    <a:pt x="1954" y="1450"/>
                  </a:cubicBezTo>
                  <a:lnTo>
                    <a:pt x="1513" y="1009"/>
                  </a:lnTo>
                  <a:lnTo>
                    <a:pt x="1954" y="567"/>
                  </a:lnTo>
                  <a:cubicBezTo>
                    <a:pt x="2049" y="441"/>
                    <a:pt x="2049" y="252"/>
                    <a:pt x="1954" y="95"/>
                  </a:cubicBezTo>
                  <a:cubicBezTo>
                    <a:pt x="1891" y="32"/>
                    <a:pt x="1804" y="0"/>
                    <a:pt x="1718" y="0"/>
                  </a:cubicBezTo>
                  <a:cubicBezTo>
                    <a:pt x="1631" y="0"/>
                    <a:pt x="1544" y="32"/>
                    <a:pt x="1481" y="95"/>
                  </a:cubicBezTo>
                  <a:lnTo>
                    <a:pt x="1040" y="536"/>
                  </a:lnTo>
                  <a:lnTo>
                    <a:pt x="599" y="95"/>
                  </a:lnTo>
                  <a:cubicBezTo>
                    <a:pt x="536" y="32"/>
                    <a:pt x="450" y="0"/>
                    <a:pt x="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0"/>
            <p:cNvSpPr/>
            <p:nvPr/>
          </p:nvSpPr>
          <p:spPr>
            <a:xfrm>
              <a:off x="6200425" y="2759425"/>
              <a:ext cx="156775" cy="174875"/>
            </a:xfrm>
            <a:custGeom>
              <a:rect b="b" l="l" r="r" t="t"/>
              <a:pathLst>
                <a:path extrusionOk="0" h="6995" w="6271">
                  <a:moveTo>
                    <a:pt x="1103" y="5609"/>
                  </a:moveTo>
                  <a:cubicBezTo>
                    <a:pt x="1292" y="5609"/>
                    <a:pt x="1450" y="5766"/>
                    <a:pt x="1450" y="5955"/>
                  </a:cubicBezTo>
                  <a:cubicBezTo>
                    <a:pt x="1450" y="6144"/>
                    <a:pt x="1292" y="6302"/>
                    <a:pt x="1103" y="6302"/>
                  </a:cubicBezTo>
                  <a:cubicBezTo>
                    <a:pt x="914" y="6302"/>
                    <a:pt x="757" y="6144"/>
                    <a:pt x="757" y="5955"/>
                  </a:cubicBezTo>
                  <a:cubicBezTo>
                    <a:pt x="757" y="5766"/>
                    <a:pt x="914" y="5609"/>
                    <a:pt x="1103" y="5609"/>
                  </a:cubicBezTo>
                  <a:close/>
                  <a:moveTo>
                    <a:pt x="5325" y="1"/>
                  </a:moveTo>
                  <a:cubicBezTo>
                    <a:pt x="5230" y="1"/>
                    <a:pt x="5136" y="64"/>
                    <a:pt x="5073" y="127"/>
                  </a:cubicBezTo>
                  <a:lnTo>
                    <a:pt x="4380" y="851"/>
                  </a:lnTo>
                  <a:cubicBezTo>
                    <a:pt x="4254" y="946"/>
                    <a:pt x="4254" y="1198"/>
                    <a:pt x="4380" y="1324"/>
                  </a:cubicBezTo>
                  <a:cubicBezTo>
                    <a:pt x="4443" y="1371"/>
                    <a:pt x="4529" y="1395"/>
                    <a:pt x="4616" y="1395"/>
                  </a:cubicBezTo>
                  <a:cubicBezTo>
                    <a:pt x="4703" y="1395"/>
                    <a:pt x="4789" y="1371"/>
                    <a:pt x="4852" y="1324"/>
                  </a:cubicBezTo>
                  <a:lnTo>
                    <a:pt x="4978" y="1198"/>
                  </a:lnTo>
                  <a:lnTo>
                    <a:pt x="4978" y="2458"/>
                  </a:lnTo>
                  <a:cubicBezTo>
                    <a:pt x="4978" y="2647"/>
                    <a:pt x="4821" y="2805"/>
                    <a:pt x="4600" y="2805"/>
                  </a:cubicBezTo>
                  <a:lnTo>
                    <a:pt x="1765" y="2805"/>
                  </a:lnTo>
                  <a:cubicBezTo>
                    <a:pt x="1513" y="2805"/>
                    <a:pt x="1229" y="2931"/>
                    <a:pt x="1040" y="3120"/>
                  </a:cubicBezTo>
                  <a:cubicBezTo>
                    <a:pt x="820" y="3309"/>
                    <a:pt x="725" y="3592"/>
                    <a:pt x="725" y="3876"/>
                  </a:cubicBezTo>
                  <a:lnTo>
                    <a:pt x="725" y="4978"/>
                  </a:lnTo>
                  <a:cubicBezTo>
                    <a:pt x="316" y="5136"/>
                    <a:pt x="1" y="5482"/>
                    <a:pt x="1" y="5955"/>
                  </a:cubicBezTo>
                  <a:cubicBezTo>
                    <a:pt x="1" y="6554"/>
                    <a:pt x="473" y="6995"/>
                    <a:pt x="1040" y="6995"/>
                  </a:cubicBezTo>
                  <a:cubicBezTo>
                    <a:pt x="1607" y="6995"/>
                    <a:pt x="2048" y="6522"/>
                    <a:pt x="2048" y="5955"/>
                  </a:cubicBezTo>
                  <a:cubicBezTo>
                    <a:pt x="2048" y="5514"/>
                    <a:pt x="1765" y="5136"/>
                    <a:pt x="1355" y="4978"/>
                  </a:cubicBezTo>
                  <a:lnTo>
                    <a:pt x="1355" y="3876"/>
                  </a:lnTo>
                  <a:cubicBezTo>
                    <a:pt x="1355" y="3687"/>
                    <a:pt x="1513" y="3529"/>
                    <a:pt x="1702" y="3529"/>
                  </a:cubicBezTo>
                  <a:lnTo>
                    <a:pt x="4537" y="3529"/>
                  </a:lnTo>
                  <a:cubicBezTo>
                    <a:pt x="5136" y="3529"/>
                    <a:pt x="5545" y="3057"/>
                    <a:pt x="5545" y="2490"/>
                  </a:cubicBezTo>
                  <a:lnTo>
                    <a:pt x="5545" y="1229"/>
                  </a:lnTo>
                  <a:lnTo>
                    <a:pt x="5671" y="1355"/>
                  </a:lnTo>
                  <a:cubicBezTo>
                    <a:pt x="5734" y="1418"/>
                    <a:pt x="5821" y="1450"/>
                    <a:pt x="5908" y="1450"/>
                  </a:cubicBezTo>
                  <a:cubicBezTo>
                    <a:pt x="5994" y="1450"/>
                    <a:pt x="6081" y="1418"/>
                    <a:pt x="6144" y="1355"/>
                  </a:cubicBezTo>
                  <a:cubicBezTo>
                    <a:pt x="6270" y="1229"/>
                    <a:pt x="6270" y="1009"/>
                    <a:pt x="6144" y="883"/>
                  </a:cubicBezTo>
                  <a:lnTo>
                    <a:pt x="5545" y="127"/>
                  </a:lnTo>
                  <a:cubicBezTo>
                    <a:pt x="5482" y="64"/>
                    <a:pt x="5388" y="1"/>
                    <a:pt x="53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0"/>
            <p:cNvSpPr/>
            <p:nvPr/>
          </p:nvSpPr>
          <p:spPr>
            <a:xfrm>
              <a:off x="6412300" y="2742900"/>
              <a:ext cx="52800" cy="208725"/>
            </a:xfrm>
            <a:custGeom>
              <a:rect b="b" l="l" r="r" t="t"/>
              <a:pathLst>
                <a:path extrusionOk="0" h="8349" w="2112">
                  <a:moveTo>
                    <a:pt x="1009" y="662"/>
                  </a:moveTo>
                  <a:cubicBezTo>
                    <a:pt x="1229" y="662"/>
                    <a:pt x="1387" y="819"/>
                    <a:pt x="1387" y="1040"/>
                  </a:cubicBezTo>
                  <a:lnTo>
                    <a:pt x="1387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387" y="2048"/>
                  </a:moveTo>
                  <a:lnTo>
                    <a:pt x="1387" y="6017"/>
                  </a:lnTo>
                  <a:cubicBezTo>
                    <a:pt x="1261" y="5986"/>
                    <a:pt x="1142" y="5970"/>
                    <a:pt x="1024" y="5970"/>
                  </a:cubicBezTo>
                  <a:cubicBezTo>
                    <a:pt x="906" y="5970"/>
                    <a:pt x="788" y="5986"/>
                    <a:pt x="662" y="6017"/>
                  </a:cubicBezTo>
                  <a:lnTo>
                    <a:pt x="662" y="2048"/>
                  </a:lnTo>
                  <a:close/>
                  <a:moveTo>
                    <a:pt x="1009" y="6711"/>
                  </a:moveTo>
                  <a:cubicBezTo>
                    <a:pt x="1103" y="6711"/>
                    <a:pt x="1166" y="6711"/>
                    <a:pt x="1261" y="6742"/>
                  </a:cubicBezTo>
                  <a:lnTo>
                    <a:pt x="1009" y="7246"/>
                  </a:lnTo>
                  <a:lnTo>
                    <a:pt x="788" y="6742"/>
                  </a:lnTo>
                  <a:cubicBezTo>
                    <a:pt x="851" y="6711"/>
                    <a:pt x="946" y="6711"/>
                    <a:pt x="1009" y="6711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6616"/>
                  </a:lnTo>
                  <a:cubicBezTo>
                    <a:pt x="0" y="6648"/>
                    <a:pt x="0" y="6742"/>
                    <a:pt x="32" y="6774"/>
                  </a:cubicBezTo>
                  <a:lnTo>
                    <a:pt x="757" y="8160"/>
                  </a:lnTo>
                  <a:cubicBezTo>
                    <a:pt x="788" y="8286"/>
                    <a:pt x="946" y="8349"/>
                    <a:pt x="1040" y="8349"/>
                  </a:cubicBezTo>
                  <a:cubicBezTo>
                    <a:pt x="1166" y="8349"/>
                    <a:pt x="1292" y="8286"/>
                    <a:pt x="1355" y="8160"/>
                  </a:cubicBezTo>
                  <a:lnTo>
                    <a:pt x="2080" y="6774"/>
                  </a:lnTo>
                  <a:cubicBezTo>
                    <a:pt x="2111" y="6742"/>
                    <a:pt x="2111" y="6648"/>
                    <a:pt x="2111" y="6616"/>
                  </a:cubicBezTo>
                  <a:lnTo>
                    <a:pt x="2111" y="1040"/>
                  </a:ln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9" name="Google Shape;399;p40"/>
          <p:cNvGrpSpPr/>
          <p:nvPr/>
        </p:nvGrpSpPr>
        <p:grpSpPr>
          <a:xfrm>
            <a:off x="4984255" y="3837112"/>
            <a:ext cx="352230" cy="348542"/>
            <a:chOff x="1049375" y="2318350"/>
            <a:chExt cx="298525" cy="295400"/>
          </a:xfrm>
        </p:grpSpPr>
        <p:sp>
          <p:nvSpPr>
            <p:cNvPr id="400" name="Google Shape;400;p40"/>
            <p:cNvSpPr/>
            <p:nvPr/>
          </p:nvSpPr>
          <p:spPr>
            <a:xfrm>
              <a:off x="1101350" y="2492325"/>
              <a:ext cx="70125" cy="50525"/>
            </a:xfrm>
            <a:custGeom>
              <a:rect b="b" l="l" r="r" t="t"/>
              <a:pathLst>
                <a:path extrusionOk="0" h="2021" w="2805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0"/>
            <p:cNvSpPr/>
            <p:nvPr/>
          </p:nvSpPr>
          <p:spPr>
            <a:xfrm>
              <a:off x="1101350" y="2440525"/>
              <a:ext cx="70125" cy="51150"/>
            </a:xfrm>
            <a:custGeom>
              <a:rect b="b" l="l" r="r" t="t"/>
              <a:pathLst>
                <a:path extrusionOk="0" h="2046" w="2805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0"/>
            <p:cNvSpPr/>
            <p:nvPr/>
          </p:nvSpPr>
          <p:spPr>
            <a:xfrm>
              <a:off x="1101350" y="2388550"/>
              <a:ext cx="70125" cy="51125"/>
            </a:xfrm>
            <a:custGeom>
              <a:rect b="b" l="l" r="r" t="t"/>
              <a:pathLst>
                <a:path extrusionOk="0" h="2045" w="2805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0"/>
            <p:cNvSpPr/>
            <p:nvPr/>
          </p:nvSpPr>
          <p:spPr>
            <a:xfrm>
              <a:off x="1049375" y="2318350"/>
              <a:ext cx="298525" cy="295400"/>
            </a:xfrm>
            <a:custGeom>
              <a:rect b="b" l="l" r="r" t="t"/>
              <a:pathLst>
                <a:path extrusionOk="0" h="11816" w="11941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4" name="Google Shape;404;p40"/>
          <p:cNvSpPr txBox="1"/>
          <p:nvPr/>
        </p:nvSpPr>
        <p:spPr>
          <a:xfrm>
            <a:off x="1243375" y="1103325"/>
            <a:ext cx="23508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Call in specialized external experts to support the estimation and team assumptions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40"/>
          <p:cNvSpPr txBox="1"/>
          <p:nvPr/>
        </p:nvSpPr>
        <p:spPr>
          <a:xfrm>
            <a:off x="1047900" y="3989500"/>
            <a:ext cx="22413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Propose pricing models accommodating for changes, such as time and materials contracts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40"/>
          <p:cNvSpPr txBox="1"/>
          <p:nvPr/>
        </p:nvSpPr>
        <p:spPr>
          <a:xfrm>
            <a:off x="5971325" y="1059650"/>
            <a:ext cx="21243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Break the project into small phases, starting with a prototype batch and use this estimation to scale up for the full project 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40"/>
          <p:cNvSpPr txBox="1"/>
          <p:nvPr/>
        </p:nvSpPr>
        <p:spPr>
          <a:xfrm>
            <a:off x="5971325" y="3989500"/>
            <a:ext cx="23508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Engage client with partnership approach, where both parties share responsibility for managing risk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40"/>
          <p:cNvSpPr/>
          <p:nvPr/>
        </p:nvSpPr>
        <p:spPr>
          <a:xfrm>
            <a:off x="3837900" y="2188413"/>
            <a:ext cx="1468500" cy="1468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66666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Offering</a:t>
            </a:r>
            <a:endParaRPr sz="2100">
              <a:solidFill>
                <a:srgbClr val="666666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09" name="Google Shape;409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1"/>
          <p:cNvSpPr txBox="1"/>
          <p:nvPr>
            <p:ph type="title"/>
          </p:nvPr>
        </p:nvSpPr>
        <p:spPr>
          <a:xfrm>
            <a:off x="457200" y="411025"/>
            <a:ext cx="8229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415" name="Google Shape;415;p41"/>
          <p:cNvSpPr txBox="1"/>
          <p:nvPr/>
        </p:nvSpPr>
        <p:spPr>
          <a:xfrm>
            <a:off x="457075" y="993250"/>
            <a:ext cx="82296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PES University. (n.d.). Our brand identity. Retrieved February 8, 2024, from</a:t>
            </a:r>
            <a:r>
              <a:rPr lang="en" u="sng">
                <a:solidFill>
                  <a:schemeClr val="hlink"/>
                </a:solidFill>
                <a:hlinkClick r:id="rId3"/>
              </a:rPr>
              <a:t> https://pes.edu/brand-identity/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Tornado Analysis. (n.d.). Ineight. Retrieved February 8, 2024, from</a:t>
            </a:r>
            <a:r>
              <a:rPr lang="en" u="sng">
                <a:solidFill>
                  <a:schemeClr val="hlink"/>
                </a:solidFill>
                <a:hlinkClick r:id="rId4"/>
              </a:rPr>
              <a:t> https://learn.ineight.com/Schedule/Content/7%20Review%20Process/5%20Tornado%20Analysis.htm?TocPath=Topics%7CReview%20Process-%20Risk%20Overview%7C_____5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https://hellotracks.com/en/blog/How-to-Improve-your-GPS-Accuracy/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Text: "Product Development for Technical and Non-Technical Managers and Practitioners, 1st Ed., Lu, P. Kendall Hunt (2021).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2"/>
          <p:cNvSpPr txBox="1"/>
          <p:nvPr>
            <p:ph type="title"/>
          </p:nvPr>
        </p:nvSpPr>
        <p:spPr>
          <a:xfrm>
            <a:off x="457200" y="411025"/>
            <a:ext cx="82296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422" name="Google Shape;422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423" name="Google Shape;423;p42"/>
          <p:cNvSpPr txBox="1"/>
          <p:nvPr/>
        </p:nvSpPr>
        <p:spPr>
          <a:xfrm>
            <a:off x="779250" y="1063350"/>
            <a:ext cx="75855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Detailed SWOT analysis</a:t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Strengths: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Proactive Inquiry: The program manager's initiative to ask questions and engage with a wide range of stakeholders (end-users, customer management and technical teams, and internal stakeholders) demonstrates a strong approach to gathering comprehensive information.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Team Collaboration: The collaborative effort in building a resource matrix shows the team's ability to work together and leverage internal resources to tackle the project's challenges.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Weaknesses: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Lack of Experience: The team's lack of experience and knowledge about GPS installation projects and similar projects presents a significant weakness, impacting their ability to make informed estimates.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Inadequate Tools: The absence of templates and tools for estimating costs adds to the difficulty of creating an accurate project estimate.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Opportunities: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Learning and Development: This project presents an opportunity for the team to gain valuable experience in GPS installations, which could be beneficial for future projects.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Process Improvement: The challenges faced could encourage the development of new tools, templates, and processes for estimating costs, improving efficiency for future projects.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Threats: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Estimation Inaccuracy: The potential for significant inaccuracy in the estimate due to unknown factors poses a risk to project success, budget, and client satisfaction.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800"/>
              <a:t>Client Confidence: Presenting an estimate with acknowledged inaccuracies could undermine the client's confidence in the team's ability to deliver the project successfully.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Detailed RISK Matrix</a:t>
            </a:r>
            <a:endParaRPr b="1"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 </a:t>
            </a:r>
            <a:r>
              <a:rPr lang="en" sz="800" u="sng">
                <a:solidFill>
                  <a:schemeClr val="hlink"/>
                </a:solidFill>
                <a:hlinkClick r:id="rId3"/>
              </a:rPr>
              <a:t>GPS Risk Register</a:t>
            </a:r>
            <a:endParaRPr sz="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3"/>
          <p:cNvSpPr txBox="1"/>
          <p:nvPr>
            <p:ph type="title"/>
          </p:nvPr>
        </p:nvSpPr>
        <p:spPr>
          <a:xfrm>
            <a:off x="457200" y="2017825"/>
            <a:ext cx="8229600" cy="2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29" name="Google Shape;429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ase Study Infographics by Slidesgo">
  <a:themeElements>
    <a:clrScheme name="Simple Light">
      <a:dk1>
        <a:srgbClr val="000000"/>
      </a:dk1>
      <a:lt1>
        <a:srgbClr val="FFFFFF"/>
      </a:lt1>
      <a:dk2>
        <a:srgbClr val="858585"/>
      </a:dk2>
      <a:lt2>
        <a:srgbClr val="E9E9E9"/>
      </a:lt2>
      <a:accent1>
        <a:srgbClr val="93ABCA"/>
      </a:accent1>
      <a:accent2>
        <a:srgbClr val="6B7F9B"/>
      </a:accent2>
      <a:accent3>
        <a:srgbClr val="85B0BB"/>
      </a:accent3>
      <a:accent4>
        <a:srgbClr val="5D8994"/>
      </a:accent4>
      <a:accent5>
        <a:srgbClr val="8BC5BB"/>
      </a:accent5>
      <a:accent6>
        <a:srgbClr val="437570"/>
      </a:accent6>
      <a:hlink>
        <a:srgbClr val="93ABC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